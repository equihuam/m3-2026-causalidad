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6F59D-EA01-34C5-32F6-085D0C6B0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9349F3-74A3-D070-7230-70B7728ED4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692ADD-04CB-C50A-18E3-5202E692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1AF26B-0867-5FFA-DE02-0B858BF1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7C162C-2429-B258-C95F-CFB4BF76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58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D51EAB-1B8B-7240-3891-760F261A7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10E9D1-ACBE-037E-0F0F-4F2493D28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DE51D-0B84-F5DF-48E6-397086C8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7BC4F8-8052-35D4-C3A5-56C75813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108ED6-9A16-10A6-8AF2-4294BD7FF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680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A759B-4F6D-4542-8F99-5DEF5707C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4638D5-D8D3-703A-1905-E21F1BB04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BB9D83-5D50-DDEA-4E73-E97B54F2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75B584-266F-CD11-ACCC-D00122D6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E19F09-0C15-AD39-E555-511A8BB0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533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B98E8-3591-4295-0F2B-C0A7AE6D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73FDEC-47EF-3296-682D-ABEDCC4EE1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C067D13-555B-8235-B5BA-ACACDEF8B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2AFF41-B01B-0A83-F8F7-ED489695F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12B6E2-5496-D055-81A7-BA8303E94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7DC58F2-C602-5B62-7074-0748E98F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9762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287E9-1611-42CB-30F2-096A9FA5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03772F-BC38-317C-2D0D-B5A971053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63D7FD-4DB7-2DBC-5508-9599A643F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8C50B7-5E8A-BB55-0BE4-490E781FF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6BE6D4-1E04-431A-4A52-92FB00CF4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5F9F237-75AC-0C6B-486F-8BBF4DE7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CE65A16-C94C-1159-162A-A8EF7968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5B2CD2F-354D-81DC-BF77-0B47FE33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287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F92DBF-4881-0DB5-1AB6-E3DC4952E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5C0367C-D53A-F59D-2AA1-B44E003A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CBD104-4BDF-48E4-08C7-BCEEAB259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CE025D-599C-75B2-7E1F-E058EADF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7547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0305AD-CC67-D218-2B88-2F9DD3E46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5987B8-146C-F2D7-301F-CB80D935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C26FAB-34D0-89D6-6808-10837D1A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055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DB25-791A-27EC-4AB2-AC341028F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B60C48-97C9-43EF-7020-043C978A7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933AF2-DD70-899B-D169-80419BD92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2F34F2-03EB-14EC-EF00-71299A65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6AE01D-EB3D-75F3-0F36-821448D2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88414A-168A-9A7E-37A2-170528305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31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DAE60-9A78-8436-655A-712D6C76E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9E24EFA-6FA5-E712-580D-79C5D8999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AC43705-8D05-3F64-6A03-71FA99DB2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7BF38E-5E3B-A5B8-2BB5-048A1096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21E314-FED1-F944-0DAF-AEC0918A6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D99CC7-0B27-5296-8B77-32CDDFCB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777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3C9E2-4948-1EE1-FDD9-B881BCF5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50A681-5A73-B0FE-8D2C-D8FA26FC2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748B79-A995-C171-2F05-1A7E43BD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CF186B-9429-6CD3-B7C1-7FE12E678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E95175-4B5C-C15E-6010-C5C4B29AB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4841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3590D9-10CD-F463-5D92-10169CBCB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B2A5CE-529B-15DD-11BE-7CF8E8CA6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54C91E-CD42-E581-FD52-049EC1EA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560953-3C06-6E96-6F32-4A6B5E0B2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256D10-A421-618C-332F-0FA5D5BD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088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D7F5D7-A8F5-B35F-5EC7-10B10EF3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AF3C82-001C-FB32-4CE2-A5BAC7C85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CEE0D5-7D0F-E5EF-77D8-69C6F287C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7A2A5-2880-433D-9648-77372108F968}" type="datetimeFigureOut">
              <a:rPr lang="es-MX" smtClean="0"/>
              <a:t>29/01/2026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2B05C5-1CA5-FABD-12F8-96E6BA9E4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101E38-D8D4-57C9-4F84-DFCA6371D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D5445-32FE-4EC7-B99C-FC7816FE725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521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A11B9ADE-D391-1F93-B505-6C51FCB4711B}"/>
              </a:ext>
            </a:extLst>
          </p:cNvPr>
          <p:cNvSpPr/>
          <p:nvPr/>
        </p:nvSpPr>
        <p:spPr>
          <a:xfrm>
            <a:off x="5049520" y="2473960"/>
            <a:ext cx="1391920" cy="7721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Colonización secundaria de agallas</a:t>
            </a:r>
            <a:endParaRPr lang="es-MX" sz="1050" b="1" dirty="0">
              <a:solidFill>
                <a:schemeClr val="tx1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7A236BFB-C800-894F-1FE8-5BCBCBAD6702}"/>
              </a:ext>
            </a:extLst>
          </p:cNvPr>
          <p:cNvSpPr/>
          <p:nvPr/>
        </p:nvSpPr>
        <p:spPr>
          <a:xfrm>
            <a:off x="629920" y="1132840"/>
            <a:ext cx="1391920" cy="77216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Temporada</a:t>
            </a:r>
            <a:endParaRPr lang="es-MX" sz="1050" b="1" dirty="0">
              <a:solidFill>
                <a:schemeClr val="tx1"/>
              </a:solidFill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649625BF-29BE-D7EF-2D39-44C6AC4AB685}"/>
              </a:ext>
            </a:extLst>
          </p:cNvPr>
          <p:cNvSpPr/>
          <p:nvPr/>
        </p:nvSpPr>
        <p:spPr>
          <a:xfrm>
            <a:off x="660400" y="2473960"/>
            <a:ext cx="1391920" cy="77216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Densidad de organismos</a:t>
            </a:r>
            <a:endParaRPr lang="es-MX" sz="1050" b="1" dirty="0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8069A60-3B95-25D8-D62E-D086115B85B3}"/>
              </a:ext>
            </a:extLst>
          </p:cNvPr>
          <p:cNvSpPr/>
          <p:nvPr/>
        </p:nvSpPr>
        <p:spPr>
          <a:xfrm>
            <a:off x="487680" y="3815080"/>
            <a:ext cx="1808480" cy="93472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Interacciones: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ES" sz="1050" b="1" dirty="0">
                <a:solidFill>
                  <a:schemeClr val="tx1"/>
                </a:solidFill>
              </a:rPr>
              <a:t>Competencia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ES" sz="1050" b="1" dirty="0">
                <a:solidFill>
                  <a:schemeClr val="tx1"/>
                </a:solidFill>
              </a:rPr>
              <a:t>Depredación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ES" sz="1050" b="1" dirty="0">
                <a:solidFill>
                  <a:schemeClr val="tx1"/>
                </a:solidFill>
              </a:rPr>
              <a:t> Reproducción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3564908-4817-CBC8-1EFA-A132E1BD168A}"/>
              </a:ext>
            </a:extLst>
          </p:cNvPr>
          <p:cNvSpPr/>
          <p:nvPr/>
        </p:nvSpPr>
        <p:spPr>
          <a:xfrm>
            <a:off x="2712720" y="2473960"/>
            <a:ext cx="1391920" cy="772160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Recursos disponibles</a:t>
            </a:r>
            <a:endParaRPr lang="es-MX" sz="1050" b="1" dirty="0">
              <a:solidFill>
                <a:schemeClr val="tx1"/>
              </a:solidFill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C0F5D8E-C984-B517-370E-E1660DAF31C8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1325880" y="1905000"/>
            <a:ext cx="30480" cy="568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4DD51DC-347E-BD59-C2E5-AEC34A7358DF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1356360" y="3246120"/>
            <a:ext cx="35560" cy="568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4FE13182-0C2B-84A4-B0CA-2DDDD510E0D1}"/>
              </a:ext>
            </a:extLst>
          </p:cNvPr>
          <p:cNvCxnSpPr>
            <a:stCxn id="7" idx="7"/>
            <a:endCxn id="8" idx="3"/>
          </p:cNvCxnSpPr>
          <p:nvPr/>
        </p:nvCxnSpPr>
        <p:spPr>
          <a:xfrm flipV="1">
            <a:off x="2031314" y="3133040"/>
            <a:ext cx="885248" cy="818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DE91FEB-A1C5-869E-B221-5E18BE1E8968}"/>
              </a:ext>
            </a:extLst>
          </p:cNvPr>
          <p:cNvCxnSpPr>
            <a:stCxn id="5" idx="5"/>
            <a:endCxn id="8" idx="1"/>
          </p:cNvCxnSpPr>
          <p:nvPr/>
        </p:nvCxnSpPr>
        <p:spPr>
          <a:xfrm>
            <a:off x="1817998" y="1791920"/>
            <a:ext cx="1098564" cy="795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353FD01-E3A2-8483-8FFA-E7BDB5529FB2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2052320" y="2860040"/>
            <a:ext cx="660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60D5AD23-EBFC-6CA1-129E-D8C87F7C4F72}"/>
              </a:ext>
            </a:extLst>
          </p:cNvPr>
          <p:cNvCxnSpPr>
            <a:stCxn id="8" idx="6"/>
            <a:endCxn id="4" idx="2"/>
          </p:cNvCxnSpPr>
          <p:nvPr/>
        </p:nvCxnSpPr>
        <p:spPr>
          <a:xfrm>
            <a:off x="4104640" y="2860040"/>
            <a:ext cx="9448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F9BE143D-8EE3-CABC-80BD-370B1BB4AA37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021840" y="1518920"/>
            <a:ext cx="3231522" cy="1068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897A7179-EEE2-3706-5DF2-A6A3A778AB01}"/>
              </a:ext>
            </a:extLst>
          </p:cNvPr>
          <p:cNvSpPr/>
          <p:nvPr/>
        </p:nvSpPr>
        <p:spPr>
          <a:xfrm>
            <a:off x="5049520" y="3815080"/>
            <a:ext cx="1391920" cy="772160"/>
          </a:xfrm>
          <a:prstGeom prst="ellipse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Tamaño de las agallas</a:t>
            </a:r>
            <a:endParaRPr lang="es-MX" sz="1050" b="1" dirty="0">
              <a:solidFill>
                <a:schemeClr val="tx1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8DCA85F8-C74A-73CF-407C-81604AE8B3B8}"/>
              </a:ext>
            </a:extLst>
          </p:cNvPr>
          <p:cNvSpPr/>
          <p:nvPr/>
        </p:nvSpPr>
        <p:spPr>
          <a:xfrm>
            <a:off x="5049520" y="5054600"/>
            <a:ext cx="1391920" cy="772160"/>
          </a:xfrm>
          <a:prstGeom prst="ellipse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Ubicación de las agallas en la planta</a:t>
            </a:r>
            <a:endParaRPr lang="es-MX" sz="1050" b="1" dirty="0">
              <a:solidFill>
                <a:schemeClr val="tx1"/>
              </a:solidFill>
            </a:endParaRPr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F76C20B6-4C33-16CF-FF47-52D25F1CDDAE}"/>
              </a:ext>
            </a:extLst>
          </p:cNvPr>
          <p:cNvCxnSpPr>
            <a:stCxn id="24" idx="0"/>
            <a:endCxn id="23" idx="4"/>
          </p:cNvCxnSpPr>
          <p:nvPr/>
        </p:nvCxnSpPr>
        <p:spPr>
          <a:xfrm flipV="1">
            <a:off x="5745480" y="4587240"/>
            <a:ext cx="0" cy="467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0073B3BD-8772-41D0-70C1-750AB9149C8E}"/>
              </a:ext>
            </a:extLst>
          </p:cNvPr>
          <p:cNvCxnSpPr>
            <a:stCxn id="23" idx="0"/>
            <a:endCxn id="4" idx="4"/>
          </p:cNvCxnSpPr>
          <p:nvPr/>
        </p:nvCxnSpPr>
        <p:spPr>
          <a:xfrm flipV="1">
            <a:off x="5745480" y="3246120"/>
            <a:ext cx="0" cy="568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A276E6D-1133-655E-AAA0-5BFFF590AAAB}"/>
              </a:ext>
            </a:extLst>
          </p:cNvPr>
          <p:cNvSpPr/>
          <p:nvPr/>
        </p:nvSpPr>
        <p:spPr>
          <a:xfrm>
            <a:off x="6846570" y="2475280"/>
            <a:ext cx="1391920" cy="77216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Número de agallas por planta</a:t>
            </a:r>
            <a:endParaRPr lang="es-MX" sz="1050" b="1" dirty="0">
              <a:solidFill>
                <a:schemeClr val="tx1"/>
              </a:solidFill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C43EC44A-A50E-4F30-4679-21E2B772016B}"/>
              </a:ext>
            </a:extLst>
          </p:cNvPr>
          <p:cNvSpPr/>
          <p:nvPr/>
        </p:nvSpPr>
        <p:spPr>
          <a:xfrm>
            <a:off x="8643620" y="2378760"/>
            <a:ext cx="2291079" cy="95504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Especie de la planta con agallas: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ES" sz="1050" b="1" i="1" dirty="0">
                <a:solidFill>
                  <a:schemeClr val="tx1"/>
                </a:solidFill>
              </a:rPr>
              <a:t>Lantana cámara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ES" sz="1050" b="1" i="1" dirty="0" err="1">
                <a:solidFill>
                  <a:schemeClr val="tx1"/>
                </a:solidFill>
              </a:rPr>
              <a:t>Lippia</a:t>
            </a:r>
            <a:r>
              <a:rPr lang="es-ES" sz="1050" b="1" i="1" dirty="0">
                <a:solidFill>
                  <a:schemeClr val="tx1"/>
                </a:solidFill>
              </a:rPr>
              <a:t> </a:t>
            </a:r>
            <a:r>
              <a:rPr lang="es-ES" sz="1050" b="1" i="1" dirty="0" err="1">
                <a:solidFill>
                  <a:schemeClr val="tx1"/>
                </a:solidFill>
              </a:rPr>
              <a:t>myriocephala</a:t>
            </a:r>
            <a:r>
              <a:rPr lang="es-ES" sz="1050" b="1" i="1" dirty="0">
                <a:solidFill>
                  <a:schemeClr val="tx1"/>
                </a:solidFill>
              </a:rPr>
              <a:t>  </a:t>
            </a:r>
          </a:p>
        </p:txBody>
      </p: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6880C986-94D9-360C-9EC3-0661991D1B09}"/>
              </a:ext>
            </a:extLst>
          </p:cNvPr>
          <p:cNvCxnSpPr>
            <a:stCxn id="30" idx="2"/>
            <a:endCxn id="29" idx="6"/>
          </p:cNvCxnSpPr>
          <p:nvPr/>
        </p:nvCxnSpPr>
        <p:spPr>
          <a:xfrm flipH="1">
            <a:off x="8238490" y="2856280"/>
            <a:ext cx="405130" cy="5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046B3870-A656-E66D-A5A7-B6FCE79DCC8A}"/>
              </a:ext>
            </a:extLst>
          </p:cNvPr>
          <p:cNvCxnSpPr>
            <a:stCxn id="29" idx="2"/>
            <a:endCxn id="4" idx="6"/>
          </p:cNvCxnSpPr>
          <p:nvPr/>
        </p:nvCxnSpPr>
        <p:spPr>
          <a:xfrm flipH="1" flipV="1">
            <a:off x="6441440" y="2860040"/>
            <a:ext cx="405130" cy="1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Conector: curvado 41">
            <a:extLst>
              <a:ext uri="{FF2B5EF4-FFF2-40B4-BE49-F238E27FC236}">
                <a16:creationId xmlns:a16="http://schemas.microsoft.com/office/drawing/2014/main" id="{4238BC83-8017-2837-4641-98A90611B3B0}"/>
              </a:ext>
            </a:extLst>
          </p:cNvPr>
          <p:cNvCxnSpPr>
            <a:stCxn id="30" idx="0"/>
            <a:endCxn id="4" idx="0"/>
          </p:cNvCxnSpPr>
          <p:nvPr/>
        </p:nvCxnSpPr>
        <p:spPr>
          <a:xfrm rot="16200000" flipH="1" flipV="1">
            <a:off x="7719720" y="404520"/>
            <a:ext cx="95200" cy="4043680"/>
          </a:xfrm>
          <a:prstGeom prst="curvedConnector3">
            <a:avLst>
              <a:gd name="adj1" fmla="val -24012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E1D376F-3D73-5E6B-3E7F-DCDDEBDA901A}"/>
              </a:ext>
            </a:extLst>
          </p:cNvPr>
          <p:cNvCxnSpPr>
            <a:stCxn id="30" idx="3"/>
            <a:endCxn id="23" idx="6"/>
          </p:cNvCxnSpPr>
          <p:nvPr/>
        </p:nvCxnSpPr>
        <p:spPr>
          <a:xfrm flipH="1">
            <a:off x="6441440" y="3193938"/>
            <a:ext cx="2537701" cy="1007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Elipse 1">
            <a:extLst>
              <a:ext uri="{FF2B5EF4-FFF2-40B4-BE49-F238E27FC236}">
                <a16:creationId xmlns:a16="http://schemas.microsoft.com/office/drawing/2014/main" id="{A4D4AFFA-8293-1328-FB6C-C65B83B0E5C6}"/>
              </a:ext>
            </a:extLst>
          </p:cNvPr>
          <p:cNvSpPr/>
          <p:nvPr/>
        </p:nvSpPr>
        <p:spPr>
          <a:xfrm>
            <a:off x="2367280" y="473760"/>
            <a:ext cx="1391920" cy="772160"/>
          </a:xfrm>
          <a:prstGeom prst="ellipse">
            <a:avLst/>
          </a:prstGeom>
          <a:noFill/>
          <a:ln>
            <a:solidFill>
              <a:srgbClr val="FF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50" b="1" dirty="0">
                <a:solidFill>
                  <a:schemeClr val="tx1"/>
                </a:solidFill>
              </a:rPr>
              <a:t>Bosque mesófilo de montaña</a:t>
            </a:r>
            <a:endParaRPr lang="es-MX" sz="1050" b="1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8A77F232-92B7-4213-8EE6-1A53F0D20929}"/>
              </a:ext>
            </a:extLst>
          </p:cNvPr>
          <p:cNvCxnSpPr>
            <a:stCxn id="5" idx="0"/>
            <a:endCxn id="2" idx="2"/>
          </p:cNvCxnSpPr>
          <p:nvPr/>
        </p:nvCxnSpPr>
        <p:spPr>
          <a:xfrm flipV="1">
            <a:off x="1325880" y="859840"/>
            <a:ext cx="1041400" cy="273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3FCE2FCB-4359-2A57-8C9A-C501A63CA392}"/>
              </a:ext>
            </a:extLst>
          </p:cNvPr>
          <p:cNvCxnSpPr>
            <a:stCxn id="2" idx="6"/>
            <a:endCxn id="4" idx="0"/>
          </p:cNvCxnSpPr>
          <p:nvPr/>
        </p:nvCxnSpPr>
        <p:spPr>
          <a:xfrm>
            <a:off x="3759200" y="859840"/>
            <a:ext cx="1986280" cy="1614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77258102-2BBB-00B7-5BF2-148ACCB0E2AF}"/>
              </a:ext>
            </a:extLst>
          </p:cNvPr>
          <p:cNvCxnSpPr>
            <a:stCxn id="2" idx="3"/>
            <a:endCxn id="6" idx="7"/>
          </p:cNvCxnSpPr>
          <p:nvPr/>
        </p:nvCxnSpPr>
        <p:spPr>
          <a:xfrm flipH="1">
            <a:off x="1848478" y="1132840"/>
            <a:ext cx="722644" cy="1454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2BEF3780-2154-B2C7-84AA-3040A9D57594}"/>
              </a:ext>
            </a:extLst>
          </p:cNvPr>
          <p:cNvCxnSpPr>
            <a:stCxn id="2" idx="4"/>
          </p:cNvCxnSpPr>
          <p:nvPr/>
        </p:nvCxnSpPr>
        <p:spPr>
          <a:xfrm flipH="1">
            <a:off x="1817998" y="1245920"/>
            <a:ext cx="1245242" cy="2569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FB801EB9-DB99-199B-EDD9-82F1B75D216F}"/>
              </a:ext>
            </a:extLst>
          </p:cNvPr>
          <p:cNvCxnSpPr>
            <a:stCxn id="2" idx="5"/>
            <a:endCxn id="8" idx="0"/>
          </p:cNvCxnSpPr>
          <p:nvPr/>
        </p:nvCxnSpPr>
        <p:spPr>
          <a:xfrm flipH="1">
            <a:off x="3408680" y="1132840"/>
            <a:ext cx="146678" cy="134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1860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47</Words>
  <Application>Microsoft Office PowerPoint</Application>
  <PresentationFormat>Panorámica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ALVARADO MEZA</dc:creator>
  <cp:lastModifiedBy>ERIC ALVARADO MEZA</cp:lastModifiedBy>
  <cp:revision>3</cp:revision>
  <dcterms:created xsi:type="dcterms:W3CDTF">2026-01-29T01:05:33Z</dcterms:created>
  <dcterms:modified xsi:type="dcterms:W3CDTF">2026-01-29T18:50:47Z</dcterms:modified>
</cp:coreProperties>
</file>