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4" r:id="rId8"/>
    <p:sldId id="263" r:id="rId9"/>
    <p:sldId id="265" r:id="rId1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78" y="62"/>
      </p:cViewPr>
      <p:guideLst>
        <p:guide orient="horz" pos="2160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5CEF16-FB03-94EC-634B-8DA6D13D8B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F03C230-4AE4-18A3-9A75-F4FB2F5CC8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6A9FE1-AE81-BDD6-F6B3-489CD17A7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7E501-2498-413B-A742-0B42DBB3B9CB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51D7755-96D1-B05A-0EE7-4AADE99D8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407F3E-4487-7037-BB5A-402E9FDB2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6B444-950C-4879-99DB-D6C49FBD0DB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87231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0386DE-0080-A325-CC77-1A9A715E1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229383-BB29-AB1D-085B-4DD8F6C60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DF4923-88D5-BD20-B7D0-59A849125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7E501-2498-413B-A742-0B42DBB3B9CB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F8A0190-DCFE-58B3-BDB0-87FFA68D3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4986C5-9615-EB68-108E-F9562E16A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6B444-950C-4879-99DB-D6C49FBD0DB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48648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0FCD60-AD96-F85E-9115-90322D43F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41ED0C-4A5C-3977-76FB-877D0E061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BBEEE4-749F-99DD-0819-EE322954F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7E501-2498-413B-A742-0B42DBB3B9CB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49FD4F2-0EBE-CC57-0F05-2D2BFFEBB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9E948F2-F117-250E-281E-554027A26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6B444-950C-4879-99DB-D6C49FBD0DB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43839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8DEB9A-4433-270C-2DD4-76382AFF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5EBFBB-F42B-1BFE-6F7E-5B16635897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3BCBCFD-585D-A590-F14F-4A5869CBE9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6FCBDF7-212B-0F2A-1565-956B99BBD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7E501-2498-413B-A742-0B42DBB3B9CB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7CDB90A-34CA-164A-15B7-9C914C039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A1F721-DDB2-0955-1BCB-9352B85D2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6B444-950C-4879-99DB-D6C49FBD0DB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10721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166835-4168-BF61-502F-05617AE67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9142758-1B0B-51C1-6D32-CD1FFE852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7B008A6-F141-66C6-B559-60FD94B61E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C5B445F-BC68-C406-E834-B9704AE009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AE6C465-8A33-2E40-3DE8-2414A48B66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91426B1-3DCC-F91A-67FC-C89D29E69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7E501-2498-413B-A742-0B42DBB3B9CB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169E9BC-9537-48E7-10D9-6340C2B3C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3F6F3B3-1220-F107-0346-1B5C53534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6B444-950C-4879-99DB-D6C49FBD0DB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23177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5D7D43-6FC1-9829-69FF-FC61581FF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E00C9A1-6B16-445F-D7F8-F37DE7489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7E501-2498-413B-A742-0B42DBB3B9CB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AD64964-C800-BA33-BA6B-863AFB9B3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98169F8-3979-7E36-8184-23E372A72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6B444-950C-4879-99DB-D6C49FBD0DB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99583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DD7C81E-9D2B-6597-A9A4-7F76AFBC7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7E501-2498-413B-A742-0B42DBB3B9CB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56EBB8B-79A0-3F0A-B6D7-A77B8A6E1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E788AED-44C5-8D44-9D85-1108B1405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6B444-950C-4879-99DB-D6C49FBD0DB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48711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2F7827-8750-8163-A0D3-79C0F8FE9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975158-7578-E8B8-29A4-79A873352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8567AB4-5BBB-4F31-CAAC-85BA0D616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84A5DC4-99CE-FF8D-87C6-5C963E728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7E501-2498-413B-A742-0B42DBB3B9CB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E4D4C1-9C8A-9A09-2A82-C65386026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C493ECC-8655-D576-3E59-0EA962290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6B444-950C-4879-99DB-D6C49FBD0DB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68943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86FB79-C451-F616-2C00-794DD8E86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3DBD668-06A7-BEF8-1A6D-9134F09D4A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035FE44-9982-43F6-0734-A8D8C5D3B9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3A88CB8-011A-3730-806C-AC31A3F1E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7E501-2498-413B-A742-0B42DBB3B9CB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1670E2F-0478-BAA2-71CD-8B6A97DFC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FBA6E5D-BC29-B94B-3244-0D176EFCB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6B444-950C-4879-99DB-D6C49FBD0DB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00940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EFC02F-A436-F57A-E2FF-ADAABBB79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2EEE4EA-DEDE-82F8-02BC-A4660488E1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B4B2788-0D65-44F6-8F2D-06F8C105E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7E501-2498-413B-A742-0B42DBB3B9CB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97888A-F1C4-2813-E3FC-6F326FB0A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838FA5B-3F2B-9D48-1FE6-8CD06EDE4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6B444-950C-4879-99DB-D6C49FBD0DB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83105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A35DED4-284E-9976-FBAA-940535F843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5293119-752C-ACB5-B099-1C332BA59A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EBDA40F-FB3F-FF81-946B-AB45752FD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7E501-2498-413B-A742-0B42DBB3B9CB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E37A80-6D7B-A79E-1F5D-61036574C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0F12347-0434-794F-329E-2D66EBE40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6B444-950C-4879-99DB-D6C49FBD0DB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94076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AEF3882-AA52-BD3B-F371-9C1260490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BE73867-2F4B-5AA5-4DCB-F07215F6DB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E12284-F325-E367-C4B0-0624E50593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F7E501-2498-413B-A742-0B42DBB3B9CB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A4D1F1-BCD1-5314-1D40-2D2D43AC95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499806-5DF7-41A4-8156-14166F3CAF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56B444-950C-4879-99DB-D6C49FBD0DB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37025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1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58" t="12026"/>
          <a:stretch/>
        </p:blipFill>
        <p:spPr bwMode="auto">
          <a:xfrm>
            <a:off x="10077995" y="365200"/>
            <a:ext cx="1701800" cy="907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910"/>
          <a:stretch>
            <a:fillRect/>
          </a:stretch>
        </p:blipFill>
        <p:spPr bwMode="auto">
          <a:xfrm>
            <a:off x="409054" y="319085"/>
            <a:ext cx="1716088" cy="82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43595" y="1019585"/>
            <a:ext cx="9104811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Instituto de Ecología, A.C.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Maestría en ciencias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2400" b="1" dirty="0">
                <a:latin typeface="Arial" panose="020B0604020202020204" pitchFamily="34" charset="0"/>
              </a:rPr>
              <a:t>Curso de Estadística: Modulo 3. Diseño de Experimentos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MX" altLang="es-MX" sz="2400" b="1" dirty="0">
              <a:latin typeface="Arial" panose="020B0604020202020204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MX" sz="2400" b="1" dirty="0">
                <a:latin typeface="Arial" panose="020B0604020202020204" pitchFamily="34" charset="0"/>
                <a:ea typeface="Arial" panose="020B0604020202020204" pitchFamily="34" charset="0"/>
              </a:rPr>
              <a:t>Efecto del ácido ferúlico en el crecimiento y defensa en la planta de </a:t>
            </a:r>
            <a:r>
              <a:rPr lang="es-MX" altLang="es-MX" sz="2400" b="1" i="1" dirty="0">
                <a:latin typeface="Arial" panose="020B0604020202020204" pitchFamily="34" charset="0"/>
                <a:ea typeface="Arial" panose="020B0604020202020204" pitchFamily="34" charset="0"/>
              </a:rPr>
              <a:t>Arabidopsis thaliana </a:t>
            </a:r>
            <a:r>
              <a:rPr lang="es-MX" altLang="es-MX" sz="2400" b="1" dirty="0">
                <a:latin typeface="Arial" panose="020B0604020202020204" pitchFamily="34" charset="0"/>
                <a:ea typeface="Arial" panose="020B0604020202020204" pitchFamily="34" charset="0"/>
              </a:rPr>
              <a:t>y su potencial uso en el control de plagas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Presenta:</a:t>
            </a:r>
            <a:endParaRPr kumimoji="0" lang="es-MX" altLang="es-MX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Fernanda Federica Fernández Licona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MX" altLang="es-MX" sz="2400" b="1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06 de </a:t>
            </a:r>
            <a:r>
              <a:rPr lang="es-MX" altLang="es-MX" sz="2400" b="1" dirty="0">
                <a:latin typeface="Arial" panose="020B0604020202020204" pitchFamily="34" charset="0"/>
                <a:ea typeface="Arial" panose="020B0604020202020204" pitchFamily="34" charset="0"/>
              </a:rPr>
              <a:t>febrero</a:t>
            </a: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de 2026</a:t>
            </a:r>
          </a:p>
        </p:txBody>
      </p:sp>
    </p:spTree>
    <p:extLst>
      <p:ext uri="{BB962C8B-B14F-4D97-AF65-F5344CB8AC3E}">
        <p14:creationId xmlns:p14="http://schemas.microsoft.com/office/powerpoint/2010/main" val="2325440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99A27D8-F883-C38F-4E34-4E8F35E02996}"/>
              </a:ext>
            </a:extLst>
          </p:cNvPr>
          <p:cNvSpPr txBox="1"/>
          <p:nvPr/>
        </p:nvSpPr>
        <p:spPr>
          <a:xfrm>
            <a:off x="1081548" y="1320655"/>
            <a:ext cx="82787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¿Cuál es el efecto del ácido ferúlico en el crecimiento de </a:t>
            </a:r>
            <a:r>
              <a:rPr lang="es-MX" sz="1800" i="1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Arabidopsis thaliana</a:t>
            </a:r>
            <a:r>
              <a:rPr lang="es-MX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?</a:t>
            </a:r>
            <a:endParaRPr lang="es-MX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E691FA8-BE4D-7B8F-A772-1B8630984F09}"/>
              </a:ext>
            </a:extLst>
          </p:cNvPr>
          <p:cNvSpPr txBox="1"/>
          <p:nvPr/>
        </p:nvSpPr>
        <p:spPr>
          <a:xfrm>
            <a:off x="358878" y="18964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b="1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Pregunta de investigación</a:t>
            </a:r>
            <a:endParaRPr lang="es-MX" b="1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1089FD6-8DF0-6532-18B8-C916228E13FE}"/>
              </a:ext>
            </a:extLst>
          </p:cNvPr>
          <p:cNvSpPr txBox="1"/>
          <p:nvPr/>
        </p:nvSpPr>
        <p:spPr>
          <a:xfrm>
            <a:off x="1081548" y="2335284"/>
            <a:ext cx="98715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¿Cómo diferentes concentraciones de ácido ferúlico afectan el crecimiento de </a:t>
            </a: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Arabidopsis thaliana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2" descr="Ácido ferúlico - Wikiwand">
            <a:extLst>
              <a:ext uri="{FF2B5EF4-FFF2-40B4-BE49-F238E27FC236}">
                <a16:creationId xmlns:a16="http://schemas.microsoft.com/office/drawing/2014/main" id="{23B74817-78B4-C20E-F1D4-56F3F624E3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5712" y="4205917"/>
            <a:ext cx="3713272" cy="1941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Imagen 16" descr="Imagen que contiene plato de petri, tabla, interior, pieza&#10;&#10;El contenido generado por IA puede ser incorrecto.">
            <a:extLst>
              <a:ext uri="{FF2B5EF4-FFF2-40B4-BE49-F238E27FC236}">
                <a16:creationId xmlns:a16="http://schemas.microsoft.com/office/drawing/2014/main" id="{B4A21451-9878-5170-4378-0734112137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06" r="19451"/>
          <a:stretch>
            <a:fillRect/>
          </a:stretch>
        </p:blipFill>
        <p:spPr>
          <a:xfrm>
            <a:off x="7587061" y="3021843"/>
            <a:ext cx="3035219" cy="3089975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238253F9-373E-56AC-B256-04808B4B8A98}"/>
              </a:ext>
            </a:extLst>
          </p:cNvPr>
          <p:cNvSpPr txBox="1"/>
          <p:nvPr/>
        </p:nvSpPr>
        <p:spPr>
          <a:xfrm>
            <a:off x="2604527" y="6106847"/>
            <a:ext cx="15156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dirty="0">
                <a:latin typeface="Times New Roman" panose="02020603050405020304" pitchFamily="18" charset="0"/>
                <a:ea typeface="Arial" panose="020B0604020202020204" pitchFamily="34" charset="0"/>
              </a:rPr>
              <a:t>Á</a:t>
            </a:r>
            <a:r>
              <a:rPr lang="es-MX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cido ferúlico</a:t>
            </a:r>
            <a:endParaRPr lang="es-MX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EA08E2B-68F1-A9FE-EEE1-B8D829C35E8D}"/>
              </a:ext>
            </a:extLst>
          </p:cNvPr>
          <p:cNvSpPr txBox="1"/>
          <p:nvPr/>
        </p:nvSpPr>
        <p:spPr>
          <a:xfrm>
            <a:off x="7946430" y="6106398"/>
            <a:ext cx="2316480" cy="369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800" i="1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Arabidopsis thaliana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50542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CA7F26A-AB6E-BBA7-0B61-2720C58E0491}"/>
              </a:ext>
            </a:extLst>
          </p:cNvPr>
          <p:cNvSpPr txBox="1"/>
          <p:nvPr/>
        </p:nvSpPr>
        <p:spPr>
          <a:xfrm>
            <a:off x="6454878" y="918014"/>
            <a:ext cx="4648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experimento se plantea como un diseño completamente aleatorizado, donde plántulas de </a:t>
            </a: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Arabidopsis thaliana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asignan aleatoriamente a cada nivel de ácido ferúlico.</a:t>
            </a:r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5707FE3-A22B-D49A-6B6A-BEE31F1CE2F4}"/>
              </a:ext>
            </a:extLst>
          </p:cNvPr>
          <p:cNvSpPr txBox="1"/>
          <p:nvPr/>
        </p:nvSpPr>
        <p:spPr>
          <a:xfrm>
            <a:off x="1168657" y="426501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respuesta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Longitud de raíz primaria (cm).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3871670-B1D9-A46F-D17E-2668E8C69E92}"/>
              </a:ext>
            </a:extLst>
          </p:cNvPr>
          <p:cNvSpPr txBox="1"/>
          <p:nvPr/>
        </p:nvSpPr>
        <p:spPr>
          <a:xfrm>
            <a:off x="1168657" y="1592278"/>
            <a:ext cx="336066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Niveles del factor (efecto fijo)</a:t>
            </a:r>
          </a:p>
          <a:p>
            <a:pPr>
              <a:buNone/>
            </a:pPr>
            <a:endParaRPr lang="es-E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Concentraciones de AF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µM (Control)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µM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 µM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 µM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 µM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160 µM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9354BD4-9E70-5338-AFA3-D9D7A8C42630}"/>
              </a:ext>
            </a:extLst>
          </p:cNvPr>
          <p:cNvSpPr txBox="1"/>
          <p:nvPr/>
        </p:nvSpPr>
        <p:spPr>
          <a:xfrm>
            <a:off x="1168657" y="499875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Unidad experimental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Plántulas individuales.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9427493-384D-840A-3251-8266C5F0EC18}"/>
              </a:ext>
            </a:extLst>
          </p:cNvPr>
          <p:cNvSpPr txBox="1"/>
          <p:nvPr/>
        </p:nvSpPr>
        <p:spPr>
          <a:xfrm>
            <a:off x="1168657" y="91801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 de estudio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Ácido ferúlico.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70B7516-DAC9-2358-623F-C85264F31FE2}"/>
              </a:ext>
            </a:extLst>
          </p:cNvPr>
          <p:cNvSpPr txBox="1"/>
          <p:nvPr/>
        </p:nvSpPr>
        <p:spPr>
          <a:xfrm>
            <a:off x="358878" y="18964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b="1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Diseño experimental</a:t>
            </a:r>
            <a:endParaRPr lang="es-MX" b="1" dirty="0"/>
          </a:p>
        </p:txBody>
      </p:sp>
    </p:spTree>
    <p:extLst>
      <p:ext uri="{BB962C8B-B14F-4D97-AF65-F5344CB8AC3E}">
        <p14:creationId xmlns:p14="http://schemas.microsoft.com/office/powerpoint/2010/main" val="4280527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B525EF83-491B-044A-C960-FD848158D0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345" b="44938"/>
          <a:stretch>
            <a:fillRect/>
          </a:stretch>
        </p:blipFill>
        <p:spPr>
          <a:xfrm>
            <a:off x="0" y="1279783"/>
            <a:ext cx="12270263" cy="579875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A1BA04B4-5F47-FF3B-F8C1-2F1A7BFB14C6}"/>
              </a:ext>
            </a:extLst>
          </p:cNvPr>
          <p:cNvSpPr txBox="1"/>
          <p:nvPr/>
        </p:nvSpPr>
        <p:spPr>
          <a:xfrm>
            <a:off x="358878" y="2710899"/>
            <a:ext cx="6094324" cy="2363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Variable explicativa X</a:t>
            </a:r>
            <a:r>
              <a:rPr lang="es-MX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Concentraciones de ácido ferúlico en el medio.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Respuesta variable Y: </a:t>
            </a:r>
            <a:endParaRPr lang="es-MX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Longitud de la raíz primaria.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Variable mediadora: </a:t>
            </a:r>
            <a:endParaRPr lang="es-MX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Lignificación de la pared celular.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E455D9B-24A1-20C8-A9BD-02D78D7DAE9F}"/>
              </a:ext>
            </a:extLst>
          </p:cNvPr>
          <p:cNvSpPr txBox="1"/>
          <p:nvPr/>
        </p:nvSpPr>
        <p:spPr>
          <a:xfrm>
            <a:off x="358878" y="18964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b="1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Propuesta de mi DAG</a:t>
            </a:r>
            <a:endParaRPr lang="es-MX" b="1" dirty="0"/>
          </a:p>
        </p:txBody>
      </p:sp>
    </p:spTree>
    <p:extLst>
      <p:ext uri="{BB962C8B-B14F-4D97-AF65-F5344CB8AC3E}">
        <p14:creationId xmlns:p14="http://schemas.microsoft.com/office/powerpoint/2010/main" val="1534831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1DB96559-BBFE-2CD5-3002-4A87CBC3F469}"/>
              </a:ext>
            </a:extLst>
          </p:cNvPr>
          <p:cNvSpPr txBox="1"/>
          <p:nvPr/>
        </p:nvSpPr>
        <p:spPr>
          <a:xfrm>
            <a:off x="383156" y="18748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Modelo estadístico</a:t>
            </a:r>
            <a:endParaRPr lang="es-MX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605B35C-B1D5-3440-14A5-013AB49D6FD3}"/>
              </a:ext>
            </a:extLst>
          </p:cNvPr>
          <p:cNvSpPr txBox="1"/>
          <p:nvPr/>
        </p:nvSpPr>
        <p:spPr>
          <a:xfrm>
            <a:off x="3048000" y="2198878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Yij</a:t>
            </a:r>
            <a:r>
              <a:rPr lang="es-MX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​=</a:t>
            </a:r>
            <a:r>
              <a:rPr lang="el-G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μ+</a:t>
            </a:r>
            <a:r>
              <a:rPr lang="es-MX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AFi</a:t>
            </a:r>
            <a:r>
              <a:rPr lang="es-MX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​+</a:t>
            </a:r>
            <a:r>
              <a:rPr lang="el-G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ε</a:t>
            </a:r>
            <a:r>
              <a:rPr lang="es-MX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s-MX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 </a:t>
            </a:r>
          </a:p>
          <a:p>
            <a:pPr algn="ctr"/>
            <a:endParaRPr lang="es-MX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FE9A64E-039F-1038-BEBB-CC66E9B23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7355" y="3413225"/>
            <a:ext cx="5958747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Yij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crecimiento de la plántula </a:t>
            </a:r>
            <a:r>
              <a:rPr kumimoji="0" lang="es-MX" altLang="es-MX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 la dosis </a:t>
            </a:r>
            <a:r>
              <a:rPr kumimoji="0" lang="es-MX" altLang="es-MX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 de ácido ferúlico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μ: media general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AFi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​: efecto del ácido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ferúlicox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εij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error aleatorio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D37F9C-3D07-A4AC-4321-DB0FC512D1D2}"/>
              </a:ext>
            </a:extLst>
          </p:cNvPr>
          <p:cNvSpPr txBox="1"/>
          <p:nvPr/>
        </p:nvSpPr>
        <p:spPr>
          <a:xfrm>
            <a:off x="1593448" y="1061691"/>
            <a:ext cx="90051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 evaluar el efecto del ácido ferúlico sobre el crecimiento se propone un </a:t>
            </a:r>
            <a:r>
              <a:rPr lang="es-E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ANOVA de una vía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correspondiente a un modelo de efectos fijos:</a:t>
            </a:r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850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E00E9A-D5D4-8FA0-8AD8-696796684E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7062" y="1306127"/>
            <a:ext cx="684193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H₀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el ácido ferúlico no tiene efecto sobre el crecimiento de </a:t>
            </a:r>
            <a:r>
              <a:rPr kumimoji="0" lang="es-MX" altLang="es-MX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A. thaliana.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H₁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al menos una media de crecimiento difiere entre concentraciones.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F70A959-DD64-3BB9-2DC5-C4277D345BF5}"/>
              </a:ext>
            </a:extLst>
          </p:cNvPr>
          <p:cNvSpPr txBox="1"/>
          <p:nvPr/>
        </p:nvSpPr>
        <p:spPr>
          <a:xfrm>
            <a:off x="383156" y="18748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Prueba de hipótesis</a:t>
            </a:r>
            <a:endParaRPr lang="es-MX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6447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Gráfico, Gráfico de cajas y bigotes&#10;&#10;El contenido generado por IA puede ser incorrecto.">
            <a:extLst>
              <a:ext uri="{FF2B5EF4-FFF2-40B4-BE49-F238E27FC236}">
                <a16:creationId xmlns:a16="http://schemas.microsoft.com/office/drawing/2014/main" id="{353FB882-AA8F-948B-085F-85B8A5F94A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981" y="1387331"/>
            <a:ext cx="9322038" cy="4083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278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CBDF2AFF-5114-BF8C-258E-3454B10BB694}"/>
              </a:ext>
            </a:extLst>
          </p:cNvPr>
          <p:cNvSpPr txBox="1"/>
          <p:nvPr/>
        </p:nvSpPr>
        <p:spPr>
          <a:xfrm>
            <a:off x="1009891" y="1238709"/>
            <a:ext cx="8076236" cy="1809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200"/>
              </a:lnSpc>
              <a:buNone/>
            </a:pPr>
            <a:r>
              <a:rPr lang="es-MX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s-MX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Df</a:t>
            </a:r>
            <a:r>
              <a:rPr lang="es-MX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Sum </a:t>
            </a:r>
            <a:r>
              <a:rPr lang="es-MX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Sq</a:t>
            </a:r>
            <a:r>
              <a:rPr lang="es-MX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Mean </a:t>
            </a:r>
            <a:r>
              <a:rPr lang="es-MX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Sq</a:t>
            </a:r>
            <a:r>
              <a:rPr lang="es-MX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F </a:t>
            </a:r>
            <a:r>
              <a:rPr lang="es-MX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value</a:t>
            </a:r>
            <a:r>
              <a:rPr lang="es-MX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Pr(&gt;F) </a:t>
            </a:r>
          </a:p>
          <a:p>
            <a:pPr algn="l" latinLnBrk="1">
              <a:lnSpc>
                <a:spcPts val="1200"/>
              </a:lnSpc>
              <a:buNone/>
            </a:pPr>
            <a:r>
              <a:rPr lang="es-MX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  </a:t>
            </a:r>
          </a:p>
          <a:p>
            <a:pPr algn="l" latinLnBrk="1">
              <a:lnSpc>
                <a:spcPts val="1200"/>
              </a:lnSpc>
              <a:buNone/>
            </a:pPr>
            <a:r>
              <a:rPr lang="es-MX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Tratamiento   4 309.29   77.32   134.5 &lt;2e-16 ***</a:t>
            </a:r>
          </a:p>
          <a:p>
            <a:pPr algn="l" latinLnBrk="1">
              <a:lnSpc>
                <a:spcPts val="1200"/>
              </a:lnSpc>
              <a:buNone/>
            </a:pPr>
            <a:endParaRPr lang="es-MX" b="0" i="0" dirty="0">
              <a:solidFill>
                <a:srgbClr val="000000"/>
              </a:solidFill>
              <a:effectLst/>
              <a:latin typeface="Lucida Console" panose="020B0609040504020204" pitchFamily="49" charset="0"/>
            </a:endParaRPr>
          </a:p>
          <a:p>
            <a:pPr algn="l" latinLnBrk="1">
              <a:lnSpc>
                <a:spcPts val="1200"/>
              </a:lnSpc>
              <a:buNone/>
            </a:pPr>
            <a:r>
              <a:rPr lang="es-MX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Residuals</a:t>
            </a:r>
            <a:r>
              <a:rPr lang="es-MX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  168  96.56    0.57</a:t>
            </a:r>
          </a:p>
          <a:p>
            <a:pPr algn="l" latinLnBrk="1">
              <a:lnSpc>
                <a:spcPts val="1200"/>
              </a:lnSpc>
              <a:buNone/>
            </a:pPr>
            <a:endParaRPr lang="es-MX" dirty="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algn="l" latinLnBrk="1">
              <a:lnSpc>
                <a:spcPts val="1200"/>
              </a:lnSpc>
              <a:buNone/>
            </a:pPr>
            <a:r>
              <a:rPr lang="es-MX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                  </a:t>
            </a:r>
          </a:p>
          <a:p>
            <a:pPr algn="l" latinLnBrk="1">
              <a:lnSpc>
                <a:spcPts val="1200"/>
              </a:lnSpc>
              <a:buNone/>
            </a:pPr>
            <a:r>
              <a:rPr lang="es-MX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---</a:t>
            </a:r>
          </a:p>
          <a:p>
            <a:pPr algn="l" latinLnBrk="1">
              <a:lnSpc>
                <a:spcPts val="1200"/>
              </a:lnSpc>
              <a:buNone/>
            </a:pPr>
            <a:endParaRPr lang="es-MX" b="0" i="0" dirty="0">
              <a:solidFill>
                <a:srgbClr val="000000"/>
              </a:solidFill>
              <a:effectLst/>
              <a:latin typeface="Lucida Console" panose="020B0609040504020204" pitchFamily="49" charset="0"/>
            </a:endParaRPr>
          </a:p>
          <a:p>
            <a:pPr algn="l" latinLnBrk="1">
              <a:lnSpc>
                <a:spcPts val="1200"/>
              </a:lnSpc>
              <a:buNone/>
            </a:pPr>
            <a:r>
              <a:rPr lang="es-MX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Signif</a:t>
            </a:r>
            <a:r>
              <a:rPr lang="es-MX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. </a:t>
            </a:r>
            <a:r>
              <a:rPr lang="es-MX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codes</a:t>
            </a:r>
            <a:r>
              <a:rPr lang="es-MX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:  0 ‘***’ 0.001 ‘**’ 0.01 ‘*’ 0.05 ‘.’ 0.1 ‘ ’ 1</a:t>
            </a:r>
            <a:endParaRPr lang="es-MX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C45DD64-F20D-7FA9-01B2-98C53495E185}"/>
              </a:ext>
            </a:extLst>
          </p:cNvPr>
          <p:cNvSpPr txBox="1"/>
          <p:nvPr/>
        </p:nvSpPr>
        <p:spPr>
          <a:xfrm>
            <a:off x="558478" y="3729943"/>
            <a:ext cx="93725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rechaza la hipótesis nula.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ácido ferúlico tiene un efecto significativo sobre el crecimiento de </a:t>
            </a: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Arabidopsis thaliana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CF45365-CBA0-9A03-D75E-13CF9A146B96}"/>
              </a:ext>
            </a:extLst>
          </p:cNvPr>
          <p:cNvSpPr txBox="1"/>
          <p:nvPr/>
        </p:nvSpPr>
        <p:spPr>
          <a:xfrm>
            <a:off x="383156" y="18748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ANOVA de una vía</a:t>
            </a:r>
            <a:endParaRPr lang="es-MX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6964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4396CB98-1C58-69C7-9AEB-2081101142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6051" y="1687679"/>
            <a:ext cx="8519898" cy="3482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3809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</TotalTime>
  <Words>369</Words>
  <Application>Microsoft Office PowerPoint</Application>
  <PresentationFormat>Panorámica</PresentationFormat>
  <Paragraphs>68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Lucida Console</vt:lpstr>
      <vt:lpstr>Times New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Fernanda Federica Fernández Licona</dc:creator>
  <cp:lastModifiedBy>Fernanda Federica Fernández Licona</cp:lastModifiedBy>
  <cp:revision>11</cp:revision>
  <dcterms:created xsi:type="dcterms:W3CDTF">2026-02-06T00:37:25Z</dcterms:created>
  <dcterms:modified xsi:type="dcterms:W3CDTF">2026-02-06T19:31:05Z</dcterms:modified>
</cp:coreProperties>
</file>