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aret" charset="1" panose="00000000000000000000"/>
      <p:regular r:id="rId19"/>
    </p:embeddedFont>
    <p:embeddedFont>
      <p:font typeface="Raleway Bold" charset="1" panose="00000000000000000000"/>
      <p:regular r:id="rId20"/>
    </p:embeddedFont>
    <p:embeddedFont>
      <p:font typeface="Raleway Heavy" charset="1" panose="00000000000000000000"/>
      <p:regular r:id="rId21"/>
    </p:embeddedFont>
    <p:embeddedFont>
      <p:font typeface="Montserrat" charset="1" panose="00000500000000000000"/>
      <p:regular r:id="rId22"/>
    </p:embeddedFont>
    <p:embeddedFont>
      <p:font typeface="Raleway" charset="1" panose="00000000000000000000"/>
      <p:regular r:id="rId23"/>
    </p:embeddedFont>
    <p:embeddedFont>
      <p:font typeface="Garet Bold" charset="1" panose="00000000000000000000"/>
      <p:regular r:id="rId24"/>
    </p:embeddedFont>
    <p:embeddedFont>
      <p:font typeface="Montserrat Bold" charset="1" panose="00000800000000000000"/>
      <p:regular r:id="rId25"/>
    </p:embeddedFont>
    <p:embeddedFont>
      <p:font typeface="Cormorant Garamond Italics"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embeddings/oleObject1.bin" Type="http://schemas.openxmlformats.org/officeDocument/2006/relationships/oleObject"/><Relationship Id="rId6"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10800000">
              <a:off x="18828976" y="8387239"/>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0" y="0"/>
              <a:ext cx="4439970" cy="4439970"/>
            </a:xfrm>
            <a:custGeom>
              <a:avLst/>
              <a:gdLst/>
              <a:ahLst/>
              <a:cxnLst/>
              <a:rect r="r" b="b" t="t" l="l"/>
              <a:pathLst>
                <a:path h="4439970" w="4439970">
                  <a:moveTo>
                    <a:pt x="0" y="0"/>
                  </a:moveTo>
                  <a:lnTo>
                    <a:pt x="4439970" y="0"/>
                  </a:lnTo>
                  <a:lnTo>
                    <a:pt x="4439970"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4" id="14"/>
          <p:cNvSpPr txBox="true"/>
          <p:nvPr/>
        </p:nvSpPr>
        <p:spPr>
          <a:xfrm rot="0">
            <a:off x="6306417" y="7141914"/>
            <a:ext cx="5675166" cy="396511"/>
          </a:xfrm>
          <a:prstGeom prst="rect">
            <a:avLst/>
          </a:prstGeom>
        </p:spPr>
        <p:txBody>
          <a:bodyPr anchor="t" rtlCol="false" tIns="0" lIns="0" bIns="0" rIns="0">
            <a:spAutoFit/>
          </a:bodyPr>
          <a:lstStyle/>
          <a:p>
            <a:pPr algn="ctr">
              <a:lnSpc>
                <a:spcPts val="3345"/>
              </a:lnSpc>
            </a:pPr>
            <a:r>
              <a:rPr lang="en-US" sz="2389">
                <a:solidFill>
                  <a:srgbClr val="27403B"/>
                </a:solidFill>
                <a:latin typeface="Garet"/>
                <a:ea typeface="Garet"/>
                <a:cs typeface="Garet"/>
                <a:sym typeface="Garet"/>
              </a:rPr>
              <a:t>Ana Luz Morales Guerrero</a:t>
            </a:r>
          </a:p>
        </p:txBody>
      </p:sp>
      <p:sp>
        <p:nvSpPr>
          <p:cNvPr name="TextBox 15" id="15"/>
          <p:cNvSpPr txBox="true"/>
          <p:nvPr/>
        </p:nvSpPr>
        <p:spPr>
          <a:xfrm rot="0">
            <a:off x="2647031" y="2923095"/>
            <a:ext cx="13663973" cy="3497834"/>
          </a:xfrm>
          <a:prstGeom prst="rect">
            <a:avLst/>
          </a:prstGeom>
        </p:spPr>
        <p:txBody>
          <a:bodyPr anchor="t" rtlCol="false" tIns="0" lIns="0" bIns="0" rIns="0">
            <a:spAutoFit/>
          </a:bodyPr>
          <a:lstStyle/>
          <a:p>
            <a:pPr algn="ctr">
              <a:lnSpc>
                <a:spcPts val="6942"/>
              </a:lnSpc>
            </a:pPr>
            <a:r>
              <a:rPr lang="en-US" b="true" sz="5299" spc="264">
                <a:solidFill>
                  <a:srgbClr val="27403B"/>
                </a:solidFill>
                <a:latin typeface="Raleway Bold"/>
                <a:ea typeface="Raleway Bold"/>
                <a:cs typeface="Raleway Bold"/>
                <a:sym typeface="Raleway Bold"/>
              </a:rPr>
              <a:t>Atributos funcionales foliares de encinos del bosque de niebla como predictores de supervivencia en plantaciones de restauración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41814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grpSp>
          <p:nvGrpSpPr>
            <p:cNvPr name="Group 12" id="12"/>
            <p:cNvGrpSpPr/>
            <p:nvPr/>
          </p:nvGrpSpPr>
          <p:grpSpPr>
            <a:xfrm rot="0">
              <a:off x="0" y="0"/>
              <a:ext cx="4114800" cy="12827209"/>
              <a:chOff x="0" y="0"/>
              <a:chExt cx="812800" cy="2533770"/>
            </a:xfrm>
          </p:grpSpPr>
          <p:sp>
            <p:nvSpPr>
              <p:cNvPr name="Freeform 13" id="13"/>
              <p:cNvSpPr/>
              <p:nvPr/>
            </p:nvSpPr>
            <p:spPr>
              <a:xfrm flipH="false" flipV="false" rot="0">
                <a:off x="0" y="0"/>
                <a:ext cx="812800" cy="2533770"/>
              </a:xfrm>
              <a:custGeom>
                <a:avLst/>
                <a:gdLst/>
                <a:ahLst/>
                <a:cxnLst/>
                <a:rect r="r" b="b" t="t" l="l"/>
                <a:pathLst>
                  <a:path h="2533770" w="812800">
                    <a:moveTo>
                      <a:pt x="0" y="0"/>
                    </a:moveTo>
                    <a:lnTo>
                      <a:pt x="812800" y="0"/>
                    </a:lnTo>
                    <a:lnTo>
                      <a:pt x="812800" y="2533770"/>
                    </a:lnTo>
                    <a:lnTo>
                      <a:pt x="0" y="2533770"/>
                    </a:lnTo>
                    <a:close/>
                  </a:path>
                </a:pathLst>
              </a:custGeom>
              <a:solidFill>
                <a:srgbClr val="25572A"/>
              </a:solidFill>
            </p:spPr>
          </p:sp>
          <p:sp>
            <p:nvSpPr>
              <p:cNvPr name="TextBox 14" id="14"/>
              <p:cNvSpPr txBox="true"/>
              <p:nvPr/>
            </p:nvSpPr>
            <p:spPr>
              <a:xfrm>
                <a:off x="0" y="-28575"/>
                <a:ext cx="812800" cy="2562345"/>
              </a:xfrm>
              <a:prstGeom prst="rect">
                <a:avLst/>
              </a:prstGeom>
            </p:spPr>
            <p:txBody>
              <a:bodyPr anchor="ctr" rtlCol="false" tIns="50800" lIns="50800" bIns="50800" rIns="50800"/>
              <a:lstStyle/>
              <a:p>
                <a:pPr algn="ctr">
                  <a:lnSpc>
                    <a:spcPts val="2344"/>
                  </a:lnSpc>
                </a:pPr>
              </a:p>
            </p:txBody>
          </p:sp>
        </p:grpSp>
        <p:grpSp>
          <p:nvGrpSpPr>
            <p:cNvPr name="Group 15" id="15"/>
            <p:cNvGrpSpPr/>
            <p:nvPr/>
          </p:nvGrpSpPr>
          <p:grpSpPr>
            <a:xfrm rot="0">
              <a:off x="260545" y="317890"/>
              <a:ext cx="4114800" cy="12139068"/>
              <a:chOff x="0" y="0"/>
              <a:chExt cx="812800" cy="2397841"/>
            </a:xfrm>
          </p:grpSpPr>
          <p:sp>
            <p:nvSpPr>
              <p:cNvPr name="Freeform 16" id="16"/>
              <p:cNvSpPr/>
              <p:nvPr/>
            </p:nvSpPr>
            <p:spPr>
              <a:xfrm flipH="false" flipV="false" rot="0">
                <a:off x="0" y="0"/>
                <a:ext cx="812800" cy="2397841"/>
              </a:xfrm>
              <a:custGeom>
                <a:avLst/>
                <a:gdLst/>
                <a:ahLst/>
                <a:cxnLst/>
                <a:rect r="r" b="b" t="t" l="l"/>
                <a:pathLst>
                  <a:path h="2397841" w="812800">
                    <a:moveTo>
                      <a:pt x="0" y="0"/>
                    </a:moveTo>
                    <a:lnTo>
                      <a:pt x="812800" y="0"/>
                    </a:lnTo>
                    <a:lnTo>
                      <a:pt x="812800" y="2397841"/>
                    </a:lnTo>
                    <a:lnTo>
                      <a:pt x="0" y="2397841"/>
                    </a:lnTo>
                    <a:close/>
                  </a:path>
                </a:pathLst>
              </a:custGeom>
              <a:solidFill>
                <a:srgbClr val="4B714F"/>
              </a:solidFill>
            </p:spPr>
          </p:sp>
          <p:sp>
            <p:nvSpPr>
              <p:cNvPr name="TextBox 17" id="17"/>
              <p:cNvSpPr txBox="true"/>
              <p:nvPr/>
            </p:nvSpPr>
            <p:spPr>
              <a:xfrm>
                <a:off x="0" y="-28575"/>
                <a:ext cx="812800" cy="2426416"/>
              </a:xfrm>
              <a:prstGeom prst="rect">
                <a:avLst/>
              </a:prstGeom>
            </p:spPr>
            <p:txBody>
              <a:bodyPr anchor="ctr" rtlCol="false" tIns="50800" lIns="50800" bIns="50800" rIns="50800"/>
              <a:lstStyle/>
              <a:p>
                <a:pPr algn="ctr">
                  <a:lnSpc>
                    <a:spcPts val="2344"/>
                  </a:lnSpc>
                </a:pPr>
              </a:p>
            </p:txBody>
          </p:sp>
        </p:grpSp>
        <p:grpSp>
          <p:nvGrpSpPr>
            <p:cNvPr name="Group 18" id="18"/>
            <p:cNvGrpSpPr/>
            <p:nvPr/>
          </p:nvGrpSpPr>
          <p:grpSpPr>
            <a:xfrm rot="0">
              <a:off x="607108" y="689043"/>
              <a:ext cx="4172145" cy="11422256"/>
              <a:chOff x="0" y="0"/>
              <a:chExt cx="824127" cy="2256248"/>
            </a:xfrm>
          </p:grpSpPr>
          <p:sp>
            <p:nvSpPr>
              <p:cNvPr name="Freeform 19" id="19"/>
              <p:cNvSpPr/>
              <p:nvPr/>
            </p:nvSpPr>
            <p:spPr>
              <a:xfrm flipH="false" flipV="false" rot="0">
                <a:off x="0" y="0"/>
                <a:ext cx="824127" cy="2256248"/>
              </a:xfrm>
              <a:custGeom>
                <a:avLst/>
                <a:gdLst/>
                <a:ahLst/>
                <a:cxnLst/>
                <a:rect r="r" b="b" t="t" l="l"/>
                <a:pathLst>
                  <a:path h="2256248" w="824127">
                    <a:moveTo>
                      <a:pt x="0" y="0"/>
                    </a:moveTo>
                    <a:lnTo>
                      <a:pt x="824127" y="0"/>
                    </a:lnTo>
                    <a:lnTo>
                      <a:pt x="824127" y="2256248"/>
                    </a:lnTo>
                    <a:lnTo>
                      <a:pt x="0" y="2256248"/>
                    </a:lnTo>
                    <a:close/>
                  </a:path>
                </a:pathLst>
              </a:custGeom>
              <a:solidFill>
                <a:srgbClr val="65976A"/>
              </a:solidFill>
            </p:spPr>
          </p:sp>
          <p:sp>
            <p:nvSpPr>
              <p:cNvPr name="TextBox 20" id="20"/>
              <p:cNvSpPr txBox="true"/>
              <p:nvPr/>
            </p:nvSpPr>
            <p:spPr>
              <a:xfrm>
                <a:off x="0" y="-28575"/>
                <a:ext cx="824127" cy="2284823"/>
              </a:xfrm>
              <a:prstGeom prst="rect">
                <a:avLst/>
              </a:prstGeom>
            </p:spPr>
            <p:txBody>
              <a:bodyPr anchor="ctr" rtlCol="false" tIns="50800" lIns="50800" bIns="50800" rIns="50800"/>
              <a:lstStyle/>
              <a:p>
                <a:pPr algn="ctr">
                  <a:lnSpc>
                    <a:spcPts val="2344"/>
                  </a:lnSpc>
                </a:pPr>
              </a:p>
            </p:txBody>
          </p:sp>
        </p:grpSp>
      </p:grpSp>
      <p:sp>
        <p:nvSpPr>
          <p:cNvPr name="TextBox 21" id="21"/>
          <p:cNvSpPr txBox="true"/>
          <p:nvPr/>
        </p:nvSpPr>
        <p:spPr>
          <a:xfrm rot="0">
            <a:off x="5481568" y="2278683"/>
            <a:ext cx="10917247" cy="1014761"/>
          </a:xfrm>
          <a:prstGeom prst="rect">
            <a:avLst/>
          </a:prstGeom>
        </p:spPr>
        <p:txBody>
          <a:bodyPr anchor="t" rtlCol="false" tIns="0" lIns="0" bIns="0" rIns="0">
            <a:spAutoFit/>
          </a:bodyPr>
          <a:lstStyle/>
          <a:p>
            <a:pPr algn="l">
              <a:lnSpc>
                <a:spcPts val="7889"/>
              </a:lnSpc>
            </a:pPr>
            <a:r>
              <a:rPr lang="en-US" b="true" sz="6920" spc="2228">
                <a:solidFill>
                  <a:srgbClr val="27403B"/>
                </a:solidFill>
                <a:latin typeface="Raleway Heavy"/>
                <a:ea typeface="Raleway Heavy"/>
                <a:cs typeface="Raleway Heavy"/>
                <a:sym typeface="Raleway Heavy"/>
              </a:rPr>
              <a:t>OBJETIVO</a:t>
            </a:r>
          </a:p>
        </p:txBody>
      </p:sp>
      <p:sp>
        <p:nvSpPr>
          <p:cNvPr name="TextBox 22" id="22"/>
          <p:cNvSpPr txBox="true"/>
          <p:nvPr/>
        </p:nvSpPr>
        <p:spPr>
          <a:xfrm rot="0">
            <a:off x="6701993" y="3755463"/>
            <a:ext cx="8769677" cy="3863546"/>
          </a:xfrm>
          <a:prstGeom prst="rect">
            <a:avLst/>
          </a:prstGeom>
        </p:spPr>
        <p:txBody>
          <a:bodyPr anchor="t" rtlCol="false" tIns="0" lIns="0" bIns="0" rIns="0">
            <a:spAutoFit/>
          </a:bodyPr>
          <a:lstStyle/>
          <a:p>
            <a:pPr algn="l">
              <a:lnSpc>
                <a:spcPts val="3865"/>
              </a:lnSpc>
            </a:pPr>
            <a:r>
              <a:rPr lang="en-US" sz="2509">
                <a:solidFill>
                  <a:srgbClr val="000000"/>
                </a:solidFill>
                <a:latin typeface="Garet"/>
                <a:ea typeface="Garet"/>
                <a:cs typeface="Garet"/>
                <a:sym typeface="Garet"/>
              </a:rPr>
              <a:t>Determinar la relación entre el LMA (masa foliar por área) y el CMSF (contenido de materia seca foliar) con la supervivencia de brinzales de ocho especies de árboles del género Quercus en plantaciones de enriquecimiento en bosques de niebla secundarios en Veracruz, México. Además, se determinará la variación intraespecífica de los rasgos funcionales en un gradiente de elevación. </a:t>
            </a:r>
          </a:p>
        </p:txBody>
      </p:sp>
      <p:sp>
        <p:nvSpPr>
          <p:cNvPr name="TextBox 23" id="23"/>
          <p:cNvSpPr txBox="true"/>
          <p:nvPr/>
        </p:nvSpPr>
        <p:spPr>
          <a:xfrm rot="0">
            <a:off x="5338642" y="4048771"/>
            <a:ext cx="795763" cy="441311"/>
          </a:xfrm>
          <a:prstGeom prst="rect">
            <a:avLst/>
          </a:prstGeom>
        </p:spPr>
        <p:txBody>
          <a:bodyPr anchor="t" rtlCol="false" tIns="0" lIns="0" bIns="0" rIns="0">
            <a:spAutoFit/>
          </a:bodyPr>
          <a:lstStyle/>
          <a:p>
            <a:pPr algn="r">
              <a:lnSpc>
                <a:spcPts val="3322"/>
              </a:lnSpc>
            </a:pPr>
            <a:r>
              <a:rPr lang="en-US" b="true" sz="2914" spc="440">
                <a:solidFill>
                  <a:srgbClr val="FFFFFF"/>
                </a:solidFill>
                <a:latin typeface="Raleway Bold"/>
                <a:ea typeface="Raleway Bold"/>
                <a:cs typeface="Raleway Bold"/>
                <a:sym typeface="Raleway Bo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marL="361528" indent="-180764" lvl="1">
                  <a:lnSpc>
                    <a:spcPts val="2344"/>
                  </a:lnSpc>
                  <a:buFont typeface="Arial"/>
                  <a:buChar char="•"/>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marL="361528" indent="-180764" lvl="1">
                  <a:lnSpc>
                    <a:spcPts val="2344"/>
                  </a:lnSpc>
                  <a:buFont typeface="Arial"/>
                  <a:buChar char="•"/>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marL="361528" indent="-180764" lvl="1">
                  <a:lnSpc>
                    <a:spcPts val="2344"/>
                  </a:lnSpc>
                  <a:buAutoNum type="arabicPeriod" startAt="1"/>
                </a:pPr>
              </a:p>
            </p:txBody>
          </p:sp>
        </p:grpSp>
        <p:sp>
          <p:nvSpPr>
            <p:cNvPr name="Freeform 12" id="12"/>
            <p:cNvSpPr/>
            <p:nvPr/>
          </p:nvSpPr>
          <p:spPr>
            <a:xfrm flipH="false" flipV="false" rot="-10800000">
              <a:off x="18828976" y="8387239"/>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0" y="0"/>
              <a:ext cx="4439970" cy="4439970"/>
            </a:xfrm>
            <a:custGeom>
              <a:avLst/>
              <a:gdLst/>
              <a:ahLst/>
              <a:cxnLst/>
              <a:rect r="r" b="b" t="t" l="l"/>
              <a:pathLst>
                <a:path h="4439970" w="4439970">
                  <a:moveTo>
                    <a:pt x="0" y="0"/>
                  </a:moveTo>
                  <a:lnTo>
                    <a:pt x="4439970" y="0"/>
                  </a:lnTo>
                  <a:lnTo>
                    <a:pt x="4439970"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14" id="14"/>
          <p:cNvSpPr/>
          <p:nvPr/>
        </p:nvSpPr>
        <p:spPr>
          <a:xfrm flipH="false" flipV="false" rot="0">
            <a:off x="2738032" y="2665698"/>
            <a:ext cx="12442430" cy="6283427"/>
          </a:xfrm>
          <a:custGeom>
            <a:avLst/>
            <a:gdLst/>
            <a:ahLst/>
            <a:cxnLst/>
            <a:rect r="r" b="b" t="t" l="l"/>
            <a:pathLst>
              <a:path h="6283427" w="12442430">
                <a:moveTo>
                  <a:pt x="0" y="0"/>
                </a:moveTo>
                <a:lnTo>
                  <a:pt x="12442431" y="0"/>
                </a:lnTo>
                <a:lnTo>
                  <a:pt x="12442431" y="6283428"/>
                </a:lnTo>
                <a:lnTo>
                  <a:pt x="0" y="6283428"/>
                </a:lnTo>
                <a:lnTo>
                  <a:pt x="0" y="0"/>
                </a:lnTo>
                <a:close/>
              </a:path>
            </a:pathLst>
          </a:custGeom>
          <a:blipFill>
            <a:blip r:embed="rId4"/>
            <a:stretch>
              <a:fillRect l="0" t="0" r="0" b="0"/>
            </a:stretch>
          </a:blipFill>
        </p:spPr>
      </p:sp>
      <p:sp>
        <p:nvSpPr>
          <p:cNvPr name="TextBox 15" id="15"/>
          <p:cNvSpPr txBox="true"/>
          <p:nvPr/>
        </p:nvSpPr>
        <p:spPr>
          <a:xfrm rot="0">
            <a:off x="1808455" y="1342040"/>
            <a:ext cx="14594209" cy="993788"/>
          </a:xfrm>
          <a:prstGeom prst="rect">
            <a:avLst/>
          </a:prstGeom>
        </p:spPr>
        <p:txBody>
          <a:bodyPr anchor="t" rtlCol="false" tIns="0" lIns="0" bIns="0" rIns="0">
            <a:spAutoFit/>
          </a:bodyPr>
          <a:lstStyle/>
          <a:p>
            <a:pPr algn="just">
              <a:lnSpc>
                <a:spcPts val="4024"/>
              </a:lnSpc>
            </a:pPr>
            <a:r>
              <a:rPr lang="en-US" sz="2874">
                <a:solidFill>
                  <a:srgbClr val="000000"/>
                </a:solidFill>
                <a:latin typeface="Montserrat"/>
                <a:ea typeface="Montserrat"/>
                <a:cs typeface="Montserrat"/>
                <a:sym typeface="Montserrat"/>
              </a:rPr>
              <a:t>¿Los atributos funcionales foliares LMA (Leaf Mass per Area) y LDMC (Leaf Dry Matter Content) están relacionados con la sobrevivencia?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marL="361528" indent="-180764" lvl="1">
                  <a:lnSpc>
                    <a:spcPts val="2344"/>
                  </a:lnSpc>
                  <a:buFont typeface="Arial"/>
                  <a:buChar char="•"/>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marL="361528" indent="-180764" lvl="1">
                  <a:lnSpc>
                    <a:spcPts val="2344"/>
                  </a:lnSpc>
                  <a:buFont typeface="Arial"/>
                  <a:buChar char="•"/>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marL="361528" indent="-180764" lvl="1">
                  <a:lnSpc>
                    <a:spcPts val="2344"/>
                  </a:lnSpc>
                  <a:buAutoNum type="arabicPeriod" startAt="1"/>
                </a:pPr>
              </a:p>
            </p:txBody>
          </p:sp>
        </p:grpSp>
        <p:sp>
          <p:nvSpPr>
            <p:cNvPr name="Freeform 12" id="12"/>
            <p:cNvSpPr/>
            <p:nvPr/>
          </p:nvSpPr>
          <p:spPr>
            <a:xfrm flipH="false" flipV="false" rot="-10800000">
              <a:off x="18828976" y="8387239"/>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0" y="0"/>
              <a:ext cx="4439970" cy="4439970"/>
            </a:xfrm>
            <a:custGeom>
              <a:avLst/>
              <a:gdLst/>
              <a:ahLst/>
              <a:cxnLst/>
              <a:rect r="r" b="b" t="t" l="l"/>
              <a:pathLst>
                <a:path h="4439970" w="4439970">
                  <a:moveTo>
                    <a:pt x="0" y="0"/>
                  </a:moveTo>
                  <a:lnTo>
                    <a:pt x="4439970" y="0"/>
                  </a:lnTo>
                  <a:lnTo>
                    <a:pt x="4439970"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aphicFrame>
        <p:nvGraphicFramePr>
          <p:cNvPr name="Object 14" id="14"/>
          <p:cNvGraphicFramePr/>
          <p:nvPr/>
        </p:nvGraphicFramePr>
        <p:xfrm>
          <a:off x="1873990" y="5517931"/>
          <a:ext cx="5657850" cy="5657850"/>
        </p:xfrm>
        <a:graphic>
          <a:graphicData uri="http://schemas.openxmlformats.org/presentationml/2006/ole">
            <p:oleObj imgW="6781800" imgH="6781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Freeform 15" id="15"/>
          <p:cNvSpPr/>
          <p:nvPr/>
        </p:nvSpPr>
        <p:spPr>
          <a:xfrm flipH="false" flipV="false" rot="1379432">
            <a:off x="14685921" y="7006457"/>
            <a:ext cx="2722017" cy="2722017"/>
          </a:xfrm>
          <a:custGeom>
            <a:avLst/>
            <a:gdLst/>
            <a:ahLst/>
            <a:cxnLst/>
            <a:rect r="r" b="b" t="t" l="l"/>
            <a:pathLst>
              <a:path h="2722017" w="2722017">
                <a:moveTo>
                  <a:pt x="0" y="0"/>
                </a:moveTo>
                <a:lnTo>
                  <a:pt x="2722017" y="0"/>
                </a:lnTo>
                <a:lnTo>
                  <a:pt x="2722017" y="2722017"/>
                </a:lnTo>
                <a:lnTo>
                  <a:pt x="0" y="2722017"/>
                </a:lnTo>
                <a:lnTo>
                  <a:pt x="0" y="0"/>
                </a:lnTo>
                <a:close/>
              </a:path>
            </a:pathLst>
          </a:custGeom>
          <a:blipFill>
            <a:blip r:embed="rId6"/>
            <a:stretch>
              <a:fillRect l="0" t="0" r="0" b="0"/>
            </a:stretch>
          </a:blipFill>
        </p:spPr>
      </p:sp>
      <p:sp>
        <p:nvSpPr>
          <p:cNvPr name="TextBox 16" id="16"/>
          <p:cNvSpPr txBox="true"/>
          <p:nvPr/>
        </p:nvSpPr>
        <p:spPr>
          <a:xfrm rot="0">
            <a:off x="1381317" y="2502984"/>
            <a:ext cx="15525366" cy="1054515"/>
          </a:xfrm>
          <a:prstGeom prst="rect">
            <a:avLst/>
          </a:prstGeom>
        </p:spPr>
        <p:txBody>
          <a:bodyPr anchor="t" rtlCol="false" tIns="0" lIns="0" bIns="0" rIns="0">
            <a:spAutoFit/>
          </a:bodyPr>
          <a:lstStyle/>
          <a:p>
            <a:pPr algn="ctr">
              <a:lnSpc>
                <a:spcPts val="8137"/>
              </a:lnSpc>
            </a:pPr>
            <a:r>
              <a:rPr lang="en-US" b="true" sz="7137" spc="2298">
                <a:solidFill>
                  <a:srgbClr val="27403B"/>
                </a:solidFill>
                <a:latin typeface="Raleway Heavy"/>
                <a:ea typeface="Raleway Heavy"/>
                <a:cs typeface="Raleway Heavy"/>
                <a:sym typeface="Raleway Heavy"/>
              </a:rPr>
              <a:t>Diseño experimental</a:t>
            </a:r>
          </a:p>
        </p:txBody>
      </p:sp>
      <p:sp>
        <p:nvSpPr>
          <p:cNvPr name="TextBox 17" id="17"/>
          <p:cNvSpPr txBox="true"/>
          <p:nvPr/>
        </p:nvSpPr>
        <p:spPr>
          <a:xfrm rot="0">
            <a:off x="1177359" y="3955906"/>
            <a:ext cx="15856400" cy="546475"/>
          </a:xfrm>
          <a:prstGeom prst="rect">
            <a:avLst/>
          </a:prstGeom>
        </p:spPr>
        <p:txBody>
          <a:bodyPr anchor="t" rtlCol="false" tIns="0" lIns="0" bIns="0" rIns="0">
            <a:spAutoFit/>
          </a:bodyPr>
          <a:lstStyle/>
          <a:p>
            <a:pPr algn="ctr">
              <a:lnSpc>
                <a:spcPts val="4648"/>
              </a:lnSpc>
            </a:pPr>
            <a:r>
              <a:rPr lang="en-US" sz="2834">
                <a:solidFill>
                  <a:srgbClr val="000000"/>
                </a:solidFill>
                <a:latin typeface="Garet"/>
                <a:ea typeface="Garet"/>
                <a:cs typeface="Garet"/>
                <a:sym typeface="Garet"/>
              </a:rPr>
              <a:t>10</a:t>
            </a:r>
            <a:r>
              <a:rPr lang="en-US" sz="2834">
                <a:solidFill>
                  <a:srgbClr val="000000"/>
                </a:solidFill>
                <a:latin typeface="Garet"/>
                <a:ea typeface="Garet"/>
                <a:cs typeface="Garet"/>
                <a:sym typeface="Garet"/>
              </a:rPr>
              <a:t> sitios      x      8 especies      x      3 individuos     x       3 hojas       =       720 hojas </a:t>
            </a:r>
          </a:p>
        </p:txBody>
      </p:sp>
      <p:sp>
        <p:nvSpPr>
          <p:cNvPr name="TextBox 18" id="18"/>
          <p:cNvSpPr txBox="true"/>
          <p:nvPr/>
        </p:nvSpPr>
        <p:spPr>
          <a:xfrm rot="0">
            <a:off x="9731102" y="5460781"/>
            <a:ext cx="5115192" cy="1498613"/>
          </a:xfrm>
          <a:prstGeom prst="rect">
            <a:avLst/>
          </a:prstGeom>
        </p:spPr>
        <p:txBody>
          <a:bodyPr anchor="t" rtlCol="false" tIns="0" lIns="0" bIns="0" rIns="0">
            <a:spAutoFit/>
          </a:bodyPr>
          <a:lstStyle/>
          <a:p>
            <a:pPr algn="just" marL="620602" indent="-310301" lvl="1">
              <a:lnSpc>
                <a:spcPts val="4024"/>
              </a:lnSpc>
              <a:buFont typeface="Arial"/>
              <a:buChar char="•"/>
            </a:pPr>
            <a:r>
              <a:rPr lang="en-US" sz="2874">
                <a:solidFill>
                  <a:srgbClr val="000000"/>
                </a:solidFill>
                <a:latin typeface="Montserrat"/>
                <a:ea typeface="Montserrat"/>
                <a:cs typeface="Montserrat"/>
                <a:sym typeface="Montserrat"/>
              </a:rPr>
              <a:t>Cobertura del dosel</a:t>
            </a:r>
          </a:p>
          <a:p>
            <a:pPr algn="just" marL="620602" indent="-310301" lvl="1">
              <a:lnSpc>
                <a:spcPts val="4024"/>
              </a:lnSpc>
              <a:buFont typeface="Arial"/>
              <a:buChar char="•"/>
            </a:pPr>
            <a:r>
              <a:rPr lang="en-US" sz="2874">
                <a:solidFill>
                  <a:srgbClr val="000000"/>
                </a:solidFill>
                <a:latin typeface="Montserrat"/>
                <a:ea typeface="Montserrat"/>
                <a:cs typeface="Montserrat"/>
                <a:sym typeface="Montserrat"/>
              </a:rPr>
              <a:t>Elevación (temperatura y humedad)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73263"/>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5400000">
              <a:off x="18828976" y="0"/>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3" id="13"/>
          <p:cNvSpPr txBox="true"/>
          <p:nvPr/>
        </p:nvSpPr>
        <p:spPr>
          <a:xfrm rot="0">
            <a:off x="2564911" y="3321098"/>
            <a:ext cx="13873467" cy="2220280"/>
          </a:xfrm>
          <a:prstGeom prst="rect">
            <a:avLst/>
          </a:prstGeom>
        </p:spPr>
        <p:txBody>
          <a:bodyPr anchor="t" rtlCol="false" tIns="0" lIns="0" bIns="0" rIns="0">
            <a:spAutoFit/>
          </a:bodyPr>
          <a:lstStyle/>
          <a:p>
            <a:pPr algn="l">
              <a:lnSpc>
                <a:spcPts val="8692"/>
              </a:lnSpc>
            </a:pPr>
            <a:r>
              <a:rPr lang="en-US" b="true" sz="7625" spc="2455">
                <a:solidFill>
                  <a:srgbClr val="27403B"/>
                </a:solidFill>
                <a:latin typeface="Raleway Heavy"/>
                <a:ea typeface="Raleway Heavy"/>
                <a:cs typeface="Raleway Heavy"/>
                <a:sym typeface="Raleway Heavy"/>
              </a:rPr>
              <a:t>Diseño experimental</a:t>
            </a:r>
          </a:p>
        </p:txBody>
      </p:sp>
      <p:sp>
        <p:nvSpPr>
          <p:cNvPr name="TextBox 14" id="14"/>
          <p:cNvSpPr txBox="true"/>
          <p:nvPr/>
        </p:nvSpPr>
        <p:spPr>
          <a:xfrm rot="0">
            <a:off x="2564911" y="5992279"/>
            <a:ext cx="11105205" cy="1044554"/>
          </a:xfrm>
          <a:prstGeom prst="rect">
            <a:avLst/>
          </a:prstGeom>
        </p:spPr>
        <p:txBody>
          <a:bodyPr anchor="t" rtlCol="false" tIns="0" lIns="0" bIns="0" rIns="0">
            <a:spAutoFit/>
          </a:bodyPr>
          <a:lstStyle/>
          <a:p>
            <a:pPr algn="just">
              <a:lnSpc>
                <a:spcPts val="8036"/>
              </a:lnSpc>
            </a:pPr>
            <a:r>
              <a:rPr lang="en-US" sz="7049">
                <a:solidFill>
                  <a:srgbClr val="27403B"/>
                </a:solidFill>
                <a:latin typeface="Raleway"/>
                <a:ea typeface="Raleway"/>
                <a:cs typeface="Raleway"/>
                <a:sym typeface="Raleway"/>
              </a:rPr>
              <a:t>para el ejercicio en clase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73263"/>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5400000">
              <a:off x="18828976" y="0"/>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3" id="13"/>
          <p:cNvSpPr txBox="true"/>
          <p:nvPr/>
        </p:nvSpPr>
        <p:spPr>
          <a:xfrm rot="0">
            <a:off x="1660813" y="3541205"/>
            <a:ext cx="14889493" cy="3223640"/>
          </a:xfrm>
          <a:prstGeom prst="rect">
            <a:avLst/>
          </a:prstGeom>
        </p:spPr>
        <p:txBody>
          <a:bodyPr anchor="t" rtlCol="false" tIns="0" lIns="0" bIns="0" rIns="0">
            <a:spAutoFit/>
          </a:bodyPr>
          <a:lstStyle/>
          <a:p>
            <a:pPr algn="just">
              <a:lnSpc>
                <a:spcPts val="6326"/>
              </a:lnSpc>
            </a:pPr>
            <a:r>
              <a:rPr lang="en-US" sz="5549">
                <a:solidFill>
                  <a:srgbClr val="27403B"/>
                </a:solidFill>
                <a:latin typeface="Raleway"/>
                <a:ea typeface="Raleway"/>
                <a:cs typeface="Raleway"/>
                <a:sym typeface="Raleway"/>
              </a:rPr>
              <a:t>¿Cómo varía el masa foliar por área (LMA) intraespecíficamente en dos especies de Quercus a lo largo de un gradiente altitudinal?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grpSp>
      <p:sp>
        <p:nvSpPr>
          <p:cNvPr name="Freeform 12" id="12"/>
          <p:cNvSpPr/>
          <p:nvPr/>
        </p:nvSpPr>
        <p:spPr>
          <a:xfrm flipH="false" flipV="false" rot="0">
            <a:off x="990259" y="3076584"/>
            <a:ext cx="16230600" cy="6181716"/>
          </a:xfrm>
          <a:custGeom>
            <a:avLst/>
            <a:gdLst/>
            <a:ahLst/>
            <a:cxnLst/>
            <a:rect r="r" b="b" t="t" l="l"/>
            <a:pathLst>
              <a:path h="6181716" w="16230600">
                <a:moveTo>
                  <a:pt x="0" y="0"/>
                </a:moveTo>
                <a:lnTo>
                  <a:pt x="16230600" y="0"/>
                </a:lnTo>
                <a:lnTo>
                  <a:pt x="16230600" y="6181716"/>
                </a:lnTo>
                <a:lnTo>
                  <a:pt x="0" y="6181716"/>
                </a:lnTo>
                <a:lnTo>
                  <a:pt x="0" y="0"/>
                </a:lnTo>
                <a:close/>
              </a:path>
            </a:pathLst>
          </a:custGeom>
          <a:blipFill>
            <a:blip r:embed="rId2"/>
            <a:stretch>
              <a:fillRect l="-3304" t="-59151" r="-19825" b="-78868"/>
            </a:stretch>
          </a:blipFill>
        </p:spPr>
      </p:sp>
      <p:sp>
        <p:nvSpPr>
          <p:cNvPr name="TextBox 13" id="13"/>
          <p:cNvSpPr txBox="true"/>
          <p:nvPr/>
        </p:nvSpPr>
        <p:spPr>
          <a:xfrm rot="0">
            <a:off x="5853076" y="1483301"/>
            <a:ext cx="6581848" cy="1349660"/>
          </a:xfrm>
          <a:prstGeom prst="rect">
            <a:avLst/>
          </a:prstGeom>
        </p:spPr>
        <p:txBody>
          <a:bodyPr anchor="t" rtlCol="false" tIns="0" lIns="0" bIns="0" rIns="0">
            <a:spAutoFit/>
          </a:bodyPr>
          <a:lstStyle/>
          <a:p>
            <a:pPr algn="ctr">
              <a:lnSpc>
                <a:spcPts val="5267"/>
              </a:lnSpc>
            </a:pPr>
            <a:r>
              <a:rPr lang="en-US" b="true" sz="4620" spc="1487">
                <a:solidFill>
                  <a:srgbClr val="27403B"/>
                </a:solidFill>
                <a:latin typeface="Raleway Heavy"/>
                <a:ea typeface="Raleway Heavy"/>
                <a:cs typeface="Raleway Heavy"/>
                <a:sym typeface="Raleway Heavy"/>
              </a:rPr>
              <a:t>Sufriendo con mi DAG</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1080000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grpSp>
          <p:nvGrpSpPr>
            <p:cNvPr name="Group 12" id="12"/>
            <p:cNvGrpSpPr/>
            <p:nvPr/>
          </p:nvGrpSpPr>
          <p:grpSpPr>
            <a:xfrm rot="0">
              <a:off x="0" y="0"/>
              <a:ext cx="4114800" cy="12827209"/>
              <a:chOff x="0" y="0"/>
              <a:chExt cx="812800" cy="2533770"/>
            </a:xfrm>
          </p:grpSpPr>
          <p:sp>
            <p:nvSpPr>
              <p:cNvPr name="Freeform 13" id="13"/>
              <p:cNvSpPr/>
              <p:nvPr/>
            </p:nvSpPr>
            <p:spPr>
              <a:xfrm flipH="false" flipV="false" rot="0">
                <a:off x="0" y="0"/>
                <a:ext cx="812800" cy="2533770"/>
              </a:xfrm>
              <a:custGeom>
                <a:avLst/>
                <a:gdLst/>
                <a:ahLst/>
                <a:cxnLst/>
                <a:rect r="r" b="b" t="t" l="l"/>
                <a:pathLst>
                  <a:path h="2533770" w="812800">
                    <a:moveTo>
                      <a:pt x="0" y="0"/>
                    </a:moveTo>
                    <a:lnTo>
                      <a:pt x="812800" y="0"/>
                    </a:lnTo>
                    <a:lnTo>
                      <a:pt x="812800" y="2533770"/>
                    </a:lnTo>
                    <a:lnTo>
                      <a:pt x="0" y="2533770"/>
                    </a:lnTo>
                    <a:close/>
                  </a:path>
                </a:pathLst>
              </a:custGeom>
              <a:solidFill>
                <a:srgbClr val="25572A"/>
              </a:solidFill>
            </p:spPr>
          </p:sp>
          <p:sp>
            <p:nvSpPr>
              <p:cNvPr name="TextBox 14" id="14"/>
              <p:cNvSpPr txBox="true"/>
              <p:nvPr/>
            </p:nvSpPr>
            <p:spPr>
              <a:xfrm>
                <a:off x="0" y="-28575"/>
                <a:ext cx="812800" cy="2562345"/>
              </a:xfrm>
              <a:prstGeom prst="rect">
                <a:avLst/>
              </a:prstGeom>
            </p:spPr>
            <p:txBody>
              <a:bodyPr anchor="ctr" rtlCol="false" tIns="50800" lIns="50800" bIns="50800" rIns="50800"/>
              <a:lstStyle/>
              <a:p>
                <a:pPr algn="ctr">
                  <a:lnSpc>
                    <a:spcPts val="2344"/>
                  </a:lnSpc>
                </a:pPr>
              </a:p>
            </p:txBody>
          </p:sp>
        </p:grpSp>
        <p:grpSp>
          <p:nvGrpSpPr>
            <p:cNvPr name="Group 15" id="15"/>
            <p:cNvGrpSpPr/>
            <p:nvPr/>
          </p:nvGrpSpPr>
          <p:grpSpPr>
            <a:xfrm rot="0">
              <a:off x="260545" y="317890"/>
              <a:ext cx="4114800" cy="12139068"/>
              <a:chOff x="0" y="0"/>
              <a:chExt cx="812800" cy="2397841"/>
            </a:xfrm>
          </p:grpSpPr>
          <p:sp>
            <p:nvSpPr>
              <p:cNvPr name="Freeform 16" id="16"/>
              <p:cNvSpPr/>
              <p:nvPr/>
            </p:nvSpPr>
            <p:spPr>
              <a:xfrm flipH="false" flipV="false" rot="0">
                <a:off x="0" y="0"/>
                <a:ext cx="812800" cy="2397841"/>
              </a:xfrm>
              <a:custGeom>
                <a:avLst/>
                <a:gdLst/>
                <a:ahLst/>
                <a:cxnLst/>
                <a:rect r="r" b="b" t="t" l="l"/>
                <a:pathLst>
                  <a:path h="2397841" w="812800">
                    <a:moveTo>
                      <a:pt x="0" y="0"/>
                    </a:moveTo>
                    <a:lnTo>
                      <a:pt x="812800" y="0"/>
                    </a:lnTo>
                    <a:lnTo>
                      <a:pt x="812800" y="2397841"/>
                    </a:lnTo>
                    <a:lnTo>
                      <a:pt x="0" y="2397841"/>
                    </a:lnTo>
                    <a:close/>
                  </a:path>
                </a:pathLst>
              </a:custGeom>
              <a:solidFill>
                <a:srgbClr val="4B714F"/>
              </a:solidFill>
            </p:spPr>
          </p:sp>
          <p:sp>
            <p:nvSpPr>
              <p:cNvPr name="TextBox 17" id="17"/>
              <p:cNvSpPr txBox="true"/>
              <p:nvPr/>
            </p:nvSpPr>
            <p:spPr>
              <a:xfrm>
                <a:off x="0" y="-28575"/>
                <a:ext cx="812800" cy="2426416"/>
              </a:xfrm>
              <a:prstGeom prst="rect">
                <a:avLst/>
              </a:prstGeom>
            </p:spPr>
            <p:txBody>
              <a:bodyPr anchor="ctr" rtlCol="false" tIns="50800" lIns="50800" bIns="50800" rIns="50800"/>
              <a:lstStyle/>
              <a:p>
                <a:pPr algn="ctr">
                  <a:lnSpc>
                    <a:spcPts val="2344"/>
                  </a:lnSpc>
                </a:pPr>
              </a:p>
            </p:txBody>
          </p:sp>
        </p:grpSp>
        <p:grpSp>
          <p:nvGrpSpPr>
            <p:cNvPr name="Group 18" id="18"/>
            <p:cNvGrpSpPr/>
            <p:nvPr/>
          </p:nvGrpSpPr>
          <p:grpSpPr>
            <a:xfrm rot="0">
              <a:off x="607108" y="689043"/>
              <a:ext cx="4172145" cy="11422256"/>
              <a:chOff x="0" y="0"/>
              <a:chExt cx="824127" cy="2256248"/>
            </a:xfrm>
          </p:grpSpPr>
          <p:sp>
            <p:nvSpPr>
              <p:cNvPr name="Freeform 19" id="19"/>
              <p:cNvSpPr/>
              <p:nvPr/>
            </p:nvSpPr>
            <p:spPr>
              <a:xfrm flipH="false" flipV="false" rot="0">
                <a:off x="0" y="0"/>
                <a:ext cx="824127" cy="2256248"/>
              </a:xfrm>
              <a:custGeom>
                <a:avLst/>
                <a:gdLst/>
                <a:ahLst/>
                <a:cxnLst/>
                <a:rect r="r" b="b" t="t" l="l"/>
                <a:pathLst>
                  <a:path h="2256248" w="824127">
                    <a:moveTo>
                      <a:pt x="0" y="0"/>
                    </a:moveTo>
                    <a:lnTo>
                      <a:pt x="824127" y="0"/>
                    </a:lnTo>
                    <a:lnTo>
                      <a:pt x="824127" y="2256248"/>
                    </a:lnTo>
                    <a:lnTo>
                      <a:pt x="0" y="2256248"/>
                    </a:lnTo>
                    <a:close/>
                  </a:path>
                </a:pathLst>
              </a:custGeom>
              <a:solidFill>
                <a:srgbClr val="65976A"/>
              </a:solidFill>
            </p:spPr>
          </p:sp>
          <p:sp>
            <p:nvSpPr>
              <p:cNvPr name="TextBox 20" id="20"/>
              <p:cNvSpPr txBox="true"/>
              <p:nvPr/>
            </p:nvSpPr>
            <p:spPr>
              <a:xfrm>
                <a:off x="0" y="-28575"/>
                <a:ext cx="824127" cy="2284823"/>
              </a:xfrm>
              <a:prstGeom prst="rect">
                <a:avLst/>
              </a:prstGeom>
            </p:spPr>
            <p:txBody>
              <a:bodyPr anchor="ctr" rtlCol="false" tIns="50800" lIns="50800" bIns="50800" rIns="50800"/>
              <a:lstStyle/>
              <a:p>
                <a:pPr algn="ctr">
                  <a:lnSpc>
                    <a:spcPts val="2344"/>
                  </a:lnSpc>
                </a:pPr>
              </a:p>
            </p:txBody>
          </p:sp>
        </p:grpSp>
      </p:grpSp>
      <p:sp>
        <p:nvSpPr>
          <p:cNvPr name="TextBox 21" id="21"/>
          <p:cNvSpPr txBox="true"/>
          <p:nvPr/>
        </p:nvSpPr>
        <p:spPr>
          <a:xfrm rot="0">
            <a:off x="1985876" y="1204237"/>
            <a:ext cx="11324326" cy="903890"/>
          </a:xfrm>
          <a:prstGeom prst="rect">
            <a:avLst/>
          </a:prstGeom>
        </p:spPr>
        <p:txBody>
          <a:bodyPr anchor="t" rtlCol="false" tIns="0" lIns="0" bIns="0" rIns="0">
            <a:spAutoFit/>
          </a:bodyPr>
          <a:lstStyle/>
          <a:p>
            <a:pPr algn="l">
              <a:lnSpc>
                <a:spcPts val="6977"/>
              </a:lnSpc>
            </a:pPr>
            <a:r>
              <a:rPr lang="en-US" b="true" sz="6120" spc="1970">
                <a:solidFill>
                  <a:srgbClr val="27403B"/>
                </a:solidFill>
                <a:latin typeface="Raleway Heavy"/>
                <a:ea typeface="Raleway Heavy"/>
                <a:cs typeface="Raleway Heavy"/>
                <a:sym typeface="Raleway Heavy"/>
              </a:rPr>
              <a:t>Diseño</a:t>
            </a:r>
          </a:p>
        </p:txBody>
      </p:sp>
      <p:sp>
        <p:nvSpPr>
          <p:cNvPr name="TextBox 22" id="22"/>
          <p:cNvSpPr txBox="true"/>
          <p:nvPr/>
        </p:nvSpPr>
        <p:spPr>
          <a:xfrm rot="0">
            <a:off x="1985876" y="2730532"/>
            <a:ext cx="12168961" cy="6190780"/>
          </a:xfrm>
          <a:prstGeom prst="rect">
            <a:avLst/>
          </a:prstGeom>
        </p:spPr>
        <p:txBody>
          <a:bodyPr anchor="t" rtlCol="false" tIns="0" lIns="0" bIns="0" rIns="0">
            <a:spAutoFit/>
          </a:bodyPr>
          <a:lstStyle/>
          <a:p>
            <a:pPr algn="l" marL="573851" indent="-286925" lvl="1">
              <a:lnSpc>
                <a:spcPts val="4093"/>
              </a:lnSpc>
              <a:buFont typeface="Arial"/>
              <a:buChar char="•"/>
            </a:pPr>
            <a:r>
              <a:rPr lang="en-US" sz="2657">
                <a:solidFill>
                  <a:srgbClr val="000000"/>
                </a:solidFill>
                <a:latin typeface="Garet"/>
                <a:ea typeface="Garet"/>
                <a:cs typeface="Garet"/>
                <a:sym typeface="Garet"/>
              </a:rPr>
              <a:t>Factores fijos:</a:t>
            </a:r>
          </a:p>
          <a:p>
            <a:pPr algn="l" marL="1147702" indent="-382567" lvl="2">
              <a:lnSpc>
                <a:spcPts val="4093"/>
              </a:lnSpc>
              <a:buFont typeface="Arial"/>
              <a:buChar char="⚬"/>
            </a:pPr>
            <a:r>
              <a:rPr lang="en-US" sz="2657">
                <a:solidFill>
                  <a:srgbClr val="000000"/>
                </a:solidFill>
                <a:latin typeface="Garet"/>
                <a:ea typeface="Garet"/>
                <a:cs typeface="Garet"/>
                <a:sym typeface="Garet"/>
              </a:rPr>
              <a:t>Especie (2 niveles: Quercus sp. 1 y Quercus sp. 2)</a:t>
            </a:r>
          </a:p>
          <a:p>
            <a:pPr algn="l" marL="1147702" indent="-382567" lvl="2">
              <a:lnSpc>
                <a:spcPts val="4093"/>
              </a:lnSpc>
              <a:buFont typeface="Arial"/>
              <a:buChar char="⚬"/>
            </a:pPr>
            <a:r>
              <a:rPr lang="en-US" sz="2657">
                <a:solidFill>
                  <a:srgbClr val="000000"/>
                </a:solidFill>
                <a:latin typeface="Garet"/>
                <a:ea typeface="Garet"/>
                <a:cs typeface="Garet"/>
                <a:sym typeface="Garet"/>
              </a:rPr>
              <a:t>Piso altitudinal (3 niveles: bajo, medio y alto)</a:t>
            </a:r>
          </a:p>
          <a:p>
            <a:pPr algn="l">
              <a:lnSpc>
                <a:spcPts val="4093"/>
              </a:lnSpc>
            </a:pPr>
          </a:p>
          <a:p>
            <a:pPr algn="l" marL="573851" indent="-286925" lvl="1">
              <a:lnSpc>
                <a:spcPts val="4093"/>
              </a:lnSpc>
              <a:buFont typeface="Arial"/>
              <a:buChar char="•"/>
            </a:pPr>
            <a:r>
              <a:rPr lang="en-US" sz="2657">
                <a:solidFill>
                  <a:srgbClr val="000000"/>
                </a:solidFill>
                <a:latin typeface="Garet"/>
                <a:ea typeface="Garet"/>
                <a:cs typeface="Garet"/>
                <a:sym typeface="Garet"/>
              </a:rPr>
              <a:t>Factor aleatorio:</a:t>
            </a:r>
          </a:p>
          <a:p>
            <a:pPr algn="l" marL="1147702" indent="-382567" lvl="2">
              <a:lnSpc>
                <a:spcPts val="4093"/>
              </a:lnSpc>
              <a:buFont typeface="Arial"/>
              <a:buChar char="⚬"/>
            </a:pPr>
            <a:r>
              <a:rPr lang="en-US" sz="2657">
                <a:solidFill>
                  <a:srgbClr val="000000"/>
                </a:solidFill>
                <a:latin typeface="Garet"/>
                <a:ea typeface="Garet"/>
                <a:cs typeface="Garet"/>
                <a:sym typeface="Garet"/>
              </a:rPr>
              <a:t>Sitio </a:t>
            </a:r>
          </a:p>
          <a:p>
            <a:pPr algn="l">
              <a:lnSpc>
                <a:spcPts val="4093"/>
              </a:lnSpc>
            </a:pPr>
          </a:p>
          <a:p>
            <a:pPr algn="l">
              <a:lnSpc>
                <a:spcPts val="4093"/>
              </a:lnSpc>
            </a:pPr>
            <a:r>
              <a:rPr lang="en-US" sz="2657">
                <a:solidFill>
                  <a:srgbClr val="000000"/>
                </a:solidFill>
                <a:latin typeface="Garet"/>
                <a:ea typeface="Garet"/>
                <a:cs typeface="Garet"/>
                <a:sym typeface="Garet"/>
              </a:rPr>
              <a:t>3 sitios en cada piso altitudinal (repeticiones)</a:t>
            </a:r>
          </a:p>
          <a:p>
            <a:pPr algn="l">
              <a:lnSpc>
                <a:spcPts val="4093"/>
              </a:lnSpc>
            </a:pPr>
            <a:r>
              <a:rPr lang="en-US" sz="2657">
                <a:solidFill>
                  <a:srgbClr val="000000"/>
                </a:solidFill>
                <a:latin typeface="Garet"/>
                <a:ea typeface="Garet"/>
                <a:cs typeface="Garet"/>
                <a:sym typeface="Garet"/>
              </a:rPr>
              <a:t>3 árboles de cada especie por sitio</a:t>
            </a:r>
          </a:p>
          <a:p>
            <a:pPr algn="l">
              <a:lnSpc>
                <a:spcPts val="4555"/>
              </a:lnSpc>
            </a:pPr>
            <a:r>
              <a:rPr lang="en-US" sz="2957" b="true">
                <a:solidFill>
                  <a:srgbClr val="000000"/>
                </a:solidFill>
                <a:latin typeface="Garet Bold"/>
                <a:ea typeface="Garet Bold"/>
                <a:cs typeface="Garet Bold"/>
                <a:sym typeface="Garet Bold"/>
              </a:rPr>
              <a:t>3 pisos × 3 sitios × 2 especies × 3 árboles (1 hoja) = 54 árboles</a:t>
            </a:r>
          </a:p>
          <a:p>
            <a:pPr algn="l">
              <a:lnSpc>
                <a:spcPts val="4093"/>
              </a:lnSpc>
            </a:pPr>
          </a:p>
          <a:p>
            <a:pPr algn="l">
              <a:lnSpc>
                <a:spcPts val="4093"/>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41814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grpSp>
      <p:sp>
        <p:nvSpPr>
          <p:cNvPr name="AutoShape 12" id="12"/>
          <p:cNvSpPr/>
          <p:nvPr/>
        </p:nvSpPr>
        <p:spPr>
          <a:xfrm flipV="true">
            <a:off x="1028700" y="3736521"/>
            <a:ext cx="14741326" cy="0"/>
          </a:xfrm>
          <a:prstGeom prst="line">
            <a:avLst/>
          </a:prstGeom>
          <a:ln cap="flat" w="38100">
            <a:solidFill>
              <a:srgbClr val="000000"/>
            </a:solidFill>
            <a:prstDash val="solid"/>
            <a:headEnd type="none" len="sm" w="sm"/>
            <a:tailEnd type="none" len="sm" w="sm"/>
          </a:ln>
        </p:spPr>
      </p:sp>
      <p:sp>
        <p:nvSpPr>
          <p:cNvPr name="AutoShape 13" id="13"/>
          <p:cNvSpPr/>
          <p:nvPr/>
        </p:nvSpPr>
        <p:spPr>
          <a:xfrm flipV="true">
            <a:off x="1028700" y="6654363"/>
            <a:ext cx="14741326" cy="0"/>
          </a:xfrm>
          <a:prstGeom prst="line">
            <a:avLst/>
          </a:prstGeom>
          <a:ln cap="flat" w="38100">
            <a:solidFill>
              <a:srgbClr val="000000"/>
            </a:solidFill>
            <a:prstDash val="solid"/>
            <a:headEnd type="none" len="sm" w="sm"/>
            <a:tailEnd type="none" len="sm" w="sm"/>
          </a:ln>
        </p:spPr>
      </p:sp>
      <p:sp>
        <p:nvSpPr>
          <p:cNvPr name="AutoShape 14" id="14"/>
          <p:cNvSpPr/>
          <p:nvPr/>
        </p:nvSpPr>
        <p:spPr>
          <a:xfrm>
            <a:off x="5912891" y="1028700"/>
            <a:ext cx="0" cy="8298809"/>
          </a:xfrm>
          <a:prstGeom prst="line">
            <a:avLst/>
          </a:prstGeom>
          <a:ln cap="flat" w="38100">
            <a:solidFill>
              <a:srgbClr val="000000"/>
            </a:solidFill>
            <a:prstDash val="solid"/>
            <a:headEnd type="none" len="sm" w="sm"/>
            <a:tailEnd type="none" len="sm" w="sm"/>
          </a:ln>
        </p:spPr>
      </p:sp>
      <p:sp>
        <p:nvSpPr>
          <p:cNvPr name="AutoShape 15" id="15"/>
          <p:cNvSpPr/>
          <p:nvPr/>
        </p:nvSpPr>
        <p:spPr>
          <a:xfrm>
            <a:off x="11159526" y="994095"/>
            <a:ext cx="0" cy="8298809"/>
          </a:xfrm>
          <a:prstGeom prst="line">
            <a:avLst/>
          </a:prstGeom>
          <a:ln cap="flat" w="38100">
            <a:solidFill>
              <a:srgbClr val="000000"/>
            </a:solidFill>
            <a:prstDash val="solid"/>
            <a:headEnd type="none" len="sm" w="sm"/>
            <a:tailEnd type="none" len="sm" w="sm"/>
          </a:ln>
        </p:spPr>
      </p:sp>
      <p:sp>
        <p:nvSpPr>
          <p:cNvPr name="AutoShape 16" id="16"/>
          <p:cNvSpPr/>
          <p:nvPr/>
        </p:nvSpPr>
        <p:spPr>
          <a:xfrm flipV="true">
            <a:off x="16287733" y="1383631"/>
            <a:ext cx="0" cy="7341279"/>
          </a:xfrm>
          <a:prstGeom prst="line">
            <a:avLst/>
          </a:prstGeom>
          <a:ln cap="flat" w="104775">
            <a:solidFill>
              <a:srgbClr val="000000"/>
            </a:solidFill>
            <a:prstDash val="solid"/>
            <a:headEnd type="none" len="sm" w="sm"/>
            <a:tailEnd type="triangle" len="med" w="lg"/>
          </a:ln>
        </p:spPr>
      </p:sp>
      <p:sp>
        <p:nvSpPr>
          <p:cNvPr name="Freeform 17" id="17"/>
          <p:cNvSpPr/>
          <p:nvPr/>
        </p:nvSpPr>
        <p:spPr>
          <a:xfrm flipH="false" flipV="false" rot="0">
            <a:off x="3515416" y="7466678"/>
            <a:ext cx="1215724" cy="1311075"/>
          </a:xfrm>
          <a:custGeom>
            <a:avLst/>
            <a:gdLst/>
            <a:ahLst/>
            <a:cxnLst/>
            <a:rect r="r" b="b" t="t" l="l"/>
            <a:pathLst>
              <a:path h="1311075" w="1215724">
                <a:moveTo>
                  <a:pt x="0" y="0"/>
                </a:moveTo>
                <a:lnTo>
                  <a:pt x="1215724" y="0"/>
                </a:lnTo>
                <a:lnTo>
                  <a:pt x="1215724" y="1311074"/>
                </a:lnTo>
                <a:lnTo>
                  <a:pt x="0" y="13110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028700" y="7466678"/>
            <a:ext cx="1243882" cy="1311075"/>
          </a:xfrm>
          <a:custGeom>
            <a:avLst/>
            <a:gdLst/>
            <a:ahLst/>
            <a:cxnLst/>
            <a:rect r="r" b="b" t="t" l="l"/>
            <a:pathLst>
              <a:path h="1311075" w="1243882">
                <a:moveTo>
                  <a:pt x="0" y="0"/>
                </a:moveTo>
                <a:lnTo>
                  <a:pt x="1243882" y="0"/>
                </a:lnTo>
                <a:lnTo>
                  <a:pt x="1243882" y="1311074"/>
                </a:lnTo>
                <a:lnTo>
                  <a:pt x="0" y="1311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2802414" y="8268839"/>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6789760" y="7429269"/>
            <a:ext cx="202883" cy="696609"/>
          </a:xfrm>
          <a:prstGeom prst="rect">
            <a:avLst/>
          </a:prstGeom>
        </p:spPr>
        <p:txBody>
          <a:bodyPr anchor="t" rtlCol="false" tIns="0" lIns="0" bIns="0" rIns="0">
            <a:spAutoFit/>
          </a:bodyPr>
          <a:lstStyle/>
          <a:p>
            <a:pPr algn="ctr">
              <a:lnSpc>
                <a:spcPts val="5704"/>
              </a:lnSpc>
              <a:spcBef>
                <a:spcPct val="0"/>
              </a:spcBef>
            </a:pPr>
            <a:r>
              <a:rPr lang="en-US" b="true" sz="4074">
                <a:solidFill>
                  <a:srgbClr val="000000"/>
                </a:solidFill>
                <a:latin typeface="Montserrat Bold"/>
                <a:ea typeface="Montserrat Bold"/>
                <a:cs typeface="Montserrat Bold"/>
                <a:sym typeface="Montserrat Bold"/>
              </a:rPr>
              <a:t>1</a:t>
            </a:r>
          </a:p>
        </p:txBody>
      </p:sp>
      <p:sp>
        <p:nvSpPr>
          <p:cNvPr name="TextBox 21" id="21"/>
          <p:cNvSpPr txBox="true"/>
          <p:nvPr/>
        </p:nvSpPr>
        <p:spPr>
          <a:xfrm rot="0">
            <a:off x="16636586" y="1948734"/>
            <a:ext cx="306348" cy="696609"/>
          </a:xfrm>
          <a:prstGeom prst="rect">
            <a:avLst/>
          </a:prstGeom>
        </p:spPr>
        <p:txBody>
          <a:bodyPr anchor="t" rtlCol="false" tIns="0" lIns="0" bIns="0" rIns="0">
            <a:spAutoFit/>
          </a:bodyPr>
          <a:lstStyle/>
          <a:p>
            <a:pPr algn="ctr">
              <a:lnSpc>
                <a:spcPts val="5704"/>
              </a:lnSpc>
              <a:spcBef>
                <a:spcPct val="0"/>
              </a:spcBef>
            </a:pPr>
            <a:r>
              <a:rPr lang="en-US" b="true" sz="4074">
                <a:solidFill>
                  <a:srgbClr val="000000"/>
                </a:solidFill>
                <a:latin typeface="Montserrat Bold"/>
                <a:ea typeface="Montserrat Bold"/>
                <a:cs typeface="Montserrat Bold"/>
                <a:sym typeface="Montserrat Bold"/>
              </a:rPr>
              <a:t>3</a:t>
            </a:r>
          </a:p>
        </p:txBody>
      </p:sp>
      <p:sp>
        <p:nvSpPr>
          <p:cNvPr name="TextBox 22" id="22"/>
          <p:cNvSpPr txBox="true"/>
          <p:nvPr/>
        </p:nvSpPr>
        <p:spPr>
          <a:xfrm rot="0">
            <a:off x="16688319" y="4757096"/>
            <a:ext cx="305276" cy="696609"/>
          </a:xfrm>
          <a:prstGeom prst="rect">
            <a:avLst/>
          </a:prstGeom>
        </p:spPr>
        <p:txBody>
          <a:bodyPr anchor="t" rtlCol="false" tIns="0" lIns="0" bIns="0" rIns="0">
            <a:spAutoFit/>
          </a:bodyPr>
          <a:lstStyle/>
          <a:p>
            <a:pPr algn="ctr">
              <a:lnSpc>
                <a:spcPts val="5704"/>
              </a:lnSpc>
              <a:spcBef>
                <a:spcPct val="0"/>
              </a:spcBef>
            </a:pPr>
            <a:r>
              <a:rPr lang="en-US" b="true" sz="4074">
                <a:solidFill>
                  <a:srgbClr val="000000"/>
                </a:solidFill>
                <a:latin typeface="Montserrat Bold"/>
                <a:ea typeface="Montserrat Bold"/>
                <a:cs typeface="Montserrat Bold"/>
                <a:sym typeface="Montserrat Bold"/>
              </a:rPr>
              <a:t>2</a:t>
            </a:r>
          </a:p>
        </p:txBody>
      </p:sp>
      <p:sp>
        <p:nvSpPr>
          <p:cNvPr name="Freeform 23" id="23"/>
          <p:cNvSpPr/>
          <p:nvPr/>
        </p:nvSpPr>
        <p:spPr>
          <a:xfrm flipH="false" flipV="false" rot="0">
            <a:off x="4986943" y="7867758"/>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2546612" y="7867758"/>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2382394" y="7505469"/>
            <a:ext cx="511605" cy="508913"/>
          </a:xfrm>
          <a:custGeom>
            <a:avLst/>
            <a:gdLst/>
            <a:ahLst/>
            <a:cxnLst/>
            <a:rect r="r" b="b" t="t" l="l"/>
            <a:pathLst>
              <a:path h="508913" w="511605">
                <a:moveTo>
                  <a:pt x="0" y="0"/>
                </a:moveTo>
                <a:lnTo>
                  <a:pt x="511605" y="0"/>
                </a:lnTo>
                <a:lnTo>
                  <a:pt x="511605" y="508914"/>
                </a:lnTo>
                <a:lnTo>
                  <a:pt x="0" y="508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5264540" y="8268839"/>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0">
            <a:off x="4731140" y="7505469"/>
            <a:ext cx="511605" cy="508913"/>
          </a:xfrm>
          <a:custGeom>
            <a:avLst/>
            <a:gdLst/>
            <a:ahLst/>
            <a:cxnLst/>
            <a:rect r="r" b="b" t="t" l="l"/>
            <a:pathLst>
              <a:path h="508913" w="511605">
                <a:moveTo>
                  <a:pt x="0" y="0"/>
                </a:moveTo>
                <a:lnTo>
                  <a:pt x="511605" y="0"/>
                </a:lnTo>
                <a:lnTo>
                  <a:pt x="511605" y="508914"/>
                </a:lnTo>
                <a:lnTo>
                  <a:pt x="0" y="508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8" id="28"/>
          <p:cNvSpPr txBox="true"/>
          <p:nvPr/>
        </p:nvSpPr>
        <p:spPr>
          <a:xfrm rot="0">
            <a:off x="1501813" y="6893826"/>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29" id="29"/>
          <p:cNvSpPr txBox="true"/>
          <p:nvPr/>
        </p:nvSpPr>
        <p:spPr>
          <a:xfrm rot="0">
            <a:off x="3974450" y="6893826"/>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30" id="30"/>
          <p:cNvSpPr txBox="true"/>
          <p:nvPr/>
        </p:nvSpPr>
        <p:spPr>
          <a:xfrm rot="0">
            <a:off x="1496931" y="8927453"/>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31" id="31"/>
          <p:cNvSpPr txBox="true"/>
          <p:nvPr/>
        </p:nvSpPr>
        <p:spPr>
          <a:xfrm rot="0">
            <a:off x="3949626" y="8927453"/>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
        <p:nvSpPr>
          <p:cNvPr name="Freeform 32" id="32"/>
          <p:cNvSpPr/>
          <p:nvPr/>
        </p:nvSpPr>
        <p:spPr>
          <a:xfrm flipH="false" flipV="false" rot="0">
            <a:off x="8649203" y="7385947"/>
            <a:ext cx="1215724" cy="1311075"/>
          </a:xfrm>
          <a:custGeom>
            <a:avLst/>
            <a:gdLst/>
            <a:ahLst/>
            <a:cxnLst/>
            <a:rect r="r" b="b" t="t" l="l"/>
            <a:pathLst>
              <a:path h="1311075" w="1215724">
                <a:moveTo>
                  <a:pt x="0" y="0"/>
                </a:moveTo>
                <a:lnTo>
                  <a:pt x="1215723" y="0"/>
                </a:lnTo>
                <a:lnTo>
                  <a:pt x="1215723" y="1311074"/>
                </a:lnTo>
                <a:lnTo>
                  <a:pt x="0" y="13110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6162486" y="7385947"/>
            <a:ext cx="1243882" cy="1311075"/>
          </a:xfrm>
          <a:custGeom>
            <a:avLst/>
            <a:gdLst/>
            <a:ahLst/>
            <a:cxnLst/>
            <a:rect r="r" b="b" t="t" l="l"/>
            <a:pathLst>
              <a:path h="1311075" w="1243882">
                <a:moveTo>
                  <a:pt x="0" y="0"/>
                </a:moveTo>
                <a:lnTo>
                  <a:pt x="1243882" y="0"/>
                </a:lnTo>
                <a:lnTo>
                  <a:pt x="1243882" y="1311074"/>
                </a:lnTo>
                <a:lnTo>
                  <a:pt x="0" y="1311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false" flipV="false" rot="0">
            <a:off x="7936200" y="8188108"/>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5" id="35"/>
          <p:cNvSpPr/>
          <p:nvPr/>
        </p:nvSpPr>
        <p:spPr>
          <a:xfrm flipH="false" flipV="false" rot="0">
            <a:off x="10120729" y="7787028"/>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6" id="36"/>
          <p:cNvSpPr/>
          <p:nvPr/>
        </p:nvSpPr>
        <p:spPr>
          <a:xfrm flipH="false" flipV="false" rot="0">
            <a:off x="7680398" y="7787028"/>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7516181" y="7424739"/>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10398326" y="8188108"/>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9" id="39"/>
          <p:cNvSpPr/>
          <p:nvPr/>
        </p:nvSpPr>
        <p:spPr>
          <a:xfrm flipH="false" flipV="false" rot="0">
            <a:off x="9864926" y="7424739"/>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0" id="40"/>
          <p:cNvSpPr txBox="true"/>
          <p:nvPr/>
        </p:nvSpPr>
        <p:spPr>
          <a:xfrm rot="0">
            <a:off x="6635599" y="6813096"/>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41" id="41"/>
          <p:cNvSpPr txBox="true"/>
          <p:nvPr/>
        </p:nvSpPr>
        <p:spPr>
          <a:xfrm rot="0">
            <a:off x="9108236" y="6813096"/>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42" id="42"/>
          <p:cNvSpPr txBox="true"/>
          <p:nvPr/>
        </p:nvSpPr>
        <p:spPr>
          <a:xfrm rot="0">
            <a:off x="6630718" y="8846722"/>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43" id="43"/>
          <p:cNvSpPr txBox="true"/>
          <p:nvPr/>
        </p:nvSpPr>
        <p:spPr>
          <a:xfrm rot="0">
            <a:off x="9083412" y="8846722"/>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
        <p:nvSpPr>
          <p:cNvPr name="Freeform 44" id="44"/>
          <p:cNvSpPr/>
          <p:nvPr/>
        </p:nvSpPr>
        <p:spPr>
          <a:xfrm flipH="false" flipV="false" rot="0">
            <a:off x="13779593" y="7413049"/>
            <a:ext cx="1215724" cy="1311075"/>
          </a:xfrm>
          <a:custGeom>
            <a:avLst/>
            <a:gdLst/>
            <a:ahLst/>
            <a:cxnLst/>
            <a:rect r="r" b="b" t="t" l="l"/>
            <a:pathLst>
              <a:path h="1311075" w="1215724">
                <a:moveTo>
                  <a:pt x="0" y="0"/>
                </a:moveTo>
                <a:lnTo>
                  <a:pt x="1215723" y="0"/>
                </a:lnTo>
                <a:lnTo>
                  <a:pt x="1215723" y="1311074"/>
                </a:lnTo>
                <a:lnTo>
                  <a:pt x="0" y="13110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5" id="45"/>
          <p:cNvSpPr/>
          <p:nvPr/>
        </p:nvSpPr>
        <p:spPr>
          <a:xfrm flipH="false" flipV="false" rot="0">
            <a:off x="11292876" y="7413049"/>
            <a:ext cx="1243882" cy="1311075"/>
          </a:xfrm>
          <a:custGeom>
            <a:avLst/>
            <a:gdLst/>
            <a:ahLst/>
            <a:cxnLst/>
            <a:rect r="r" b="b" t="t" l="l"/>
            <a:pathLst>
              <a:path h="1311075" w="1243882">
                <a:moveTo>
                  <a:pt x="0" y="0"/>
                </a:moveTo>
                <a:lnTo>
                  <a:pt x="1243882" y="0"/>
                </a:lnTo>
                <a:lnTo>
                  <a:pt x="1243882" y="1311074"/>
                </a:lnTo>
                <a:lnTo>
                  <a:pt x="0" y="1311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6" id="46"/>
          <p:cNvSpPr/>
          <p:nvPr/>
        </p:nvSpPr>
        <p:spPr>
          <a:xfrm flipH="false" flipV="false" rot="0">
            <a:off x="13066590" y="821521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7" id="47"/>
          <p:cNvSpPr/>
          <p:nvPr/>
        </p:nvSpPr>
        <p:spPr>
          <a:xfrm flipH="false" flipV="false" rot="0">
            <a:off x="15251119" y="7814129"/>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8" id="48"/>
          <p:cNvSpPr/>
          <p:nvPr/>
        </p:nvSpPr>
        <p:spPr>
          <a:xfrm flipH="false" flipV="false" rot="0">
            <a:off x="12810788" y="7814129"/>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9" id="49"/>
          <p:cNvSpPr/>
          <p:nvPr/>
        </p:nvSpPr>
        <p:spPr>
          <a:xfrm flipH="false" flipV="false" rot="0">
            <a:off x="12646571" y="7451840"/>
            <a:ext cx="511605" cy="508913"/>
          </a:xfrm>
          <a:custGeom>
            <a:avLst/>
            <a:gdLst/>
            <a:ahLst/>
            <a:cxnLst/>
            <a:rect r="r" b="b" t="t" l="l"/>
            <a:pathLst>
              <a:path h="508913" w="511605">
                <a:moveTo>
                  <a:pt x="0" y="0"/>
                </a:moveTo>
                <a:lnTo>
                  <a:pt x="511604" y="0"/>
                </a:lnTo>
                <a:lnTo>
                  <a:pt x="511604" y="508914"/>
                </a:lnTo>
                <a:lnTo>
                  <a:pt x="0" y="508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0" id="50"/>
          <p:cNvSpPr/>
          <p:nvPr/>
        </p:nvSpPr>
        <p:spPr>
          <a:xfrm flipH="false" flipV="false" rot="0">
            <a:off x="15528716" y="821521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1" id="51"/>
          <p:cNvSpPr/>
          <p:nvPr/>
        </p:nvSpPr>
        <p:spPr>
          <a:xfrm flipH="false" flipV="false" rot="0">
            <a:off x="14995316" y="7451840"/>
            <a:ext cx="511605" cy="508913"/>
          </a:xfrm>
          <a:custGeom>
            <a:avLst/>
            <a:gdLst/>
            <a:ahLst/>
            <a:cxnLst/>
            <a:rect r="r" b="b" t="t" l="l"/>
            <a:pathLst>
              <a:path h="508913" w="511605">
                <a:moveTo>
                  <a:pt x="0" y="0"/>
                </a:moveTo>
                <a:lnTo>
                  <a:pt x="511605" y="0"/>
                </a:lnTo>
                <a:lnTo>
                  <a:pt x="511605" y="508914"/>
                </a:lnTo>
                <a:lnTo>
                  <a:pt x="0" y="508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52" id="52"/>
          <p:cNvSpPr txBox="true"/>
          <p:nvPr/>
        </p:nvSpPr>
        <p:spPr>
          <a:xfrm rot="0">
            <a:off x="11765989" y="6840197"/>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53" id="53"/>
          <p:cNvSpPr txBox="true"/>
          <p:nvPr/>
        </p:nvSpPr>
        <p:spPr>
          <a:xfrm rot="0">
            <a:off x="14238626" y="6840197"/>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54" id="54"/>
          <p:cNvSpPr txBox="true"/>
          <p:nvPr/>
        </p:nvSpPr>
        <p:spPr>
          <a:xfrm rot="0">
            <a:off x="11761107" y="8873824"/>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55" id="55"/>
          <p:cNvSpPr txBox="true"/>
          <p:nvPr/>
        </p:nvSpPr>
        <p:spPr>
          <a:xfrm rot="0">
            <a:off x="14213802" y="8873824"/>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
        <p:nvSpPr>
          <p:cNvPr name="Freeform 56" id="56"/>
          <p:cNvSpPr/>
          <p:nvPr/>
        </p:nvSpPr>
        <p:spPr>
          <a:xfrm flipH="false" flipV="false" rot="0">
            <a:off x="3515416" y="4653190"/>
            <a:ext cx="1215724" cy="1311075"/>
          </a:xfrm>
          <a:custGeom>
            <a:avLst/>
            <a:gdLst/>
            <a:ahLst/>
            <a:cxnLst/>
            <a:rect r="r" b="b" t="t" l="l"/>
            <a:pathLst>
              <a:path h="1311075" w="1215724">
                <a:moveTo>
                  <a:pt x="0" y="0"/>
                </a:moveTo>
                <a:lnTo>
                  <a:pt x="1215724" y="0"/>
                </a:lnTo>
                <a:lnTo>
                  <a:pt x="1215724" y="1311075"/>
                </a:lnTo>
                <a:lnTo>
                  <a:pt x="0" y="1311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7" id="57"/>
          <p:cNvSpPr/>
          <p:nvPr/>
        </p:nvSpPr>
        <p:spPr>
          <a:xfrm flipH="false" flipV="false" rot="0">
            <a:off x="1028700" y="4653190"/>
            <a:ext cx="1243882" cy="1311075"/>
          </a:xfrm>
          <a:custGeom>
            <a:avLst/>
            <a:gdLst/>
            <a:ahLst/>
            <a:cxnLst/>
            <a:rect r="r" b="b" t="t" l="l"/>
            <a:pathLst>
              <a:path h="1311075" w="1243882">
                <a:moveTo>
                  <a:pt x="0" y="0"/>
                </a:moveTo>
                <a:lnTo>
                  <a:pt x="1243882" y="0"/>
                </a:lnTo>
                <a:lnTo>
                  <a:pt x="1243882" y="1311075"/>
                </a:lnTo>
                <a:lnTo>
                  <a:pt x="0" y="1311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8" id="58"/>
          <p:cNvSpPr/>
          <p:nvPr/>
        </p:nvSpPr>
        <p:spPr>
          <a:xfrm flipH="false" flipV="false" rot="0">
            <a:off x="2802414" y="5455352"/>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9" id="59"/>
          <p:cNvSpPr/>
          <p:nvPr/>
        </p:nvSpPr>
        <p:spPr>
          <a:xfrm flipH="false" flipV="false" rot="0">
            <a:off x="4986943" y="5054271"/>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0" id="60"/>
          <p:cNvSpPr/>
          <p:nvPr/>
        </p:nvSpPr>
        <p:spPr>
          <a:xfrm flipH="false" flipV="false" rot="0">
            <a:off x="2546612" y="5054271"/>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1" id="61"/>
          <p:cNvSpPr/>
          <p:nvPr/>
        </p:nvSpPr>
        <p:spPr>
          <a:xfrm flipH="false" flipV="false" rot="0">
            <a:off x="2382394" y="4691982"/>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2" id="62"/>
          <p:cNvSpPr/>
          <p:nvPr/>
        </p:nvSpPr>
        <p:spPr>
          <a:xfrm flipH="false" flipV="false" rot="0">
            <a:off x="5264540" y="5455352"/>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3" id="63"/>
          <p:cNvSpPr/>
          <p:nvPr/>
        </p:nvSpPr>
        <p:spPr>
          <a:xfrm flipH="false" flipV="false" rot="0">
            <a:off x="4731140" y="4691982"/>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4" id="64"/>
          <p:cNvSpPr txBox="true"/>
          <p:nvPr/>
        </p:nvSpPr>
        <p:spPr>
          <a:xfrm rot="0">
            <a:off x="1501813" y="4080339"/>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65" id="65"/>
          <p:cNvSpPr txBox="true"/>
          <p:nvPr/>
        </p:nvSpPr>
        <p:spPr>
          <a:xfrm rot="0">
            <a:off x="3974450" y="4080339"/>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66" id="66"/>
          <p:cNvSpPr txBox="true"/>
          <p:nvPr/>
        </p:nvSpPr>
        <p:spPr>
          <a:xfrm rot="0">
            <a:off x="1496931" y="6113965"/>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67" id="67"/>
          <p:cNvSpPr txBox="true"/>
          <p:nvPr/>
        </p:nvSpPr>
        <p:spPr>
          <a:xfrm rot="0">
            <a:off x="3949626" y="6113965"/>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
        <p:nvSpPr>
          <p:cNvPr name="Freeform 68" id="68"/>
          <p:cNvSpPr/>
          <p:nvPr/>
        </p:nvSpPr>
        <p:spPr>
          <a:xfrm flipH="false" flipV="false" rot="0">
            <a:off x="3515416" y="1735348"/>
            <a:ext cx="1215724" cy="1311075"/>
          </a:xfrm>
          <a:custGeom>
            <a:avLst/>
            <a:gdLst/>
            <a:ahLst/>
            <a:cxnLst/>
            <a:rect r="r" b="b" t="t" l="l"/>
            <a:pathLst>
              <a:path h="1311075" w="1215724">
                <a:moveTo>
                  <a:pt x="0" y="0"/>
                </a:moveTo>
                <a:lnTo>
                  <a:pt x="1215724" y="0"/>
                </a:lnTo>
                <a:lnTo>
                  <a:pt x="1215724" y="1311075"/>
                </a:lnTo>
                <a:lnTo>
                  <a:pt x="0" y="1311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9" id="69"/>
          <p:cNvSpPr/>
          <p:nvPr/>
        </p:nvSpPr>
        <p:spPr>
          <a:xfrm flipH="false" flipV="false" rot="0">
            <a:off x="1028700" y="1735348"/>
            <a:ext cx="1243882" cy="1311075"/>
          </a:xfrm>
          <a:custGeom>
            <a:avLst/>
            <a:gdLst/>
            <a:ahLst/>
            <a:cxnLst/>
            <a:rect r="r" b="b" t="t" l="l"/>
            <a:pathLst>
              <a:path h="1311075" w="1243882">
                <a:moveTo>
                  <a:pt x="0" y="0"/>
                </a:moveTo>
                <a:lnTo>
                  <a:pt x="1243882" y="0"/>
                </a:lnTo>
                <a:lnTo>
                  <a:pt x="1243882" y="1311075"/>
                </a:lnTo>
                <a:lnTo>
                  <a:pt x="0" y="1311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0" id="70"/>
          <p:cNvSpPr/>
          <p:nvPr/>
        </p:nvSpPr>
        <p:spPr>
          <a:xfrm flipH="false" flipV="false" rot="0">
            <a:off x="2802414" y="253751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1" id="71"/>
          <p:cNvSpPr/>
          <p:nvPr/>
        </p:nvSpPr>
        <p:spPr>
          <a:xfrm flipH="false" flipV="false" rot="0">
            <a:off x="4986943" y="2136429"/>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2" id="72"/>
          <p:cNvSpPr/>
          <p:nvPr/>
        </p:nvSpPr>
        <p:spPr>
          <a:xfrm flipH="false" flipV="false" rot="0">
            <a:off x="2546612" y="2136429"/>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3" id="73"/>
          <p:cNvSpPr/>
          <p:nvPr/>
        </p:nvSpPr>
        <p:spPr>
          <a:xfrm flipH="false" flipV="false" rot="0">
            <a:off x="2382394" y="177414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4" id="74"/>
          <p:cNvSpPr/>
          <p:nvPr/>
        </p:nvSpPr>
        <p:spPr>
          <a:xfrm flipH="false" flipV="false" rot="0">
            <a:off x="5264540" y="253751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5" id="75"/>
          <p:cNvSpPr/>
          <p:nvPr/>
        </p:nvSpPr>
        <p:spPr>
          <a:xfrm flipH="false" flipV="false" rot="0">
            <a:off x="4731140" y="177414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6" id="76"/>
          <p:cNvSpPr txBox="true"/>
          <p:nvPr/>
        </p:nvSpPr>
        <p:spPr>
          <a:xfrm rot="0">
            <a:off x="1501813" y="1162497"/>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77" id="77"/>
          <p:cNvSpPr txBox="true"/>
          <p:nvPr/>
        </p:nvSpPr>
        <p:spPr>
          <a:xfrm rot="0">
            <a:off x="3974450" y="1162497"/>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78" id="78"/>
          <p:cNvSpPr txBox="true"/>
          <p:nvPr/>
        </p:nvSpPr>
        <p:spPr>
          <a:xfrm rot="0">
            <a:off x="1496931" y="3196123"/>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79" id="79"/>
          <p:cNvSpPr txBox="true"/>
          <p:nvPr/>
        </p:nvSpPr>
        <p:spPr>
          <a:xfrm rot="0">
            <a:off x="3949626" y="3196123"/>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
        <p:nvSpPr>
          <p:cNvPr name="Freeform 80" id="80"/>
          <p:cNvSpPr/>
          <p:nvPr/>
        </p:nvSpPr>
        <p:spPr>
          <a:xfrm flipH="false" flipV="false" rot="0">
            <a:off x="8560799" y="4586515"/>
            <a:ext cx="1215724" cy="1311075"/>
          </a:xfrm>
          <a:custGeom>
            <a:avLst/>
            <a:gdLst/>
            <a:ahLst/>
            <a:cxnLst/>
            <a:rect r="r" b="b" t="t" l="l"/>
            <a:pathLst>
              <a:path h="1311075" w="1215724">
                <a:moveTo>
                  <a:pt x="0" y="0"/>
                </a:moveTo>
                <a:lnTo>
                  <a:pt x="1215724" y="0"/>
                </a:lnTo>
                <a:lnTo>
                  <a:pt x="1215724" y="1311075"/>
                </a:lnTo>
                <a:lnTo>
                  <a:pt x="0" y="1311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1" id="81"/>
          <p:cNvSpPr/>
          <p:nvPr/>
        </p:nvSpPr>
        <p:spPr>
          <a:xfrm flipH="false" flipV="false" rot="0">
            <a:off x="6074083" y="4586515"/>
            <a:ext cx="1243882" cy="1311075"/>
          </a:xfrm>
          <a:custGeom>
            <a:avLst/>
            <a:gdLst/>
            <a:ahLst/>
            <a:cxnLst/>
            <a:rect r="r" b="b" t="t" l="l"/>
            <a:pathLst>
              <a:path h="1311075" w="1243882">
                <a:moveTo>
                  <a:pt x="0" y="0"/>
                </a:moveTo>
                <a:lnTo>
                  <a:pt x="1243882" y="0"/>
                </a:lnTo>
                <a:lnTo>
                  <a:pt x="1243882" y="1311075"/>
                </a:lnTo>
                <a:lnTo>
                  <a:pt x="0" y="1311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2" id="82"/>
          <p:cNvSpPr/>
          <p:nvPr/>
        </p:nvSpPr>
        <p:spPr>
          <a:xfrm flipH="false" flipV="false" rot="0">
            <a:off x="7847797" y="5388677"/>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3" id="83"/>
          <p:cNvSpPr/>
          <p:nvPr/>
        </p:nvSpPr>
        <p:spPr>
          <a:xfrm flipH="false" flipV="false" rot="0">
            <a:off x="10032325" y="4987596"/>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4" id="84"/>
          <p:cNvSpPr/>
          <p:nvPr/>
        </p:nvSpPr>
        <p:spPr>
          <a:xfrm flipH="false" flipV="false" rot="0">
            <a:off x="7591994" y="4987596"/>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5" id="85"/>
          <p:cNvSpPr/>
          <p:nvPr/>
        </p:nvSpPr>
        <p:spPr>
          <a:xfrm flipH="false" flipV="false" rot="0">
            <a:off x="7427777" y="4625307"/>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6" id="86"/>
          <p:cNvSpPr/>
          <p:nvPr/>
        </p:nvSpPr>
        <p:spPr>
          <a:xfrm flipH="false" flipV="false" rot="0">
            <a:off x="10309923" y="5388677"/>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7" id="87"/>
          <p:cNvSpPr/>
          <p:nvPr/>
        </p:nvSpPr>
        <p:spPr>
          <a:xfrm flipH="false" flipV="false" rot="0">
            <a:off x="9776523" y="4625307"/>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8" id="88"/>
          <p:cNvSpPr txBox="true"/>
          <p:nvPr/>
        </p:nvSpPr>
        <p:spPr>
          <a:xfrm rot="0">
            <a:off x="6547196" y="4013664"/>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89" id="89"/>
          <p:cNvSpPr txBox="true"/>
          <p:nvPr/>
        </p:nvSpPr>
        <p:spPr>
          <a:xfrm rot="0">
            <a:off x="9019833" y="4013664"/>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90" id="90"/>
          <p:cNvSpPr txBox="true"/>
          <p:nvPr/>
        </p:nvSpPr>
        <p:spPr>
          <a:xfrm rot="0">
            <a:off x="6542314" y="6047290"/>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91" id="91"/>
          <p:cNvSpPr txBox="true"/>
          <p:nvPr/>
        </p:nvSpPr>
        <p:spPr>
          <a:xfrm rot="0">
            <a:off x="8995008" y="6047290"/>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
        <p:nvSpPr>
          <p:cNvPr name="Freeform 92" id="92"/>
          <p:cNvSpPr/>
          <p:nvPr/>
        </p:nvSpPr>
        <p:spPr>
          <a:xfrm flipH="false" flipV="false" rot="0">
            <a:off x="8673793" y="1687723"/>
            <a:ext cx="1215724" cy="1311075"/>
          </a:xfrm>
          <a:custGeom>
            <a:avLst/>
            <a:gdLst/>
            <a:ahLst/>
            <a:cxnLst/>
            <a:rect r="r" b="b" t="t" l="l"/>
            <a:pathLst>
              <a:path h="1311075" w="1215724">
                <a:moveTo>
                  <a:pt x="0" y="0"/>
                </a:moveTo>
                <a:lnTo>
                  <a:pt x="1215724" y="0"/>
                </a:lnTo>
                <a:lnTo>
                  <a:pt x="1215724" y="1311075"/>
                </a:lnTo>
                <a:lnTo>
                  <a:pt x="0" y="1311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3" id="93"/>
          <p:cNvSpPr/>
          <p:nvPr/>
        </p:nvSpPr>
        <p:spPr>
          <a:xfrm flipH="false" flipV="false" rot="0">
            <a:off x="6187077" y="1687723"/>
            <a:ext cx="1243882" cy="1311075"/>
          </a:xfrm>
          <a:custGeom>
            <a:avLst/>
            <a:gdLst/>
            <a:ahLst/>
            <a:cxnLst/>
            <a:rect r="r" b="b" t="t" l="l"/>
            <a:pathLst>
              <a:path h="1311075" w="1243882">
                <a:moveTo>
                  <a:pt x="0" y="0"/>
                </a:moveTo>
                <a:lnTo>
                  <a:pt x="1243882" y="0"/>
                </a:lnTo>
                <a:lnTo>
                  <a:pt x="1243882" y="1311075"/>
                </a:lnTo>
                <a:lnTo>
                  <a:pt x="0" y="1311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4" id="94"/>
          <p:cNvSpPr/>
          <p:nvPr/>
        </p:nvSpPr>
        <p:spPr>
          <a:xfrm flipH="false" flipV="false" rot="0">
            <a:off x="7960791" y="2489885"/>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5" id="95"/>
          <p:cNvSpPr/>
          <p:nvPr/>
        </p:nvSpPr>
        <p:spPr>
          <a:xfrm flipH="false" flipV="false" rot="0">
            <a:off x="10145319" y="2088804"/>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6" id="96"/>
          <p:cNvSpPr/>
          <p:nvPr/>
        </p:nvSpPr>
        <p:spPr>
          <a:xfrm flipH="false" flipV="false" rot="0">
            <a:off x="7704988" y="2088804"/>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7" id="97"/>
          <p:cNvSpPr/>
          <p:nvPr/>
        </p:nvSpPr>
        <p:spPr>
          <a:xfrm flipH="false" flipV="false" rot="0">
            <a:off x="7540771" y="1726515"/>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8" id="98"/>
          <p:cNvSpPr/>
          <p:nvPr/>
        </p:nvSpPr>
        <p:spPr>
          <a:xfrm flipH="false" flipV="false" rot="0">
            <a:off x="10422917" y="2489885"/>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9" id="99"/>
          <p:cNvSpPr/>
          <p:nvPr/>
        </p:nvSpPr>
        <p:spPr>
          <a:xfrm flipH="false" flipV="false" rot="0">
            <a:off x="9889517" y="1726515"/>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0" id="100"/>
          <p:cNvSpPr txBox="true"/>
          <p:nvPr/>
        </p:nvSpPr>
        <p:spPr>
          <a:xfrm rot="0">
            <a:off x="6660190" y="1114872"/>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101" id="101"/>
          <p:cNvSpPr txBox="true"/>
          <p:nvPr/>
        </p:nvSpPr>
        <p:spPr>
          <a:xfrm rot="0">
            <a:off x="9132827" y="1114872"/>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102" id="102"/>
          <p:cNvSpPr txBox="true"/>
          <p:nvPr/>
        </p:nvSpPr>
        <p:spPr>
          <a:xfrm rot="0">
            <a:off x="6655308" y="3148498"/>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103" id="103"/>
          <p:cNvSpPr txBox="true"/>
          <p:nvPr/>
        </p:nvSpPr>
        <p:spPr>
          <a:xfrm rot="0">
            <a:off x="9108002" y="3148498"/>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
        <p:nvSpPr>
          <p:cNvPr name="Freeform 104" id="104"/>
          <p:cNvSpPr/>
          <p:nvPr/>
        </p:nvSpPr>
        <p:spPr>
          <a:xfrm flipH="false" flipV="false" rot="0">
            <a:off x="13779593" y="4586515"/>
            <a:ext cx="1215724" cy="1311075"/>
          </a:xfrm>
          <a:custGeom>
            <a:avLst/>
            <a:gdLst/>
            <a:ahLst/>
            <a:cxnLst/>
            <a:rect r="r" b="b" t="t" l="l"/>
            <a:pathLst>
              <a:path h="1311075" w="1215724">
                <a:moveTo>
                  <a:pt x="0" y="0"/>
                </a:moveTo>
                <a:lnTo>
                  <a:pt x="1215723" y="0"/>
                </a:lnTo>
                <a:lnTo>
                  <a:pt x="1215723" y="1311075"/>
                </a:lnTo>
                <a:lnTo>
                  <a:pt x="0" y="1311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5" id="105"/>
          <p:cNvSpPr/>
          <p:nvPr/>
        </p:nvSpPr>
        <p:spPr>
          <a:xfrm flipH="false" flipV="false" rot="0">
            <a:off x="11292876" y="4586515"/>
            <a:ext cx="1243882" cy="1311075"/>
          </a:xfrm>
          <a:custGeom>
            <a:avLst/>
            <a:gdLst/>
            <a:ahLst/>
            <a:cxnLst/>
            <a:rect r="r" b="b" t="t" l="l"/>
            <a:pathLst>
              <a:path h="1311075" w="1243882">
                <a:moveTo>
                  <a:pt x="0" y="0"/>
                </a:moveTo>
                <a:lnTo>
                  <a:pt x="1243882" y="0"/>
                </a:lnTo>
                <a:lnTo>
                  <a:pt x="1243882" y="1311075"/>
                </a:lnTo>
                <a:lnTo>
                  <a:pt x="0" y="1311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6" id="106"/>
          <p:cNvSpPr/>
          <p:nvPr/>
        </p:nvSpPr>
        <p:spPr>
          <a:xfrm flipH="false" flipV="false" rot="0">
            <a:off x="13066590" y="5388677"/>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7" id="107"/>
          <p:cNvSpPr/>
          <p:nvPr/>
        </p:nvSpPr>
        <p:spPr>
          <a:xfrm flipH="false" flipV="false" rot="0">
            <a:off x="15251119" y="4987596"/>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8" id="108"/>
          <p:cNvSpPr/>
          <p:nvPr/>
        </p:nvSpPr>
        <p:spPr>
          <a:xfrm flipH="false" flipV="false" rot="0">
            <a:off x="12810788" y="4987596"/>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9" id="109"/>
          <p:cNvSpPr/>
          <p:nvPr/>
        </p:nvSpPr>
        <p:spPr>
          <a:xfrm flipH="false" flipV="false" rot="0">
            <a:off x="12646571" y="4625307"/>
            <a:ext cx="511605" cy="508913"/>
          </a:xfrm>
          <a:custGeom>
            <a:avLst/>
            <a:gdLst/>
            <a:ahLst/>
            <a:cxnLst/>
            <a:rect r="r" b="b" t="t" l="l"/>
            <a:pathLst>
              <a:path h="508913" w="511605">
                <a:moveTo>
                  <a:pt x="0" y="0"/>
                </a:moveTo>
                <a:lnTo>
                  <a:pt x="511604" y="0"/>
                </a:lnTo>
                <a:lnTo>
                  <a:pt x="511604"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0" id="110"/>
          <p:cNvSpPr/>
          <p:nvPr/>
        </p:nvSpPr>
        <p:spPr>
          <a:xfrm flipH="false" flipV="false" rot="0">
            <a:off x="15528716" y="5388677"/>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1" id="111"/>
          <p:cNvSpPr/>
          <p:nvPr/>
        </p:nvSpPr>
        <p:spPr>
          <a:xfrm flipH="false" flipV="false" rot="0">
            <a:off x="14995316" y="4625307"/>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2" id="112"/>
          <p:cNvSpPr txBox="true"/>
          <p:nvPr/>
        </p:nvSpPr>
        <p:spPr>
          <a:xfrm rot="0">
            <a:off x="11765989" y="4013664"/>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113" id="113"/>
          <p:cNvSpPr txBox="true"/>
          <p:nvPr/>
        </p:nvSpPr>
        <p:spPr>
          <a:xfrm rot="0">
            <a:off x="14238626" y="4013664"/>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114" id="114"/>
          <p:cNvSpPr txBox="true"/>
          <p:nvPr/>
        </p:nvSpPr>
        <p:spPr>
          <a:xfrm rot="0">
            <a:off x="11761107" y="6047290"/>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115" id="115"/>
          <p:cNvSpPr txBox="true"/>
          <p:nvPr/>
        </p:nvSpPr>
        <p:spPr>
          <a:xfrm rot="0">
            <a:off x="14213802" y="6047290"/>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
        <p:nvSpPr>
          <p:cNvPr name="Freeform 116" id="116"/>
          <p:cNvSpPr/>
          <p:nvPr/>
        </p:nvSpPr>
        <p:spPr>
          <a:xfrm flipH="false" flipV="false" rot="0">
            <a:off x="13784117" y="1735348"/>
            <a:ext cx="1215724" cy="1311075"/>
          </a:xfrm>
          <a:custGeom>
            <a:avLst/>
            <a:gdLst/>
            <a:ahLst/>
            <a:cxnLst/>
            <a:rect r="r" b="b" t="t" l="l"/>
            <a:pathLst>
              <a:path h="1311075" w="1215724">
                <a:moveTo>
                  <a:pt x="0" y="0"/>
                </a:moveTo>
                <a:lnTo>
                  <a:pt x="1215724" y="0"/>
                </a:lnTo>
                <a:lnTo>
                  <a:pt x="1215724" y="1311075"/>
                </a:lnTo>
                <a:lnTo>
                  <a:pt x="0" y="13110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7" id="117"/>
          <p:cNvSpPr/>
          <p:nvPr/>
        </p:nvSpPr>
        <p:spPr>
          <a:xfrm flipH="false" flipV="false" rot="0">
            <a:off x="11297401" y="1735348"/>
            <a:ext cx="1243882" cy="1311075"/>
          </a:xfrm>
          <a:custGeom>
            <a:avLst/>
            <a:gdLst/>
            <a:ahLst/>
            <a:cxnLst/>
            <a:rect r="r" b="b" t="t" l="l"/>
            <a:pathLst>
              <a:path h="1311075" w="1243882">
                <a:moveTo>
                  <a:pt x="0" y="0"/>
                </a:moveTo>
                <a:lnTo>
                  <a:pt x="1243882" y="0"/>
                </a:lnTo>
                <a:lnTo>
                  <a:pt x="1243882" y="1311075"/>
                </a:lnTo>
                <a:lnTo>
                  <a:pt x="0" y="13110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8" id="118"/>
          <p:cNvSpPr/>
          <p:nvPr/>
        </p:nvSpPr>
        <p:spPr>
          <a:xfrm flipH="false" flipV="false" rot="0">
            <a:off x="13071115" y="253751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9" id="119"/>
          <p:cNvSpPr/>
          <p:nvPr/>
        </p:nvSpPr>
        <p:spPr>
          <a:xfrm flipH="false" flipV="false" rot="0">
            <a:off x="15255643" y="2136429"/>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0" id="120"/>
          <p:cNvSpPr/>
          <p:nvPr/>
        </p:nvSpPr>
        <p:spPr>
          <a:xfrm flipH="false" flipV="false" rot="0">
            <a:off x="12815312" y="2136429"/>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1" id="121"/>
          <p:cNvSpPr/>
          <p:nvPr/>
        </p:nvSpPr>
        <p:spPr>
          <a:xfrm flipH="false" flipV="false" rot="0">
            <a:off x="12651095" y="177414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2" id="122"/>
          <p:cNvSpPr/>
          <p:nvPr/>
        </p:nvSpPr>
        <p:spPr>
          <a:xfrm flipH="false" flipV="false" rot="0">
            <a:off x="15533241" y="253751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3" id="123"/>
          <p:cNvSpPr/>
          <p:nvPr/>
        </p:nvSpPr>
        <p:spPr>
          <a:xfrm flipH="false" flipV="false" rot="0">
            <a:off x="14999841" y="1774140"/>
            <a:ext cx="511605" cy="508913"/>
          </a:xfrm>
          <a:custGeom>
            <a:avLst/>
            <a:gdLst/>
            <a:ahLst/>
            <a:cxnLst/>
            <a:rect r="r" b="b" t="t" l="l"/>
            <a:pathLst>
              <a:path h="508913" w="511605">
                <a:moveTo>
                  <a:pt x="0" y="0"/>
                </a:moveTo>
                <a:lnTo>
                  <a:pt x="511605" y="0"/>
                </a:lnTo>
                <a:lnTo>
                  <a:pt x="511605" y="508913"/>
                </a:lnTo>
                <a:lnTo>
                  <a:pt x="0" y="5089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4" id="124"/>
          <p:cNvSpPr txBox="true"/>
          <p:nvPr/>
        </p:nvSpPr>
        <p:spPr>
          <a:xfrm rot="0">
            <a:off x="11770514" y="1162497"/>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125" id="125"/>
          <p:cNvSpPr txBox="true"/>
          <p:nvPr/>
        </p:nvSpPr>
        <p:spPr>
          <a:xfrm rot="0">
            <a:off x="14243151" y="1162497"/>
            <a:ext cx="297656"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x3</a:t>
            </a:r>
          </a:p>
        </p:txBody>
      </p:sp>
      <p:sp>
        <p:nvSpPr>
          <p:cNvPr name="TextBox 126" id="126"/>
          <p:cNvSpPr txBox="true"/>
          <p:nvPr/>
        </p:nvSpPr>
        <p:spPr>
          <a:xfrm rot="0">
            <a:off x="11765632" y="3196123"/>
            <a:ext cx="307419"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Q1</a:t>
            </a:r>
          </a:p>
        </p:txBody>
      </p:sp>
      <p:sp>
        <p:nvSpPr>
          <p:cNvPr name="TextBox 127" id="127"/>
          <p:cNvSpPr txBox="true"/>
          <p:nvPr/>
        </p:nvSpPr>
        <p:spPr>
          <a:xfrm rot="0">
            <a:off x="14218326" y="3196123"/>
            <a:ext cx="357068" cy="330847"/>
          </a:xfrm>
          <a:prstGeom prst="rect">
            <a:avLst/>
          </a:prstGeom>
        </p:spPr>
        <p:txBody>
          <a:bodyPr anchor="t" rtlCol="false" tIns="0" lIns="0" bIns="0" rIns="0">
            <a:spAutoFit/>
          </a:bodyPr>
          <a:lstStyle/>
          <a:p>
            <a:pPr algn="ctr">
              <a:lnSpc>
                <a:spcPts val="2764"/>
              </a:lnSpc>
              <a:spcBef>
                <a:spcPct val="0"/>
              </a:spcBef>
            </a:pPr>
            <a:r>
              <a:rPr lang="en-US" b="true" sz="1974">
                <a:solidFill>
                  <a:srgbClr val="000000"/>
                </a:solidFill>
                <a:latin typeface="Montserrat Bold"/>
                <a:ea typeface="Montserrat Bold"/>
                <a:cs typeface="Montserrat Bold"/>
                <a:sym typeface="Montserrat Bold"/>
              </a:rPr>
              <a:t>Q2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1080000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grpSp>
          <p:nvGrpSpPr>
            <p:cNvPr name="Group 12" id="12"/>
            <p:cNvGrpSpPr/>
            <p:nvPr/>
          </p:nvGrpSpPr>
          <p:grpSpPr>
            <a:xfrm rot="0">
              <a:off x="0" y="0"/>
              <a:ext cx="4114800" cy="12827209"/>
              <a:chOff x="0" y="0"/>
              <a:chExt cx="812800" cy="2533770"/>
            </a:xfrm>
          </p:grpSpPr>
          <p:sp>
            <p:nvSpPr>
              <p:cNvPr name="Freeform 13" id="13"/>
              <p:cNvSpPr/>
              <p:nvPr/>
            </p:nvSpPr>
            <p:spPr>
              <a:xfrm flipH="false" flipV="false" rot="0">
                <a:off x="0" y="0"/>
                <a:ext cx="812800" cy="2533770"/>
              </a:xfrm>
              <a:custGeom>
                <a:avLst/>
                <a:gdLst/>
                <a:ahLst/>
                <a:cxnLst/>
                <a:rect r="r" b="b" t="t" l="l"/>
                <a:pathLst>
                  <a:path h="2533770" w="812800">
                    <a:moveTo>
                      <a:pt x="0" y="0"/>
                    </a:moveTo>
                    <a:lnTo>
                      <a:pt x="812800" y="0"/>
                    </a:lnTo>
                    <a:lnTo>
                      <a:pt x="812800" y="2533770"/>
                    </a:lnTo>
                    <a:lnTo>
                      <a:pt x="0" y="2533770"/>
                    </a:lnTo>
                    <a:close/>
                  </a:path>
                </a:pathLst>
              </a:custGeom>
              <a:solidFill>
                <a:srgbClr val="25572A"/>
              </a:solidFill>
            </p:spPr>
          </p:sp>
          <p:sp>
            <p:nvSpPr>
              <p:cNvPr name="TextBox 14" id="14"/>
              <p:cNvSpPr txBox="true"/>
              <p:nvPr/>
            </p:nvSpPr>
            <p:spPr>
              <a:xfrm>
                <a:off x="0" y="-28575"/>
                <a:ext cx="812800" cy="2562345"/>
              </a:xfrm>
              <a:prstGeom prst="rect">
                <a:avLst/>
              </a:prstGeom>
            </p:spPr>
            <p:txBody>
              <a:bodyPr anchor="ctr" rtlCol="false" tIns="50800" lIns="50800" bIns="50800" rIns="50800"/>
              <a:lstStyle/>
              <a:p>
                <a:pPr algn="ctr">
                  <a:lnSpc>
                    <a:spcPts val="2344"/>
                  </a:lnSpc>
                </a:pPr>
              </a:p>
            </p:txBody>
          </p:sp>
        </p:grpSp>
        <p:grpSp>
          <p:nvGrpSpPr>
            <p:cNvPr name="Group 15" id="15"/>
            <p:cNvGrpSpPr/>
            <p:nvPr/>
          </p:nvGrpSpPr>
          <p:grpSpPr>
            <a:xfrm rot="0">
              <a:off x="260545" y="317890"/>
              <a:ext cx="4114800" cy="12139068"/>
              <a:chOff x="0" y="0"/>
              <a:chExt cx="812800" cy="2397841"/>
            </a:xfrm>
          </p:grpSpPr>
          <p:sp>
            <p:nvSpPr>
              <p:cNvPr name="Freeform 16" id="16"/>
              <p:cNvSpPr/>
              <p:nvPr/>
            </p:nvSpPr>
            <p:spPr>
              <a:xfrm flipH="false" flipV="false" rot="0">
                <a:off x="0" y="0"/>
                <a:ext cx="812800" cy="2397841"/>
              </a:xfrm>
              <a:custGeom>
                <a:avLst/>
                <a:gdLst/>
                <a:ahLst/>
                <a:cxnLst/>
                <a:rect r="r" b="b" t="t" l="l"/>
                <a:pathLst>
                  <a:path h="2397841" w="812800">
                    <a:moveTo>
                      <a:pt x="0" y="0"/>
                    </a:moveTo>
                    <a:lnTo>
                      <a:pt x="812800" y="0"/>
                    </a:lnTo>
                    <a:lnTo>
                      <a:pt x="812800" y="2397841"/>
                    </a:lnTo>
                    <a:lnTo>
                      <a:pt x="0" y="2397841"/>
                    </a:lnTo>
                    <a:close/>
                  </a:path>
                </a:pathLst>
              </a:custGeom>
              <a:solidFill>
                <a:srgbClr val="4B714F"/>
              </a:solidFill>
            </p:spPr>
          </p:sp>
          <p:sp>
            <p:nvSpPr>
              <p:cNvPr name="TextBox 17" id="17"/>
              <p:cNvSpPr txBox="true"/>
              <p:nvPr/>
            </p:nvSpPr>
            <p:spPr>
              <a:xfrm>
                <a:off x="0" y="-28575"/>
                <a:ext cx="812800" cy="2426416"/>
              </a:xfrm>
              <a:prstGeom prst="rect">
                <a:avLst/>
              </a:prstGeom>
            </p:spPr>
            <p:txBody>
              <a:bodyPr anchor="ctr" rtlCol="false" tIns="50800" lIns="50800" bIns="50800" rIns="50800"/>
              <a:lstStyle/>
              <a:p>
                <a:pPr algn="ctr">
                  <a:lnSpc>
                    <a:spcPts val="2344"/>
                  </a:lnSpc>
                </a:pPr>
              </a:p>
            </p:txBody>
          </p:sp>
        </p:grpSp>
        <p:grpSp>
          <p:nvGrpSpPr>
            <p:cNvPr name="Group 18" id="18"/>
            <p:cNvGrpSpPr/>
            <p:nvPr/>
          </p:nvGrpSpPr>
          <p:grpSpPr>
            <a:xfrm rot="0">
              <a:off x="607108" y="689043"/>
              <a:ext cx="4172145" cy="11422256"/>
              <a:chOff x="0" y="0"/>
              <a:chExt cx="824127" cy="2256248"/>
            </a:xfrm>
          </p:grpSpPr>
          <p:sp>
            <p:nvSpPr>
              <p:cNvPr name="Freeform 19" id="19"/>
              <p:cNvSpPr/>
              <p:nvPr/>
            </p:nvSpPr>
            <p:spPr>
              <a:xfrm flipH="false" flipV="false" rot="0">
                <a:off x="0" y="0"/>
                <a:ext cx="824127" cy="2256248"/>
              </a:xfrm>
              <a:custGeom>
                <a:avLst/>
                <a:gdLst/>
                <a:ahLst/>
                <a:cxnLst/>
                <a:rect r="r" b="b" t="t" l="l"/>
                <a:pathLst>
                  <a:path h="2256248" w="824127">
                    <a:moveTo>
                      <a:pt x="0" y="0"/>
                    </a:moveTo>
                    <a:lnTo>
                      <a:pt x="824127" y="0"/>
                    </a:lnTo>
                    <a:lnTo>
                      <a:pt x="824127" y="2256248"/>
                    </a:lnTo>
                    <a:lnTo>
                      <a:pt x="0" y="2256248"/>
                    </a:lnTo>
                    <a:close/>
                  </a:path>
                </a:pathLst>
              </a:custGeom>
              <a:solidFill>
                <a:srgbClr val="65976A"/>
              </a:solidFill>
            </p:spPr>
          </p:sp>
          <p:sp>
            <p:nvSpPr>
              <p:cNvPr name="TextBox 20" id="20"/>
              <p:cNvSpPr txBox="true"/>
              <p:nvPr/>
            </p:nvSpPr>
            <p:spPr>
              <a:xfrm>
                <a:off x="0" y="-28575"/>
                <a:ext cx="824127" cy="2284823"/>
              </a:xfrm>
              <a:prstGeom prst="rect">
                <a:avLst/>
              </a:prstGeom>
            </p:spPr>
            <p:txBody>
              <a:bodyPr anchor="ctr" rtlCol="false" tIns="50800" lIns="50800" bIns="50800" rIns="50800"/>
              <a:lstStyle/>
              <a:p>
                <a:pPr algn="ctr">
                  <a:lnSpc>
                    <a:spcPts val="2344"/>
                  </a:lnSpc>
                </a:pPr>
              </a:p>
            </p:txBody>
          </p:sp>
        </p:grpSp>
      </p:grpSp>
      <p:sp>
        <p:nvSpPr>
          <p:cNvPr name="Freeform 21" id="21"/>
          <p:cNvSpPr/>
          <p:nvPr/>
        </p:nvSpPr>
        <p:spPr>
          <a:xfrm flipH="false" flipV="false" rot="0">
            <a:off x="11497003" y="6643195"/>
            <a:ext cx="2615105" cy="2615105"/>
          </a:xfrm>
          <a:custGeom>
            <a:avLst/>
            <a:gdLst/>
            <a:ahLst/>
            <a:cxnLst/>
            <a:rect r="r" b="b" t="t" l="l"/>
            <a:pathLst>
              <a:path h="2615105" w="2615105">
                <a:moveTo>
                  <a:pt x="0" y="0"/>
                </a:moveTo>
                <a:lnTo>
                  <a:pt x="2615106" y="0"/>
                </a:lnTo>
                <a:lnTo>
                  <a:pt x="2615106" y="2615105"/>
                </a:lnTo>
                <a:lnTo>
                  <a:pt x="0" y="2615105"/>
                </a:lnTo>
                <a:lnTo>
                  <a:pt x="0" y="0"/>
                </a:lnTo>
                <a:close/>
              </a:path>
            </a:pathLst>
          </a:custGeom>
          <a:blipFill>
            <a:blip r:embed="rId2"/>
            <a:stretch>
              <a:fillRect l="0" t="0" r="0" b="0"/>
            </a:stretch>
          </a:blipFill>
        </p:spPr>
      </p:sp>
      <p:sp>
        <p:nvSpPr>
          <p:cNvPr name="TextBox 22" id="22"/>
          <p:cNvSpPr txBox="true"/>
          <p:nvPr/>
        </p:nvSpPr>
        <p:spPr>
          <a:xfrm rot="0">
            <a:off x="1937170" y="2116414"/>
            <a:ext cx="12622254" cy="1075300"/>
          </a:xfrm>
          <a:prstGeom prst="rect">
            <a:avLst/>
          </a:prstGeom>
        </p:spPr>
        <p:txBody>
          <a:bodyPr anchor="t" rtlCol="false" tIns="0" lIns="0" bIns="0" rIns="0">
            <a:spAutoFit/>
          </a:bodyPr>
          <a:lstStyle/>
          <a:p>
            <a:pPr algn="l">
              <a:lnSpc>
                <a:spcPts val="8396"/>
              </a:lnSpc>
            </a:pPr>
            <a:r>
              <a:rPr lang="en-US" b="true" sz="7365" spc="2371">
                <a:solidFill>
                  <a:srgbClr val="27403B"/>
                </a:solidFill>
                <a:latin typeface="Raleway Heavy"/>
                <a:ea typeface="Raleway Heavy"/>
                <a:cs typeface="Raleway Heavy"/>
                <a:sym typeface="Raleway Heavy"/>
              </a:rPr>
              <a:t>Modelo</a:t>
            </a:r>
          </a:p>
        </p:txBody>
      </p:sp>
      <p:sp>
        <p:nvSpPr>
          <p:cNvPr name="TextBox 23" id="23"/>
          <p:cNvSpPr txBox="true"/>
          <p:nvPr/>
        </p:nvSpPr>
        <p:spPr>
          <a:xfrm rot="0">
            <a:off x="3045283" y="3778358"/>
            <a:ext cx="9449652" cy="1234270"/>
          </a:xfrm>
          <a:prstGeom prst="rect">
            <a:avLst/>
          </a:prstGeom>
        </p:spPr>
        <p:txBody>
          <a:bodyPr anchor="t" rtlCol="false" tIns="0" lIns="0" bIns="0" rIns="0">
            <a:spAutoFit/>
          </a:bodyPr>
          <a:lstStyle/>
          <a:p>
            <a:pPr algn="l">
              <a:lnSpc>
                <a:spcPts val="10333"/>
              </a:lnSpc>
            </a:pPr>
            <a:r>
              <a:rPr lang="en-US" sz="6709" i="true">
                <a:solidFill>
                  <a:srgbClr val="000000"/>
                </a:solidFill>
                <a:latin typeface="Cormorant Garamond Italics"/>
                <a:ea typeface="Cormorant Garamond Italics"/>
                <a:cs typeface="Cormorant Garamond Italics"/>
                <a:sym typeface="Cormorant Garamond Italics"/>
              </a:rPr>
              <a:t>LMA​ = μ + E ​+ A ​+ EA + S + ε</a:t>
            </a:r>
          </a:p>
        </p:txBody>
      </p:sp>
      <p:sp>
        <p:nvSpPr>
          <p:cNvPr name="TextBox 24" id="24"/>
          <p:cNvSpPr txBox="true"/>
          <p:nvPr/>
        </p:nvSpPr>
        <p:spPr>
          <a:xfrm rot="0">
            <a:off x="3045283" y="5547536"/>
            <a:ext cx="7619866" cy="3248739"/>
          </a:xfrm>
          <a:prstGeom prst="rect">
            <a:avLst/>
          </a:prstGeom>
        </p:spPr>
        <p:txBody>
          <a:bodyPr anchor="t" rtlCol="false" tIns="0" lIns="0" bIns="0" rIns="0">
            <a:spAutoFit/>
          </a:bodyPr>
          <a:lstStyle/>
          <a:p>
            <a:pPr algn="l">
              <a:lnSpc>
                <a:spcPts val="3711"/>
              </a:lnSpc>
            </a:pPr>
            <a:r>
              <a:rPr lang="en-US" sz="2409">
                <a:solidFill>
                  <a:srgbClr val="000000"/>
                </a:solidFill>
                <a:latin typeface="Garet"/>
                <a:ea typeface="Garet"/>
                <a:cs typeface="Garet"/>
                <a:sym typeface="Garet"/>
              </a:rPr>
              <a:t>donde:</a:t>
            </a:r>
          </a:p>
          <a:p>
            <a:pPr algn="l" marL="520304" indent="-260152" lvl="1">
              <a:lnSpc>
                <a:spcPts val="3711"/>
              </a:lnSpc>
              <a:buFont typeface="Arial"/>
              <a:buChar char="•"/>
            </a:pPr>
            <a:r>
              <a:rPr lang="en-US" sz="2409">
                <a:solidFill>
                  <a:srgbClr val="000000"/>
                </a:solidFill>
                <a:latin typeface="Garet"/>
                <a:ea typeface="Garet"/>
                <a:cs typeface="Garet"/>
                <a:sym typeface="Garet"/>
              </a:rPr>
              <a:t>LMA (g cm^−2) = variable de respuesta</a:t>
            </a:r>
          </a:p>
          <a:p>
            <a:pPr algn="l" marL="520304" indent="-260152" lvl="1">
              <a:lnSpc>
                <a:spcPts val="3711"/>
              </a:lnSpc>
              <a:buFont typeface="Arial"/>
              <a:buChar char="•"/>
            </a:pPr>
            <a:r>
              <a:rPr lang="en-US" sz="2409">
                <a:solidFill>
                  <a:srgbClr val="000000"/>
                </a:solidFill>
                <a:latin typeface="Garet"/>
                <a:ea typeface="Garet"/>
                <a:cs typeface="Garet"/>
                <a:sym typeface="Garet"/>
              </a:rPr>
              <a:t>E= efecto de la especie</a:t>
            </a:r>
          </a:p>
          <a:p>
            <a:pPr algn="l" marL="520304" indent="-260152" lvl="1">
              <a:lnSpc>
                <a:spcPts val="3711"/>
              </a:lnSpc>
              <a:buFont typeface="Arial"/>
              <a:buChar char="•"/>
            </a:pPr>
            <a:r>
              <a:rPr lang="en-US" sz="2409">
                <a:solidFill>
                  <a:srgbClr val="000000"/>
                </a:solidFill>
                <a:latin typeface="Garet"/>
                <a:ea typeface="Garet"/>
                <a:cs typeface="Garet"/>
                <a:sym typeface="Garet"/>
              </a:rPr>
              <a:t>A= efecto del piso altitudinal</a:t>
            </a:r>
          </a:p>
          <a:p>
            <a:pPr algn="l" marL="520304" indent="-260152" lvl="1">
              <a:lnSpc>
                <a:spcPts val="3711"/>
              </a:lnSpc>
              <a:buFont typeface="Arial"/>
              <a:buChar char="•"/>
            </a:pPr>
            <a:r>
              <a:rPr lang="en-US" sz="2409">
                <a:solidFill>
                  <a:srgbClr val="000000"/>
                </a:solidFill>
                <a:latin typeface="Garet"/>
                <a:ea typeface="Garet"/>
                <a:cs typeface="Garet"/>
                <a:sym typeface="Garet"/>
              </a:rPr>
              <a:t>S= efecto aleatorio del sitio</a:t>
            </a:r>
          </a:p>
          <a:p>
            <a:pPr algn="l" marL="520304" indent="-260152" lvl="1">
              <a:lnSpc>
                <a:spcPts val="3711"/>
              </a:lnSpc>
              <a:buFont typeface="Arial"/>
              <a:buChar char="•"/>
            </a:pPr>
            <a:r>
              <a:rPr lang="en-US" sz="2409">
                <a:solidFill>
                  <a:srgbClr val="000000"/>
                </a:solidFill>
                <a:latin typeface="Garet"/>
                <a:ea typeface="Garet"/>
                <a:cs typeface="Garet"/>
                <a:sym typeface="Garet"/>
              </a:rPr>
              <a:t>ε= error residual</a:t>
            </a:r>
          </a:p>
          <a:p>
            <a:pPr algn="l">
              <a:lnSpc>
                <a:spcPts val="3711"/>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1080000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73263"/>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5400000">
              <a:off x="18828976" y="0"/>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13" id="13"/>
          <p:cNvSpPr/>
          <p:nvPr/>
        </p:nvSpPr>
        <p:spPr>
          <a:xfrm flipH="false" flipV="false" rot="0">
            <a:off x="1082550" y="1324303"/>
            <a:ext cx="11301259" cy="3983694"/>
          </a:xfrm>
          <a:custGeom>
            <a:avLst/>
            <a:gdLst/>
            <a:ahLst/>
            <a:cxnLst/>
            <a:rect r="r" b="b" t="t" l="l"/>
            <a:pathLst>
              <a:path h="3983694" w="11301259">
                <a:moveTo>
                  <a:pt x="0" y="0"/>
                </a:moveTo>
                <a:lnTo>
                  <a:pt x="11301259" y="0"/>
                </a:lnTo>
                <a:lnTo>
                  <a:pt x="11301259" y="3983694"/>
                </a:lnTo>
                <a:lnTo>
                  <a:pt x="0" y="3983694"/>
                </a:lnTo>
                <a:lnTo>
                  <a:pt x="0" y="0"/>
                </a:lnTo>
                <a:close/>
              </a:path>
            </a:pathLst>
          </a:custGeom>
          <a:blipFill>
            <a:blip r:embed="rId4"/>
            <a:stretch>
              <a:fillRect l="0" t="0" r="0" b="0"/>
            </a:stretch>
          </a:blipFill>
        </p:spPr>
      </p:sp>
      <p:sp>
        <p:nvSpPr>
          <p:cNvPr name="Freeform 14" id="14"/>
          <p:cNvSpPr/>
          <p:nvPr/>
        </p:nvSpPr>
        <p:spPr>
          <a:xfrm flipH="false" flipV="false" rot="0">
            <a:off x="1082550" y="5596759"/>
            <a:ext cx="11247409" cy="3203285"/>
          </a:xfrm>
          <a:custGeom>
            <a:avLst/>
            <a:gdLst/>
            <a:ahLst/>
            <a:cxnLst/>
            <a:rect r="r" b="b" t="t" l="l"/>
            <a:pathLst>
              <a:path h="3203285" w="11247409">
                <a:moveTo>
                  <a:pt x="0" y="0"/>
                </a:moveTo>
                <a:lnTo>
                  <a:pt x="11247409" y="0"/>
                </a:lnTo>
                <a:lnTo>
                  <a:pt x="11247409" y="3203285"/>
                </a:lnTo>
                <a:lnTo>
                  <a:pt x="0" y="3203285"/>
                </a:lnTo>
                <a:lnTo>
                  <a:pt x="0" y="0"/>
                </a:lnTo>
                <a:close/>
              </a:path>
            </a:pathLst>
          </a:custGeom>
          <a:blipFill>
            <a:blip r:embed="rId5"/>
            <a:stretch>
              <a:fillRect l="0" t="0" r="0" b="0"/>
            </a:stretch>
          </a:blipFill>
        </p:spPr>
      </p:sp>
      <p:sp>
        <p:nvSpPr>
          <p:cNvPr name="AutoShape 15" id="15"/>
          <p:cNvSpPr/>
          <p:nvPr/>
        </p:nvSpPr>
        <p:spPr>
          <a:xfrm flipH="true">
            <a:off x="6080477" y="4764858"/>
            <a:ext cx="6249482" cy="0"/>
          </a:xfrm>
          <a:prstGeom prst="line">
            <a:avLst/>
          </a:prstGeom>
          <a:ln cap="flat" w="38100">
            <a:solidFill>
              <a:srgbClr val="000000"/>
            </a:solidFill>
            <a:prstDash val="solid"/>
            <a:headEnd type="none" len="sm" w="sm"/>
            <a:tailEnd type="triangle" len="med" w="lg"/>
          </a:ln>
        </p:spPr>
      </p:sp>
      <p:sp>
        <p:nvSpPr>
          <p:cNvPr name="AutoShape 16" id="16"/>
          <p:cNvSpPr/>
          <p:nvPr/>
        </p:nvSpPr>
        <p:spPr>
          <a:xfrm>
            <a:off x="5148219" y="6611795"/>
            <a:ext cx="1094149" cy="0"/>
          </a:xfrm>
          <a:prstGeom prst="line">
            <a:avLst/>
          </a:prstGeom>
          <a:ln cap="flat" w="38100">
            <a:solidFill>
              <a:srgbClr val="FF3131"/>
            </a:solidFill>
            <a:prstDash val="solid"/>
            <a:headEnd type="none" len="sm" w="sm"/>
            <a:tailEnd type="none" len="sm" w="sm"/>
          </a:ln>
        </p:spPr>
      </p:sp>
      <p:sp>
        <p:nvSpPr>
          <p:cNvPr name="AutoShape 17" id="17"/>
          <p:cNvSpPr/>
          <p:nvPr/>
        </p:nvSpPr>
        <p:spPr>
          <a:xfrm>
            <a:off x="5148219" y="6905098"/>
            <a:ext cx="1094149" cy="0"/>
          </a:xfrm>
          <a:prstGeom prst="line">
            <a:avLst/>
          </a:prstGeom>
          <a:ln cap="flat" w="38100">
            <a:solidFill>
              <a:srgbClr val="25572A"/>
            </a:solidFill>
            <a:prstDash val="solid"/>
            <a:headEnd type="none" len="sm" w="sm"/>
            <a:tailEnd type="none" len="sm" w="sm"/>
          </a:ln>
        </p:spPr>
      </p:sp>
      <p:sp>
        <p:nvSpPr>
          <p:cNvPr name="AutoShape 18" id="18"/>
          <p:cNvSpPr/>
          <p:nvPr/>
        </p:nvSpPr>
        <p:spPr>
          <a:xfrm>
            <a:off x="5148219" y="7198401"/>
            <a:ext cx="1094149" cy="0"/>
          </a:xfrm>
          <a:prstGeom prst="line">
            <a:avLst/>
          </a:prstGeom>
          <a:ln cap="flat" w="38100">
            <a:solidFill>
              <a:srgbClr val="38B6FF"/>
            </a:solidFill>
            <a:prstDash val="solid"/>
            <a:headEnd type="none" len="sm" w="sm"/>
            <a:tailEnd type="none" len="sm" w="sm"/>
          </a:ln>
        </p:spPr>
      </p:sp>
      <p:grpSp>
        <p:nvGrpSpPr>
          <p:cNvPr name="Group 19" id="19"/>
          <p:cNvGrpSpPr/>
          <p:nvPr/>
        </p:nvGrpSpPr>
        <p:grpSpPr>
          <a:xfrm rot="0">
            <a:off x="12572717" y="5406144"/>
            <a:ext cx="4513446" cy="1016876"/>
            <a:chOff x="0" y="0"/>
            <a:chExt cx="1188727" cy="267819"/>
          </a:xfrm>
        </p:grpSpPr>
        <p:sp>
          <p:nvSpPr>
            <p:cNvPr name="Freeform 20" id="20"/>
            <p:cNvSpPr/>
            <p:nvPr/>
          </p:nvSpPr>
          <p:spPr>
            <a:xfrm flipH="false" flipV="false" rot="0">
              <a:off x="0" y="0"/>
              <a:ext cx="1188727" cy="267819"/>
            </a:xfrm>
            <a:custGeom>
              <a:avLst/>
              <a:gdLst/>
              <a:ahLst/>
              <a:cxnLst/>
              <a:rect r="r" b="b" t="t" l="l"/>
              <a:pathLst>
                <a:path h="267819" w="1188727">
                  <a:moveTo>
                    <a:pt x="0" y="0"/>
                  </a:moveTo>
                  <a:lnTo>
                    <a:pt x="1188727" y="0"/>
                  </a:lnTo>
                  <a:lnTo>
                    <a:pt x="1188727" y="267819"/>
                  </a:lnTo>
                  <a:lnTo>
                    <a:pt x="0" y="267819"/>
                  </a:lnTo>
                  <a:close/>
                </a:path>
              </a:pathLst>
            </a:custGeom>
            <a:ln w="38100" cap="sq">
              <a:solidFill>
                <a:srgbClr val="FF3131"/>
              </a:solidFill>
              <a:prstDash val="solid"/>
              <a:miter/>
            </a:ln>
          </p:spPr>
        </p:sp>
        <p:sp>
          <p:nvSpPr>
            <p:cNvPr name="TextBox 21" id="21"/>
            <p:cNvSpPr txBox="true"/>
            <p:nvPr/>
          </p:nvSpPr>
          <p:spPr>
            <a:xfrm>
              <a:off x="0" y="-38100"/>
              <a:ext cx="1188727" cy="305919"/>
            </a:xfrm>
            <a:prstGeom prst="rect">
              <a:avLst/>
            </a:prstGeom>
          </p:spPr>
          <p:txBody>
            <a:bodyPr anchor="ctr" rtlCol="false" tIns="50800" lIns="50800" bIns="50800" rIns="50800"/>
            <a:lstStyle/>
            <a:p>
              <a:pPr algn="ctr">
                <a:lnSpc>
                  <a:spcPts val="2764"/>
                </a:lnSpc>
              </a:pPr>
              <a:r>
                <a:rPr lang="en-US" b="true" sz="1974">
                  <a:solidFill>
                    <a:srgbClr val="FFFFFF"/>
                  </a:solidFill>
                  <a:latin typeface="Montserrat Bold"/>
                  <a:ea typeface="Montserrat Bold"/>
                  <a:cs typeface="Montserrat Bold"/>
                  <a:sym typeface="Montserrat Bold"/>
                </a:rPr>
                <a:t>ecta</a:t>
              </a:r>
            </a:p>
          </p:txBody>
        </p:sp>
      </p:grpSp>
      <p:sp>
        <p:nvSpPr>
          <p:cNvPr name="TextBox 22" id="22"/>
          <p:cNvSpPr txBox="true"/>
          <p:nvPr/>
        </p:nvSpPr>
        <p:spPr>
          <a:xfrm rot="0">
            <a:off x="12661398" y="3660613"/>
            <a:ext cx="4336084" cy="1359547"/>
          </a:xfrm>
          <a:prstGeom prst="rect">
            <a:avLst/>
          </a:prstGeom>
        </p:spPr>
        <p:txBody>
          <a:bodyPr anchor="t" rtlCol="false" tIns="0" lIns="0" bIns="0" rIns="0">
            <a:spAutoFit/>
          </a:bodyPr>
          <a:lstStyle/>
          <a:p>
            <a:pPr algn="ctr">
              <a:lnSpc>
                <a:spcPts val="2764"/>
              </a:lnSpc>
              <a:spcBef>
                <a:spcPct val="0"/>
              </a:spcBef>
            </a:pPr>
            <a:r>
              <a:rPr lang="en-US" sz="1974">
                <a:solidFill>
                  <a:srgbClr val="000000"/>
                </a:solidFill>
                <a:latin typeface="Montserrat"/>
                <a:ea typeface="Montserrat"/>
                <a:cs typeface="Montserrat"/>
                <a:sym typeface="Montserrat"/>
              </a:rPr>
              <a:t>Más varianza en los residuales (todo lo que no está explicado por especie, piso, interacción y diferencias entre sitios)</a:t>
            </a:r>
          </a:p>
        </p:txBody>
      </p:sp>
      <p:sp>
        <p:nvSpPr>
          <p:cNvPr name="TextBox 23" id="23"/>
          <p:cNvSpPr txBox="true"/>
          <p:nvPr/>
        </p:nvSpPr>
        <p:spPr>
          <a:xfrm rot="0">
            <a:off x="12572717" y="5558659"/>
            <a:ext cx="4336084" cy="673747"/>
          </a:xfrm>
          <a:prstGeom prst="rect">
            <a:avLst/>
          </a:prstGeom>
        </p:spPr>
        <p:txBody>
          <a:bodyPr anchor="t" rtlCol="false" tIns="0" lIns="0" bIns="0" rIns="0">
            <a:spAutoFit/>
          </a:bodyPr>
          <a:lstStyle/>
          <a:p>
            <a:pPr algn="ctr">
              <a:lnSpc>
                <a:spcPts val="2764"/>
              </a:lnSpc>
              <a:spcBef>
                <a:spcPct val="0"/>
              </a:spcBef>
            </a:pPr>
            <a:r>
              <a:rPr lang="en-US" sz="1974">
                <a:solidFill>
                  <a:srgbClr val="000000"/>
                </a:solidFill>
                <a:latin typeface="Montserrat"/>
                <a:ea typeface="Montserrat"/>
                <a:cs typeface="Montserrat"/>
                <a:sym typeface="Montserrat"/>
              </a:rPr>
              <a:t>Intercept: LMA promedio de la referencia (Quercus_A:Piso Alto)</a:t>
            </a:r>
          </a:p>
        </p:txBody>
      </p:sp>
      <p:sp>
        <p:nvSpPr>
          <p:cNvPr name="TextBox 24" id="24"/>
          <p:cNvSpPr txBox="true"/>
          <p:nvPr/>
        </p:nvSpPr>
        <p:spPr>
          <a:xfrm rot="0">
            <a:off x="12661398" y="6842477"/>
            <a:ext cx="4336084" cy="673747"/>
          </a:xfrm>
          <a:prstGeom prst="rect">
            <a:avLst/>
          </a:prstGeom>
        </p:spPr>
        <p:txBody>
          <a:bodyPr anchor="t" rtlCol="false" tIns="0" lIns="0" bIns="0" rIns="0">
            <a:spAutoFit/>
          </a:bodyPr>
          <a:lstStyle/>
          <a:p>
            <a:pPr algn="ctr">
              <a:lnSpc>
                <a:spcPts val="2764"/>
              </a:lnSpc>
              <a:spcBef>
                <a:spcPct val="0"/>
              </a:spcBef>
            </a:pPr>
            <a:r>
              <a:rPr lang="en-US" sz="1974">
                <a:solidFill>
                  <a:srgbClr val="000000"/>
                </a:solidFill>
                <a:latin typeface="Montserrat"/>
                <a:ea typeface="Montserrat"/>
                <a:cs typeface="Montserrat"/>
                <a:sym typeface="Montserrat"/>
              </a:rPr>
              <a:t>Quercus_B tiene 25.004 más de LMA comparado con el intercepto</a:t>
            </a:r>
          </a:p>
        </p:txBody>
      </p:sp>
      <p:grpSp>
        <p:nvGrpSpPr>
          <p:cNvPr name="Group 25" id="25"/>
          <p:cNvGrpSpPr/>
          <p:nvPr/>
        </p:nvGrpSpPr>
        <p:grpSpPr>
          <a:xfrm rot="0">
            <a:off x="12572717" y="6689842"/>
            <a:ext cx="4513446" cy="1016876"/>
            <a:chOff x="0" y="0"/>
            <a:chExt cx="1188727" cy="267819"/>
          </a:xfrm>
        </p:grpSpPr>
        <p:sp>
          <p:nvSpPr>
            <p:cNvPr name="Freeform 26" id="26"/>
            <p:cNvSpPr/>
            <p:nvPr/>
          </p:nvSpPr>
          <p:spPr>
            <a:xfrm flipH="false" flipV="false" rot="0">
              <a:off x="0" y="0"/>
              <a:ext cx="1188727" cy="267819"/>
            </a:xfrm>
            <a:custGeom>
              <a:avLst/>
              <a:gdLst/>
              <a:ahLst/>
              <a:cxnLst/>
              <a:rect r="r" b="b" t="t" l="l"/>
              <a:pathLst>
                <a:path h="267819" w="1188727">
                  <a:moveTo>
                    <a:pt x="0" y="0"/>
                  </a:moveTo>
                  <a:lnTo>
                    <a:pt x="1188727" y="0"/>
                  </a:lnTo>
                  <a:lnTo>
                    <a:pt x="1188727" y="267819"/>
                  </a:lnTo>
                  <a:lnTo>
                    <a:pt x="0" y="267819"/>
                  </a:lnTo>
                  <a:close/>
                </a:path>
              </a:pathLst>
            </a:custGeom>
            <a:ln w="38100" cap="sq">
              <a:solidFill>
                <a:srgbClr val="25572A"/>
              </a:solidFill>
              <a:prstDash val="solid"/>
              <a:miter/>
            </a:ln>
          </p:spPr>
        </p:sp>
        <p:sp>
          <p:nvSpPr>
            <p:cNvPr name="TextBox 27" id="27"/>
            <p:cNvSpPr txBox="true"/>
            <p:nvPr/>
          </p:nvSpPr>
          <p:spPr>
            <a:xfrm>
              <a:off x="0" y="-38100"/>
              <a:ext cx="1188727" cy="305919"/>
            </a:xfrm>
            <a:prstGeom prst="rect">
              <a:avLst/>
            </a:prstGeom>
          </p:spPr>
          <p:txBody>
            <a:bodyPr anchor="ctr" rtlCol="false" tIns="50800" lIns="50800" bIns="50800" rIns="50800"/>
            <a:lstStyle/>
            <a:p>
              <a:pPr algn="ctr">
                <a:lnSpc>
                  <a:spcPts val="2764"/>
                </a:lnSpc>
              </a:pPr>
              <a:r>
                <a:rPr lang="en-US" b="true" sz="1974">
                  <a:solidFill>
                    <a:srgbClr val="FFFFFF"/>
                  </a:solidFill>
                  <a:latin typeface="Montserrat Bold"/>
                  <a:ea typeface="Montserrat Bold"/>
                  <a:cs typeface="Montserrat Bold"/>
                  <a:sym typeface="Montserrat Bold"/>
                </a:rPr>
                <a:t>ecta</a:t>
              </a:r>
            </a:p>
          </p:txBody>
        </p:sp>
      </p:grpSp>
      <p:grpSp>
        <p:nvGrpSpPr>
          <p:cNvPr name="Group 28" id="28"/>
          <p:cNvGrpSpPr/>
          <p:nvPr/>
        </p:nvGrpSpPr>
        <p:grpSpPr>
          <a:xfrm rot="0">
            <a:off x="12572717" y="7973539"/>
            <a:ext cx="4513446" cy="1016876"/>
            <a:chOff x="0" y="0"/>
            <a:chExt cx="1188727" cy="267819"/>
          </a:xfrm>
        </p:grpSpPr>
        <p:sp>
          <p:nvSpPr>
            <p:cNvPr name="Freeform 29" id="29"/>
            <p:cNvSpPr/>
            <p:nvPr/>
          </p:nvSpPr>
          <p:spPr>
            <a:xfrm flipH="false" flipV="false" rot="0">
              <a:off x="0" y="0"/>
              <a:ext cx="1188727" cy="267819"/>
            </a:xfrm>
            <a:custGeom>
              <a:avLst/>
              <a:gdLst/>
              <a:ahLst/>
              <a:cxnLst/>
              <a:rect r="r" b="b" t="t" l="l"/>
              <a:pathLst>
                <a:path h="267819" w="1188727">
                  <a:moveTo>
                    <a:pt x="0" y="0"/>
                  </a:moveTo>
                  <a:lnTo>
                    <a:pt x="1188727" y="0"/>
                  </a:lnTo>
                  <a:lnTo>
                    <a:pt x="1188727" y="267819"/>
                  </a:lnTo>
                  <a:lnTo>
                    <a:pt x="0" y="267819"/>
                  </a:lnTo>
                  <a:close/>
                </a:path>
              </a:pathLst>
            </a:custGeom>
            <a:ln w="38100" cap="sq">
              <a:solidFill>
                <a:srgbClr val="38B6FF"/>
              </a:solidFill>
              <a:prstDash val="solid"/>
              <a:miter/>
            </a:ln>
          </p:spPr>
        </p:sp>
        <p:sp>
          <p:nvSpPr>
            <p:cNvPr name="TextBox 30" id="30"/>
            <p:cNvSpPr txBox="true"/>
            <p:nvPr/>
          </p:nvSpPr>
          <p:spPr>
            <a:xfrm>
              <a:off x="0" y="-38100"/>
              <a:ext cx="1188727" cy="305919"/>
            </a:xfrm>
            <a:prstGeom prst="rect">
              <a:avLst/>
            </a:prstGeom>
          </p:spPr>
          <p:txBody>
            <a:bodyPr anchor="ctr" rtlCol="false" tIns="50800" lIns="50800" bIns="50800" rIns="50800"/>
            <a:lstStyle/>
            <a:p>
              <a:pPr algn="ctr">
                <a:lnSpc>
                  <a:spcPts val="2764"/>
                </a:lnSpc>
              </a:pPr>
            </a:p>
          </p:txBody>
        </p:sp>
      </p:grpSp>
      <p:sp>
        <p:nvSpPr>
          <p:cNvPr name="TextBox 31" id="31"/>
          <p:cNvSpPr txBox="true"/>
          <p:nvPr/>
        </p:nvSpPr>
        <p:spPr>
          <a:xfrm rot="0">
            <a:off x="12972917" y="8126296"/>
            <a:ext cx="3713046" cy="673747"/>
          </a:xfrm>
          <a:prstGeom prst="rect">
            <a:avLst/>
          </a:prstGeom>
        </p:spPr>
        <p:txBody>
          <a:bodyPr anchor="t" rtlCol="false" tIns="0" lIns="0" bIns="0" rIns="0">
            <a:spAutoFit/>
          </a:bodyPr>
          <a:lstStyle/>
          <a:p>
            <a:pPr algn="ctr">
              <a:lnSpc>
                <a:spcPts val="2764"/>
              </a:lnSpc>
              <a:spcBef>
                <a:spcPct val="0"/>
              </a:spcBef>
            </a:pPr>
            <a:r>
              <a:rPr lang="en-US" sz="1974">
                <a:solidFill>
                  <a:srgbClr val="000000"/>
                </a:solidFill>
                <a:latin typeface="Montserrat"/>
                <a:ea typeface="Montserrat"/>
                <a:cs typeface="Montserrat"/>
                <a:sym typeface="Montserrat"/>
              </a:rPr>
              <a:t>PisoBajo tiene 22.197 menos LMA que el intercepto</a:t>
            </a:r>
          </a:p>
        </p:txBody>
      </p:sp>
      <p:grpSp>
        <p:nvGrpSpPr>
          <p:cNvPr name="Group 32" id="32"/>
          <p:cNvGrpSpPr/>
          <p:nvPr/>
        </p:nvGrpSpPr>
        <p:grpSpPr>
          <a:xfrm rot="0">
            <a:off x="12572717" y="3579429"/>
            <a:ext cx="4513446" cy="1560015"/>
            <a:chOff x="0" y="0"/>
            <a:chExt cx="1188727" cy="410868"/>
          </a:xfrm>
        </p:grpSpPr>
        <p:sp>
          <p:nvSpPr>
            <p:cNvPr name="Freeform 33" id="33"/>
            <p:cNvSpPr/>
            <p:nvPr/>
          </p:nvSpPr>
          <p:spPr>
            <a:xfrm flipH="false" flipV="false" rot="0">
              <a:off x="0" y="0"/>
              <a:ext cx="1188727" cy="410868"/>
            </a:xfrm>
            <a:custGeom>
              <a:avLst/>
              <a:gdLst/>
              <a:ahLst/>
              <a:cxnLst/>
              <a:rect r="r" b="b" t="t" l="l"/>
              <a:pathLst>
                <a:path h="410868" w="1188727">
                  <a:moveTo>
                    <a:pt x="0" y="0"/>
                  </a:moveTo>
                  <a:lnTo>
                    <a:pt x="1188727" y="0"/>
                  </a:lnTo>
                  <a:lnTo>
                    <a:pt x="1188727" y="410868"/>
                  </a:lnTo>
                  <a:lnTo>
                    <a:pt x="0" y="410868"/>
                  </a:lnTo>
                  <a:close/>
                </a:path>
              </a:pathLst>
            </a:custGeom>
            <a:ln w="38100" cap="sq">
              <a:solidFill>
                <a:srgbClr val="000000"/>
              </a:solidFill>
              <a:prstDash val="solid"/>
              <a:miter/>
            </a:ln>
          </p:spPr>
        </p:sp>
        <p:sp>
          <p:nvSpPr>
            <p:cNvPr name="TextBox 34" id="34"/>
            <p:cNvSpPr txBox="true"/>
            <p:nvPr/>
          </p:nvSpPr>
          <p:spPr>
            <a:xfrm>
              <a:off x="0" y="-38100"/>
              <a:ext cx="1188727" cy="448968"/>
            </a:xfrm>
            <a:prstGeom prst="rect">
              <a:avLst/>
            </a:prstGeom>
          </p:spPr>
          <p:txBody>
            <a:bodyPr anchor="ctr" rtlCol="false" tIns="50800" lIns="50800" bIns="50800" rIns="50800"/>
            <a:lstStyle/>
            <a:p>
              <a:pPr algn="ctr">
                <a:lnSpc>
                  <a:spcPts val="2764"/>
                </a:lnSpc>
              </a:pPr>
              <a:r>
                <a:rPr lang="en-US" b="true" sz="1974">
                  <a:solidFill>
                    <a:srgbClr val="FFFFFF"/>
                  </a:solidFill>
                  <a:latin typeface="Montserrat Bold"/>
                  <a:ea typeface="Montserrat Bold"/>
                  <a:cs typeface="Montserrat Bold"/>
                  <a:sym typeface="Montserrat Bold"/>
                </a:rPr>
                <a:t>ecta</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0">
              <a:off x="0" y="0"/>
              <a:ext cx="4439970" cy="4439970"/>
            </a:xfrm>
            <a:custGeom>
              <a:avLst/>
              <a:gdLst/>
              <a:ahLst/>
              <a:cxnLst/>
              <a:rect r="r" b="b" t="t" l="l"/>
              <a:pathLst>
                <a:path h="4439970" w="4439970">
                  <a:moveTo>
                    <a:pt x="0" y="0"/>
                  </a:moveTo>
                  <a:lnTo>
                    <a:pt x="4439970" y="0"/>
                  </a:lnTo>
                  <a:lnTo>
                    <a:pt x="4439970"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13" id="13"/>
          <p:cNvSpPr/>
          <p:nvPr/>
        </p:nvSpPr>
        <p:spPr>
          <a:xfrm flipH="false" flipV="false" rot="0">
            <a:off x="1028700" y="4052823"/>
            <a:ext cx="10301603" cy="2280386"/>
          </a:xfrm>
          <a:custGeom>
            <a:avLst/>
            <a:gdLst/>
            <a:ahLst/>
            <a:cxnLst/>
            <a:rect r="r" b="b" t="t" l="l"/>
            <a:pathLst>
              <a:path h="2280386" w="10301603">
                <a:moveTo>
                  <a:pt x="0" y="0"/>
                </a:moveTo>
                <a:lnTo>
                  <a:pt x="10301603" y="0"/>
                </a:lnTo>
                <a:lnTo>
                  <a:pt x="10301603" y="2280386"/>
                </a:lnTo>
                <a:lnTo>
                  <a:pt x="0" y="2280386"/>
                </a:lnTo>
                <a:lnTo>
                  <a:pt x="0" y="0"/>
                </a:lnTo>
                <a:close/>
              </a:path>
            </a:pathLst>
          </a:custGeom>
          <a:blipFill>
            <a:blip r:embed="rId4"/>
            <a:stretch>
              <a:fillRect l="0" t="0" r="0" b="0"/>
            </a:stretch>
          </a:blipFill>
        </p:spPr>
      </p:sp>
      <p:sp>
        <p:nvSpPr>
          <p:cNvPr name="TextBox 14" id="14"/>
          <p:cNvSpPr txBox="true"/>
          <p:nvPr/>
        </p:nvSpPr>
        <p:spPr>
          <a:xfrm rot="0">
            <a:off x="12031195" y="3449444"/>
            <a:ext cx="4445157" cy="673747"/>
          </a:xfrm>
          <a:prstGeom prst="rect">
            <a:avLst/>
          </a:prstGeom>
        </p:spPr>
        <p:txBody>
          <a:bodyPr anchor="t" rtlCol="false" tIns="0" lIns="0" bIns="0" rIns="0">
            <a:spAutoFit/>
          </a:bodyPr>
          <a:lstStyle/>
          <a:p>
            <a:pPr algn="ctr">
              <a:lnSpc>
                <a:spcPts val="2764"/>
              </a:lnSpc>
              <a:spcBef>
                <a:spcPct val="0"/>
              </a:spcBef>
            </a:pPr>
            <a:r>
              <a:rPr lang="en-US" sz="1974">
                <a:solidFill>
                  <a:srgbClr val="000000"/>
                </a:solidFill>
                <a:latin typeface="Montserrat"/>
                <a:ea typeface="Montserrat"/>
                <a:cs typeface="Montserrat"/>
                <a:sym typeface="Montserrat"/>
              </a:rPr>
              <a:t>Hay una</a:t>
            </a:r>
            <a:r>
              <a:rPr lang="en-US" sz="1974">
                <a:solidFill>
                  <a:srgbClr val="000000"/>
                </a:solidFill>
                <a:latin typeface="Montserrat"/>
                <a:ea typeface="Montserrat"/>
                <a:cs typeface="Montserrat"/>
                <a:sym typeface="Montserrat"/>
              </a:rPr>
              <a:t> diferencia altamente significativa en LMA entre especies</a:t>
            </a:r>
          </a:p>
        </p:txBody>
      </p:sp>
      <p:sp>
        <p:nvSpPr>
          <p:cNvPr name="TextBox 15" id="15"/>
          <p:cNvSpPr txBox="true"/>
          <p:nvPr/>
        </p:nvSpPr>
        <p:spPr>
          <a:xfrm rot="0">
            <a:off x="12031195" y="5977285"/>
            <a:ext cx="4445157" cy="673747"/>
          </a:xfrm>
          <a:prstGeom prst="rect">
            <a:avLst/>
          </a:prstGeom>
        </p:spPr>
        <p:txBody>
          <a:bodyPr anchor="t" rtlCol="false" tIns="0" lIns="0" bIns="0" rIns="0">
            <a:spAutoFit/>
          </a:bodyPr>
          <a:lstStyle/>
          <a:p>
            <a:pPr algn="ctr">
              <a:lnSpc>
                <a:spcPts val="2764"/>
              </a:lnSpc>
              <a:spcBef>
                <a:spcPct val="0"/>
              </a:spcBef>
            </a:pPr>
            <a:r>
              <a:rPr lang="en-US" sz="1974">
                <a:solidFill>
                  <a:srgbClr val="000000"/>
                </a:solidFill>
                <a:latin typeface="Montserrat"/>
                <a:ea typeface="Montserrat"/>
                <a:cs typeface="Montserrat"/>
                <a:sym typeface="Montserrat"/>
              </a:rPr>
              <a:t>Hay una</a:t>
            </a:r>
            <a:r>
              <a:rPr lang="en-US" sz="1974">
                <a:solidFill>
                  <a:srgbClr val="000000"/>
                </a:solidFill>
                <a:latin typeface="Montserrat"/>
                <a:ea typeface="Montserrat"/>
                <a:cs typeface="Montserrat"/>
                <a:sym typeface="Montserrat"/>
              </a:rPr>
              <a:t> diferencia altamente significativa en LMA entre pisos</a:t>
            </a:r>
          </a:p>
        </p:txBody>
      </p:sp>
      <p:grpSp>
        <p:nvGrpSpPr>
          <p:cNvPr name="Group 16" id="16"/>
          <p:cNvGrpSpPr/>
          <p:nvPr/>
        </p:nvGrpSpPr>
        <p:grpSpPr>
          <a:xfrm rot="0">
            <a:off x="11918223" y="3296930"/>
            <a:ext cx="4671101" cy="1016876"/>
            <a:chOff x="0" y="0"/>
            <a:chExt cx="1230249" cy="267819"/>
          </a:xfrm>
        </p:grpSpPr>
        <p:sp>
          <p:nvSpPr>
            <p:cNvPr name="Freeform 17" id="17"/>
            <p:cNvSpPr/>
            <p:nvPr/>
          </p:nvSpPr>
          <p:spPr>
            <a:xfrm flipH="false" flipV="false" rot="0">
              <a:off x="0" y="0"/>
              <a:ext cx="1230249" cy="267819"/>
            </a:xfrm>
            <a:custGeom>
              <a:avLst/>
              <a:gdLst/>
              <a:ahLst/>
              <a:cxnLst/>
              <a:rect r="r" b="b" t="t" l="l"/>
              <a:pathLst>
                <a:path h="267819" w="1230249">
                  <a:moveTo>
                    <a:pt x="0" y="0"/>
                  </a:moveTo>
                  <a:lnTo>
                    <a:pt x="1230249" y="0"/>
                  </a:lnTo>
                  <a:lnTo>
                    <a:pt x="1230249" y="267819"/>
                  </a:lnTo>
                  <a:lnTo>
                    <a:pt x="0" y="267819"/>
                  </a:lnTo>
                  <a:close/>
                </a:path>
              </a:pathLst>
            </a:custGeom>
            <a:ln w="38100" cap="sq">
              <a:solidFill>
                <a:srgbClr val="FF3131"/>
              </a:solidFill>
              <a:prstDash val="solid"/>
              <a:miter/>
            </a:ln>
          </p:spPr>
        </p:sp>
        <p:sp>
          <p:nvSpPr>
            <p:cNvPr name="TextBox 18" id="18"/>
            <p:cNvSpPr txBox="true"/>
            <p:nvPr/>
          </p:nvSpPr>
          <p:spPr>
            <a:xfrm>
              <a:off x="0" y="-38100"/>
              <a:ext cx="1230249" cy="305919"/>
            </a:xfrm>
            <a:prstGeom prst="rect">
              <a:avLst/>
            </a:prstGeom>
          </p:spPr>
          <p:txBody>
            <a:bodyPr anchor="ctr" rtlCol="false" tIns="50800" lIns="50800" bIns="50800" rIns="50800"/>
            <a:lstStyle/>
            <a:p>
              <a:pPr algn="ctr">
                <a:lnSpc>
                  <a:spcPts val="2764"/>
                </a:lnSpc>
              </a:pPr>
              <a:r>
                <a:rPr lang="en-US" b="true" sz="1974">
                  <a:solidFill>
                    <a:srgbClr val="FFFFFF"/>
                  </a:solidFill>
                  <a:latin typeface="Montserrat Bold"/>
                  <a:ea typeface="Montserrat Bold"/>
                  <a:cs typeface="Montserrat Bold"/>
                  <a:sym typeface="Montserrat Bold"/>
                </a:rPr>
                <a:t>ecta</a:t>
              </a:r>
            </a:p>
          </p:txBody>
        </p:sp>
      </p:grpSp>
      <p:grpSp>
        <p:nvGrpSpPr>
          <p:cNvPr name="Group 19" id="19"/>
          <p:cNvGrpSpPr/>
          <p:nvPr/>
        </p:nvGrpSpPr>
        <p:grpSpPr>
          <a:xfrm rot="0">
            <a:off x="11918223" y="5824771"/>
            <a:ext cx="4671101" cy="1016876"/>
            <a:chOff x="0" y="0"/>
            <a:chExt cx="1230249" cy="267819"/>
          </a:xfrm>
        </p:grpSpPr>
        <p:sp>
          <p:nvSpPr>
            <p:cNvPr name="Freeform 20" id="20"/>
            <p:cNvSpPr/>
            <p:nvPr/>
          </p:nvSpPr>
          <p:spPr>
            <a:xfrm flipH="false" flipV="false" rot="0">
              <a:off x="0" y="0"/>
              <a:ext cx="1230249" cy="267819"/>
            </a:xfrm>
            <a:custGeom>
              <a:avLst/>
              <a:gdLst/>
              <a:ahLst/>
              <a:cxnLst/>
              <a:rect r="r" b="b" t="t" l="l"/>
              <a:pathLst>
                <a:path h="267819" w="1230249">
                  <a:moveTo>
                    <a:pt x="0" y="0"/>
                  </a:moveTo>
                  <a:lnTo>
                    <a:pt x="1230249" y="0"/>
                  </a:lnTo>
                  <a:lnTo>
                    <a:pt x="1230249" y="267819"/>
                  </a:lnTo>
                  <a:lnTo>
                    <a:pt x="0" y="267819"/>
                  </a:lnTo>
                  <a:close/>
                </a:path>
              </a:pathLst>
            </a:custGeom>
            <a:ln w="38100" cap="sq">
              <a:solidFill>
                <a:srgbClr val="38B6FF"/>
              </a:solidFill>
              <a:prstDash val="solid"/>
              <a:miter/>
            </a:ln>
          </p:spPr>
        </p:sp>
        <p:sp>
          <p:nvSpPr>
            <p:cNvPr name="TextBox 21" id="21"/>
            <p:cNvSpPr txBox="true"/>
            <p:nvPr/>
          </p:nvSpPr>
          <p:spPr>
            <a:xfrm>
              <a:off x="0" y="-38100"/>
              <a:ext cx="1230249" cy="305919"/>
            </a:xfrm>
            <a:prstGeom prst="rect">
              <a:avLst/>
            </a:prstGeom>
          </p:spPr>
          <p:txBody>
            <a:bodyPr anchor="ctr" rtlCol="false" tIns="50800" lIns="50800" bIns="50800" rIns="50800"/>
            <a:lstStyle/>
            <a:p>
              <a:pPr algn="ctr">
                <a:lnSpc>
                  <a:spcPts val="2764"/>
                </a:lnSpc>
              </a:pPr>
              <a:r>
                <a:rPr lang="en-US" b="true" sz="1974">
                  <a:solidFill>
                    <a:srgbClr val="FFFFFF"/>
                  </a:solidFill>
                  <a:latin typeface="Montserrat Bold"/>
                  <a:ea typeface="Montserrat Bold"/>
                  <a:cs typeface="Montserrat Bold"/>
                  <a:sym typeface="Montserrat Bold"/>
                </a:rPr>
                <a:t>ecta</a:t>
              </a:r>
            </a:p>
          </p:txBody>
        </p:sp>
      </p:grpSp>
      <p:sp>
        <p:nvSpPr>
          <p:cNvPr name="AutoShape 22" id="22"/>
          <p:cNvSpPr/>
          <p:nvPr/>
        </p:nvSpPr>
        <p:spPr>
          <a:xfrm>
            <a:off x="9330210" y="4970490"/>
            <a:ext cx="1094149" cy="0"/>
          </a:xfrm>
          <a:prstGeom prst="line">
            <a:avLst/>
          </a:prstGeom>
          <a:ln cap="flat" w="38100">
            <a:solidFill>
              <a:srgbClr val="FF3131"/>
            </a:solidFill>
            <a:prstDash val="solid"/>
            <a:headEnd type="none" len="sm" w="sm"/>
            <a:tailEnd type="none" len="sm" w="sm"/>
          </a:ln>
        </p:spPr>
      </p:sp>
      <p:sp>
        <p:nvSpPr>
          <p:cNvPr name="AutoShape 23" id="23"/>
          <p:cNvSpPr/>
          <p:nvPr/>
        </p:nvSpPr>
        <p:spPr>
          <a:xfrm flipV="true">
            <a:off x="9080124" y="5212064"/>
            <a:ext cx="1343965" cy="19050"/>
          </a:xfrm>
          <a:prstGeom prst="line">
            <a:avLst/>
          </a:prstGeom>
          <a:ln cap="flat" w="38100">
            <a:solidFill>
              <a:srgbClr val="38B6FF"/>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ln w="66675" cap="sq">
                <a:solidFill>
                  <a:srgbClr val="25572A"/>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ln w="66675" cap="sq">
                <a:solidFill>
                  <a:srgbClr val="4B714F"/>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ln w="66675" cap="sq">
                <a:solidFill>
                  <a:srgbClr val="65976A"/>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10800000">
              <a:off x="18828976" y="8387239"/>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0" y="0"/>
              <a:ext cx="4439970" cy="4439970"/>
            </a:xfrm>
            <a:custGeom>
              <a:avLst/>
              <a:gdLst/>
              <a:ahLst/>
              <a:cxnLst/>
              <a:rect r="r" b="b" t="t" l="l"/>
              <a:pathLst>
                <a:path h="4439970" w="4439970">
                  <a:moveTo>
                    <a:pt x="0" y="0"/>
                  </a:moveTo>
                  <a:lnTo>
                    <a:pt x="4439970" y="0"/>
                  </a:lnTo>
                  <a:lnTo>
                    <a:pt x="4439970"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14" id="14"/>
          <p:cNvSpPr/>
          <p:nvPr/>
        </p:nvSpPr>
        <p:spPr>
          <a:xfrm flipH="false" flipV="false" rot="0">
            <a:off x="7612585" y="5936495"/>
            <a:ext cx="2985948" cy="3059766"/>
          </a:xfrm>
          <a:custGeom>
            <a:avLst/>
            <a:gdLst/>
            <a:ahLst/>
            <a:cxnLst/>
            <a:rect r="r" b="b" t="t" l="l"/>
            <a:pathLst>
              <a:path h="3059766" w="2985948">
                <a:moveTo>
                  <a:pt x="0" y="0"/>
                </a:moveTo>
                <a:lnTo>
                  <a:pt x="2985948" y="0"/>
                </a:lnTo>
                <a:lnTo>
                  <a:pt x="2985948" y="3059766"/>
                </a:lnTo>
                <a:lnTo>
                  <a:pt x="0" y="3059766"/>
                </a:lnTo>
                <a:lnTo>
                  <a:pt x="0" y="0"/>
                </a:lnTo>
                <a:close/>
              </a:path>
            </a:pathLst>
          </a:custGeom>
          <a:blipFill>
            <a:blip r:embed="rId4"/>
            <a:stretch>
              <a:fillRect l="-1236" t="0" r="-1236" b="0"/>
            </a:stretch>
          </a:blipFill>
        </p:spPr>
      </p:sp>
      <p:sp>
        <p:nvSpPr>
          <p:cNvPr name="TextBox 15" id="15"/>
          <p:cNvSpPr txBox="true"/>
          <p:nvPr/>
        </p:nvSpPr>
        <p:spPr>
          <a:xfrm rot="0">
            <a:off x="2312014" y="3703644"/>
            <a:ext cx="13663973" cy="2232851"/>
          </a:xfrm>
          <a:prstGeom prst="rect">
            <a:avLst/>
          </a:prstGeom>
        </p:spPr>
        <p:txBody>
          <a:bodyPr anchor="t" rtlCol="false" tIns="0" lIns="0" bIns="0" rIns="0">
            <a:spAutoFit/>
          </a:bodyPr>
          <a:lstStyle/>
          <a:p>
            <a:pPr algn="ctr">
              <a:lnSpc>
                <a:spcPts val="17818"/>
              </a:lnSpc>
            </a:pPr>
            <a:r>
              <a:rPr lang="en-US" b="true" sz="13601" spc="680">
                <a:solidFill>
                  <a:srgbClr val="27403B"/>
                </a:solidFill>
                <a:latin typeface="Raleway Heavy"/>
                <a:ea typeface="Raleway Heavy"/>
                <a:cs typeface="Raleway Heavy"/>
                <a:sym typeface="Raleway Heavy"/>
              </a:rPr>
              <a:t>GRACIAS</a:t>
            </a:r>
          </a:p>
        </p:txBody>
      </p:sp>
      <p:sp>
        <p:nvSpPr>
          <p:cNvPr name="TextBox 16" id="16"/>
          <p:cNvSpPr txBox="true"/>
          <p:nvPr/>
        </p:nvSpPr>
        <p:spPr>
          <a:xfrm rot="0">
            <a:off x="2312014" y="2309411"/>
            <a:ext cx="13663973" cy="1556158"/>
          </a:xfrm>
          <a:prstGeom prst="rect">
            <a:avLst/>
          </a:prstGeom>
        </p:spPr>
        <p:txBody>
          <a:bodyPr anchor="t" rtlCol="false" tIns="0" lIns="0" bIns="0" rIns="0">
            <a:spAutoFit/>
          </a:bodyPr>
          <a:lstStyle/>
          <a:p>
            <a:pPr algn="ctr">
              <a:lnSpc>
                <a:spcPts val="12499"/>
              </a:lnSpc>
            </a:pPr>
            <a:r>
              <a:rPr lang="en-US" sz="9541" spc="477">
                <a:solidFill>
                  <a:srgbClr val="27403B"/>
                </a:solidFill>
                <a:latin typeface="Raleway"/>
                <a:ea typeface="Raleway"/>
                <a:cs typeface="Raleway"/>
                <a:sym typeface="Raleway"/>
              </a:rPr>
              <a:t>MUCHAS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DAHAZwodb9w</dc:identifier>
  <dcterms:modified xsi:type="dcterms:W3CDTF">2011-08-01T06:04:30Z</dcterms:modified>
  <cp:revision>1</cp:revision>
  <dc:title>Presentación Diapositivas Propuesta Proyecto Negocios Simple Geométrico Verde</dc:title>
</cp:coreProperties>
</file>