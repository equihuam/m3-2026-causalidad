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6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9A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60F74-1117-C05C-00BE-3A3953A6E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296E1A-1279-2CF9-A6B1-48BC63ABB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878021-EDF9-36BA-3A27-76A8FB13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1DAA1E-6EB5-0CCA-C9C7-73A7D5DE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0D2D48-1B68-15CE-A5B5-6AF71BA82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9453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E7E33D-2014-186E-906D-95EB54FBE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5A4B6F-6138-744A-3031-35BA7EB1A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753376-F9AD-F822-702A-6FEB7ED8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49F62-4C07-C793-F565-73F4313E1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9DD4CD5-2D3D-9371-3C41-920977CB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086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4B7DD-4093-A625-8B71-4DF0055E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E76D2A-7463-B715-610A-1CD3A0D46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C6E18C-E629-4FB3-D6D4-98C230A3A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B05B45-6735-A3A0-56E6-BAAAAC1C8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838445-BD0B-64B7-034B-509044ECF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6472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0FF83-F38A-279F-FCEE-69EED744C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3774FA-999A-9FB2-D8E2-BCB453ABD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ABA6772-7DA9-22EC-EE27-32BE1CB7C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D32230-4A32-4BBE-7532-3DEC56FD9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74D5D6-E9D9-8FF1-CF35-6F7EA535D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44C85B-8528-F0C4-9F94-E4889353C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659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F7945-81DD-2089-8D26-8ED196C68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4BF6E6-66A0-5D75-DC1C-6D4806CDC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10EBE12-F197-113A-139F-60B3733C2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A5C14BC-1BE8-6477-1717-EC31F1859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8839BE-7AF4-050E-4123-2AAB3D966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AD6F0F-129D-B39E-6003-8D3A9A0D1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B561CE4-4B2B-8C19-2EB6-78A57A498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AF41A95-5569-A2DC-E316-1E1C5AB98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2333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941A43-79EE-610A-7541-70EDD47E1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BC6E6A-9383-76E3-8090-A4677604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D68E17-B6C1-D582-9937-40C14B13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A049C1E-A3AA-4F39-8919-C0CAFF130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804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7F613FF-B32A-FCD0-1AED-20C3D260B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2EF22C1-2167-39D8-CC48-493591C19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1D84E9-AD33-4E85-243D-E2F3821B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810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62EE7-5AD9-E2A3-9955-D7C7B4BAB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F9869B-E084-51FE-22ED-97D03BDDC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759A83C-57DB-A27D-A722-B603360EB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075AED6-534C-2309-634D-197C5EC61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3B1DBB-AD3E-CBFF-B9E6-3D74A82F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F37A225-8D2D-FBA2-3CF8-6599CBCD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861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C8615-D6A8-AAB8-8C42-FECB8C8D2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E7DA11F-8D0C-19C2-F6EC-0E23EA387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CE88FBB-AA22-9BBE-8DB7-6F9B8910D0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0369E8-7180-A9E1-66A5-74D741F03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B3B854-3E02-59A4-2E41-5B9066577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FB1B2C-4910-EC55-3027-2BB01BBF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139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D79B9-2699-41A1-0015-5461D1CF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3D5451-8C92-3AFC-2EF0-E670F4415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CD0D4F-9C78-DCE5-95C5-E56299110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AF8913-2347-C89B-7369-66F0218D3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509CD4-8B26-CC58-C048-F2D551120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5977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B461FC6-63A4-EE9C-483A-90729C99E6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8CC05E-0190-2E79-BAF9-C02356D55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9A8AC2-1311-FD85-E501-3D648E251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74F507-4D5F-123A-DADC-E25BF65A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05669A-4C8C-B3B5-E82A-353008E5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979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AB25DA4-37DE-C708-86D8-E791788BF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228B03-7F50-DFC0-3AF0-7134E3235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D3073B-2CA2-2D07-6509-90164FB75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5B931B-3E4D-46FF-A1E8-1ACD762192A0}" type="datetimeFigureOut">
              <a:rPr lang="es-MX" smtClean="0"/>
              <a:t>06/02/2026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D29E08-4667-C664-48D6-31F51E18D3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0B3F33-A1F1-EA87-AD80-07EB8FD790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D2DD0A-1263-4533-87AE-1EDF0C7F2DB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2740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lipse 18">
            <a:extLst>
              <a:ext uri="{FF2B5EF4-FFF2-40B4-BE49-F238E27FC236}">
                <a16:creationId xmlns:a16="http://schemas.microsoft.com/office/drawing/2014/main" id="{0D3C31CF-ECED-39CB-01BA-256BB477A709}"/>
              </a:ext>
            </a:extLst>
          </p:cNvPr>
          <p:cNvSpPr/>
          <p:nvPr/>
        </p:nvSpPr>
        <p:spPr>
          <a:xfrm>
            <a:off x="3281382" y="6298071"/>
            <a:ext cx="1818015" cy="260418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821FCEC-F2B0-3EA4-DC1A-9E2CECE80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87" b="96353" l="9870" r="89758">
                        <a14:foregroundMark x1="46182" y1="10557" x2="52328" y2="10940"/>
                        <a14:foregroundMark x1="48976" y1="6910" x2="50093" y2="2879"/>
                        <a14:foregroundMark x1="47858" y1="96353" x2="48045" y2="8023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92707" y="1539731"/>
            <a:ext cx="5195364" cy="504056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4145CA9-C913-DB46-467F-D43AF0725DA5}"/>
              </a:ext>
            </a:extLst>
          </p:cNvPr>
          <p:cNvSpPr txBox="1"/>
          <p:nvPr/>
        </p:nvSpPr>
        <p:spPr>
          <a:xfrm>
            <a:off x="7271072" y="1981612"/>
            <a:ext cx="185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/>
              <a:t>Cycadales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5810C3D-C468-CD11-DAB7-07648FDC6A2D}"/>
              </a:ext>
            </a:extLst>
          </p:cNvPr>
          <p:cNvSpPr txBox="1"/>
          <p:nvPr/>
        </p:nvSpPr>
        <p:spPr>
          <a:xfrm>
            <a:off x="6242413" y="3097325"/>
            <a:ext cx="185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/>
              <a:t>Cycadaceae</a:t>
            </a:r>
            <a:endParaRPr lang="es-MX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1DD865E-B552-A9AA-9C10-1732BCB1E7EE}"/>
              </a:ext>
            </a:extLst>
          </p:cNvPr>
          <p:cNvSpPr txBox="1"/>
          <p:nvPr/>
        </p:nvSpPr>
        <p:spPr>
          <a:xfrm>
            <a:off x="8095006" y="3097325"/>
            <a:ext cx="185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err="1"/>
              <a:t>Zamiaceae</a:t>
            </a:r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59EC1E9-3DB9-2022-D05C-C6E83C97BC00}"/>
              </a:ext>
            </a:extLst>
          </p:cNvPr>
          <p:cNvSpPr txBox="1"/>
          <p:nvPr/>
        </p:nvSpPr>
        <p:spPr>
          <a:xfrm>
            <a:off x="6242412" y="3643113"/>
            <a:ext cx="1852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i="1" dirty="0" err="1"/>
              <a:t>Cycas</a:t>
            </a:r>
            <a:endParaRPr lang="es-MX" i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AEE66E7-B698-F1FC-C045-04164789FD3C}"/>
              </a:ext>
            </a:extLst>
          </p:cNvPr>
          <p:cNvSpPr txBox="1"/>
          <p:nvPr/>
        </p:nvSpPr>
        <p:spPr>
          <a:xfrm>
            <a:off x="8095005" y="3643113"/>
            <a:ext cx="185259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i="1" dirty="0" err="1"/>
              <a:t>Zamias</a:t>
            </a:r>
            <a:endParaRPr lang="es-MX" i="1" dirty="0"/>
          </a:p>
          <a:p>
            <a:pPr algn="ctr"/>
            <a:r>
              <a:rPr lang="es-MX" i="1" dirty="0" err="1"/>
              <a:t>Ceratozamia</a:t>
            </a:r>
            <a:endParaRPr lang="es-MX" i="1" dirty="0"/>
          </a:p>
          <a:p>
            <a:pPr algn="ctr"/>
            <a:r>
              <a:rPr lang="es-MX" i="1" dirty="0" err="1"/>
              <a:t>Dioon</a:t>
            </a:r>
            <a:endParaRPr lang="es-MX" i="1" dirty="0"/>
          </a:p>
          <a:p>
            <a:pPr algn="ctr"/>
            <a:r>
              <a:rPr lang="es-MX" i="1" dirty="0" err="1"/>
              <a:t>Microcycas</a:t>
            </a:r>
            <a:endParaRPr lang="es-MX" i="1" dirty="0"/>
          </a:p>
          <a:p>
            <a:pPr algn="ctr"/>
            <a:r>
              <a:rPr lang="es-MX" i="1" dirty="0" err="1"/>
              <a:t>Macrozamia</a:t>
            </a:r>
            <a:endParaRPr lang="es-MX" i="1" dirty="0"/>
          </a:p>
          <a:p>
            <a:pPr algn="ctr"/>
            <a:r>
              <a:rPr lang="es-MX" i="1" dirty="0" err="1"/>
              <a:t>Lepidozamia</a:t>
            </a:r>
            <a:endParaRPr lang="es-MX" i="1" dirty="0"/>
          </a:p>
          <a:p>
            <a:pPr algn="ctr"/>
            <a:r>
              <a:rPr lang="es-MX" i="1" dirty="0" err="1"/>
              <a:t>Encephalartos</a:t>
            </a:r>
            <a:endParaRPr lang="es-MX" i="1" dirty="0"/>
          </a:p>
          <a:p>
            <a:pPr algn="ctr"/>
            <a:r>
              <a:rPr lang="es-MX" i="1" dirty="0" err="1"/>
              <a:t>Bowenia</a:t>
            </a:r>
            <a:endParaRPr lang="es-MX" i="1" dirty="0"/>
          </a:p>
          <a:p>
            <a:pPr algn="ctr"/>
            <a:r>
              <a:rPr lang="es-MX" i="1" dirty="0" err="1"/>
              <a:t>Stangeria</a:t>
            </a:r>
            <a:endParaRPr lang="es-MX" i="1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F58195E-EFC6-36DE-4764-71A56C0B53CC}"/>
              </a:ext>
            </a:extLst>
          </p:cNvPr>
          <p:cNvSpPr txBox="1"/>
          <p:nvPr/>
        </p:nvSpPr>
        <p:spPr>
          <a:xfrm>
            <a:off x="1317538" y="5122812"/>
            <a:ext cx="27663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Hojas compuestas</a:t>
            </a:r>
          </a:p>
          <a:p>
            <a:pPr algn="ctr"/>
            <a:r>
              <a:rPr lang="es-MX" dirty="0"/>
              <a:t>Foliolos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E5E1F2F-8A57-E316-AFB4-042D0EF54664}"/>
              </a:ext>
            </a:extLst>
          </p:cNvPr>
          <p:cNvSpPr txBox="1"/>
          <p:nvPr/>
        </p:nvSpPr>
        <p:spPr>
          <a:xfrm>
            <a:off x="4877740" y="6020877"/>
            <a:ext cx="1910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Estróbilo o  Cono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16260D6-787F-095B-6E02-467AB923245D}"/>
              </a:ext>
            </a:extLst>
          </p:cNvPr>
          <p:cNvSpPr txBox="1"/>
          <p:nvPr/>
        </p:nvSpPr>
        <p:spPr>
          <a:xfrm>
            <a:off x="1830157" y="5990055"/>
            <a:ext cx="1451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Escamas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A2EA723A-544D-11B4-FD2C-85179727E004}"/>
              </a:ext>
            </a:extLst>
          </p:cNvPr>
          <p:cNvCxnSpPr>
            <a:cxnSpLocks/>
          </p:cNvCxnSpPr>
          <p:nvPr/>
        </p:nvCxnSpPr>
        <p:spPr>
          <a:xfrm>
            <a:off x="3049631" y="6205543"/>
            <a:ext cx="8006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Abrir llave 25">
            <a:extLst>
              <a:ext uri="{FF2B5EF4-FFF2-40B4-BE49-F238E27FC236}">
                <a16:creationId xmlns:a16="http://schemas.microsoft.com/office/drawing/2014/main" id="{BFD140CF-7E16-446B-3E93-EBC79CCF4308}"/>
              </a:ext>
            </a:extLst>
          </p:cNvPr>
          <p:cNvSpPr/>
          <p:nvPr/>
        </p:nvSpPr>
        <p:spPr>
          <a:xfrm rot="5400000">
            <a:off x="7884652" y="1444839"/>
            <a:ext cx="411625" cy="2585323"/>
          </a:xfrm>
          <a:prstGeom prst="leftBrace">
            <a:avLst>
              <a:gd name="adj1" fmla="val 41120"/>
              <a:gd name="adj2" fmla="val 50397"/>
            </a:avLst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A4648C54-127E-3CA0-D789-1C4EE3BF867B}"/>
              </a:ext>
            </a:extLst>
          </p:cNvPr>
          <p:cNvCxnSpPr>
            <a:cxnSpLocks/>
          </p:cNvCxnSpPr>
          <p:nvPr/>
        </p:nvCxnSpPr>
        <p:spPr>
          <a:xfrm>
            <a:off x="7101150" y="3481071"/>
            <a:ext cx="0" cy="21947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72B3E12-EAE1-C37A-ED9B-F50A4564679D}"/>
              </a:ext>
            </a:extLst>
          </p:cNvPr>
          <p:cNvCxnSpPr>
            <a:cxnSpLocks/>
          </p:cNvCxnSpPr>
          <p:nvPr/>
        </p:nvCxnSpPr>
        <p:spPr>
          <a:xfrm>
            <a:off x="9026622" y="3458813"/>
            <a:ext cx="0" cy="219475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7F020BF8-30DA-E761-6761-84C130556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247" y="4451243"/>
            <a:ext cx="1122773" cy="1497030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AAAE6616-EE82-7F49-D705-86D6CA96A047}"/>
              </a:ext>
            </a:extLst>
          </p:cNvPr>
          <p:cNvCxnSpPr>
            <a:cxnSpLocks/>
          </p:cNvCxnSpPr>
          <p:nvPr/>
        </p:nvCxnSpPr>
        <p:spPr>
          <a:xfrm>
            <a:off x="4445204" y="5515462"/>
            <a:ext cx="800679" cy="0"/>
          </a:xfrm>
          <a:prstGeom prst="straightConnector1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F7C65055-A65D-41C5-6AE0-E5B856DEA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551" y="21416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s-MX" sz="2800" b="1" dirty="0"/>
              <a:t>Estudio metabolómico y potencial farmacológico de cícadas nativas (</a:t>
            </a:r>
            <a:r>
              <a:rPr lang="es-MX" sz="2800" b="1" dirty="0" err="1"/>
              <a:t>Cycadales</a:t>
            </a:r>
            <a:r>
              <a:rPr lang="es-MX" sz="2800" b="1" dirty="0"/>
              <a:t>) presentes en la Colección Nacional del Jardín Botánico Francisco Javier Clavijero</a:t>
            </a:r>
            <a:endParaRPr lang="es-MX" sz="2800" dirty="0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CF4FE29-CA8D-6DB7-AC25-F05CBDDCA1D0}"/>
              </a:ext>
            </a:extLst>
          </p:cNvPr>
          <p:cNvSpPr/>
          <p:nvPr/>
        </p:nvSpPr>
        <p:spPr>
          <a:xfrm>
            <a:off x="8197369" y="3662968"/>
            <a:ext cx="1739498" cy="876270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B49AF2AA-FD19-E338-594A-1522AB9E74A2}"/>
              </a:ext>
            </a:extLst>
          </p:cNvPr>
          <p:cNvCxnSpPr>
            <a:cxnSpLocks/>
          </p:cNvCxnSpPr>
          <p:nvPr/>
        </p:nvCxnSpPr>
        <p:spPr>
          <a:xfrm rot="5400000">
            <a:off x="2089566" y="4256236"/>
            <a:ext cx="1062800" cy="670357"/>
          </a:xfrm>
          <a:prstGeom prst="bentConnector3">
            <a:avLst>
              <a:gd name="adj1" fmla="val -679"/>
            </a:avLst>
          </a:prstGeom>
          <a:ln w="38100">
            <a:solidFill>
              <a:schemeClr val="accent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F94415EA-65C7-CE2E-E778-4AF33446A2C7}"/>
              </a:ext>
            </a:extLst>
          </p:cNvPr>
          <p:cNvSpPr txBox="1"/>
          <p:nvPr/>
        </p:nvSpPr>
        <p:spPr>
          <a:xfrm>
            <a:off x="8542751" y="1324411"/>
            <a:ext cx="28453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Charín </a:t>
            </a:r>
            <a:r>
              <a:rPr lang="es-MX" dirty="0" err="1"/>
              <a:t>Mtz</a:t>
            </a:r>
            <a:r>
              <a:rPr lang="es-MX" dirty="0"/>
              <a:t> Gendrón</a:t>
            </a:r>
          </a:p>
        </p:txBody>
      </p:sp>
    </p:spTree>
    <p:extLst>
      <p:ext uri="{BB962C8B-B14F-4D97-AF65-F5344CB8AC3E}">
        <p14:creationId xmlns:p14="http://schemas.microsoft.com/office/powerpoint/2010/main" val="1462126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3DF1EA11-E8F7-1398-14B1-8E231B2D8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58" y="809270"/>
            <a:ext cx="10123483" cy="569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38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95EB5ED1-B8A5-1E26-0736-54ABD1A054FC}"/>
              </a:ext>
            </a:extLst>
          </p:cNvPr>
          <p:cNvSpPr/>
          <p:nvPr/>
        </p:nvSpPr>
        <p:spPr>
          <a:xfrm>
            <a:off x="3866140" y="2480157"/>
            <a:ext cx="1941534" cy="1979112"/>
          </a:xfrm>
          <a:prstGeom prst="ellipse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Perfil metabólico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BD807F7-C447-8F07-B12F-794D2183014B}"/>
              </a:ext>
            </a:extLst>
          </p:cNvPr>
          <p:cNvSpPr txBox="1"/>
          <p:nvPr/>
        </p:nvSpPr>
        <p:spPr>
          <a:xfrm>
            <a:off x="214394" y="351081"/>
            <a:ext cx="60939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800" dirty="0">
                <a:effectLst/>
                <a:ea typeface="Times New Roman" panose="02020603050405020304" pitchFamily="18" charset="0"/>
              </a:rPr>
              <a:t>¿Qué diferencias o similitudes existen en los perfiles metabólicos de las especies nativas de cícadas presentes en CNC?</a:t>
            </a:r>
            <a:endParaRPr lang="es-MX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06C1D4F-6E2D-18FE-BACA-754F60BB79FD}"/>
              </a:ext>
            </a:extLst>
          </p:cNvPr>
          <p:cNvSpPr/>
          <p:nvPr/>
        </p:nvSpPr>
        <p:spPr>
          <a:xfrm>
            <a:off x="1869033" y="1790179"/>
            <a:ext cx="1054275" cy="11033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Edad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F014CA50-50F2-0A16-F489-FF26B607E2C2}"/>
              </a:ext>
            </a:extLst>
          </p:cNvPr>
          <p:cNvSpPr/>
          <p:nvPr/>
        </p:nvSpPr>
        <p:spPr>
          <a:xfrm>
            <a:off x="891842" y="2958753"/>
            <a:ext cx="1054275" cy="11033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Sexo (M/H)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F1BA7F6-D636-A9B4-8449-DDA4371104AE}"/>
              </a:ext>
            </a:extLst>
          </p:cNvPr>
          <p:cNvSpPr/>
          <p:nvPr/>
        </p:nvSpPr>
        <p:spPr>
          <a:xfrm>
            <a:off x="1869031" y="4345491"/>
            <a:ext cx="1054275" cy="11033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CNC</a:t>
            </a:r>
          </a:p>
        </p:txBody>
      </p: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50801C85-70F3-EE93-E145-3F44945CA289}"/>
              </a:ext>
            </a:extLst>
          </p:cNvPr>
          <p:cNvCxnSpPr>
            <a:cxnSpLocks/>
            <a:stCxn id="12" idx="6"/>
          </p:cNvCxnSpPr>
          <p:nvPr/>
        </p:nvCxnSpPr>
        <p:spPr>
          <a:xfrm>
            <a:off x="2923308" y="2341846"/>
            <a:ext cx="1147651" cy="551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F2CBE039-B8C3-BC9D-9FA6-A1136FEEA98B}"/>
              </a:ext>
            </a:extLst>
          </p:cNvPr>
          <p:cNvCxnSpPr>
            <a:cxnSpLocks/>
            <a:stCxn id="14" idx="6"/>
          </p:cNvCxnSpPr>
          <p:nvPr/>
        </p:nvCxnSpPr>
        <p:spPr>
          <a:xfrm>
            <a:off x="1946117" y="3510420"/>
            <a:ext cx="19415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D8D1BDAB-E356-F1B4-2D5D-E7A108CE0537}"/>
              </a:ext>
            </a:extLst>
          </p:cNvPr>
          <p:cNvCxnSpPr>
            <a:cxnSpLocks/>
            <a:stCxn id="15" idx="6"/>
            <a:endCxn id="4" idx="3"/>
          </p:cNvCxnSpPr>
          <p:nvPr/>
        </p:nvCxnSpPr>
        <p:spPr>
          <a:xfrm flipV="1">
            <a:off x="2923306" y="4169435"/>
            <a:ext cx="1227165" cy="727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ipse 6">
            <a:extLst>
              <a:ext uri="{FF2B5EF4-FFF2-40B4-BE49-F238E27FC236}">
                <a16:creationId xmlns:a16="http://schemas.microsoft.com/office/drawing/2014/main" id="{60A0513B-531E-63AD-36F8-08279E74B2BB}"/>
              </a:ext>
            </a:extLst>
          </p:cNvPr>
          <p:cNvSpPr/>
          <p:nvPr/>
        </p:nvSpPr>
        <p:spPr>
          <a:xfrm>
            <a:off x="7197249" y="2520863"/>
            <a:ext cx="1941534" cy="197911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Proceso de extracción</a:t>
            </a: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B431898-380C-E2C1-5005-FE43FF9F99DD}"/>
              </a:ext>
            </a:extLst>
          </p:cNvPr>
          <p:cNvCxnSpPr>
            <a:cxnSpLocks/>
            <a:stCxn id="7" idx="2"/>
            <a:endCxn id="4" idx="6"/>
          </p:cNvCxnSpPr>
          <p:nvPr/>
        </p:nvCxnSpPr>
        <p:spPr>
          <a:xfrm flipH="1" flipV="1">
            <a:off x="5807674" y="3469713"/>
            <a:ext cx="1389575" cy="40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D03D061D-9F0E-9EE6-B602-E87554D2BC06}"/>
              </a:ext>
            </a:extLst>
          </p:cNvPr>
          <p:cNvSpPr/>
          <p:nvPr/>
        </p:nvSpPr>
        <p:spPr>
          <a:xfrm>
            <a:off x="7503090" y="402078"/>
            <a:ext cx="1329849" cy="12766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Técnica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0F466724-04D9-A8E4-46A9-7C0C082A6E98}"/>
              </a:ext>
            </a:extLst>
          </p:cNvPr>
          <p:cNvSpPr/>
          <p:nvPr/>
        </p:nvSpPr>
        <p:spPr>
          <a:xfrm>
            <a:off x="7503091" y="5448824"/>
            <a:ext cx="1329849" cy="12766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Equipo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AC44A63-DEEB-A845-C66A-FC2CA60AEF8D}"/>
              </a:ext>
            </a:extLst>
          </p:cNvPr>
          <p:cNvCxnSpPr>
            <a:cxnSpLocks/>
            <a:stCxn id="17" idx="4"/>
            <a:endCxn id="7" idx="0"/>
          </p:cNvCxnSpPr>
          <p:nvPr/>
        </p:nvCxnSpPr>
        <p:spPr>
          <a:xfrm>
            <a:off x="8168015" y="1678692"/>
            <a:ext cx="1" cy="8421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809419A9-F5AA-CD32-86F6-2142742388C3}"/>
              </a:ext>
            </a:extLst>
          </p:cNvPr>
          <p:cNvCxnSpPr>
            <a:stCxn id="19" idx="0"/>
            <a:endCxn id="7" idx="4"/>
          </p:cNvCxnSpPr>
          <p:nvPr/>
        </p:nvCxnSpPr>
        <p:spPr>
          <a:xfrm flipV="1">
            <a:off x="8168016" y="4499975"/>
            <a:ext cx="0" cy="948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53825626-FE75-94D7-CE1D-8B0B51AB9E60}"/>
              </a:ext>
            </a:extLst>
          </p:cNvPr>
          <p:cNvSpPr/>
          <p:nvPr/>
        </p:nvSpPr>
        <p:spPr>
          <a:xfrm>
            <a:off x="3887651" y="5539200"/>
            <a:ext cx="1941534" cy="111537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Identidad taxonómica</a:t>
            </a:r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981B9169-4084-9A23-9F2D-0A1ED4F8C5F0}"/>
              </a:ext>
            </a:extLst>
          </p:cNvPr>
          <p:cNvCxnSpPr>
            <a:cxnSpLocks/>
            <a:stCxn id="35" idx="0"/>
            <a:endCxn id="4" idx="4"/>
          </p:cNvCxnSpPr>
          <p:nvPr/>
        </p:nvCxnSpPr>
        <p:spPr>
          <a:xfrm flipH="1" flipV="1">
            <a:off x="4836907" y="4459269"/>
            <a:ext cx="21511" cy="1079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797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82</Words>
  <Application>Microsoft Office PowerPoint</Application>
  <PresentationFormat>Panorámica</PresentationFormat>
  <Paragraphs>28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Tema de Office</vt:lpstr>
      <vt:lpstr>Estudio metabolómico y potencial farmacológico de cícadas nativas (Cycadales) presentes en la Colección Nacional del Jardín Botánico Francisco Javier Clavijero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Chs Mnz</dc:creator>
  <cp:lastModifiedBy>Chs Mnz</cp:lastModifiedBy>
  <cp:revision>3</cp:revision>
  <dcterms:created xsi:type="dcterms:W3CDTF">2026-02-05T22:00:41Z</dcterms:created>
  <dcterms:modified xsi:type="dcterms:W3CDTF">2026-02-06T19:09:38Z</dcterms:modified>
</cp:coreProperties>
</file>