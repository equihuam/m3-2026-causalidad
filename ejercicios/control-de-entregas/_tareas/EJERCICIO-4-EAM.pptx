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56" r:id="rId3"/>
    <p:sldId id="257" r:id="rId4"/>
    <p:sldId id="259"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E3566C5D-8916-461D-8527-7FFE51BE0653}" type="datetimeFigureOut">
              <a:rPr lang="es-MX" smtClean="0"/>
              <a:t>05/02/2026</a:t>
            </a:fld>
            <a:endParaRPr lang="es-MX"/>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s-MX"/>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F502FF29-19B7-47CD-970F-A87844B1C6E7}" type="slidenum">
              <a:rPr lang="es-MX" smtClean="0"/>
              <a:t>‹Nº›</a:t>
            </a:fld>
            <a:endParaRPr lang="es-MX"/>
          </a:p>
        </p:txBody>
      </p:sp>
    </p:spTree>
    <p:extLst>
      <p:ext uri="{BB962C8B-B14F-4D97-AF65-F5344CB8AC3E}">
        <p14:creationId xmlns:p14="http://schemas.microsoft.com/office/powerpoint/2010/main" val="30813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3566C5D-8916-461D-8527-7FFE51BE0653}" type="datetimeFigureOut">
              <a:rPr lang="es-MX" smtClean="0"/>
              <a:t>05/02/2026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3771097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3566C5D-8916-461D-8527-7FFE51BE0653}" type="datetimeFigureOut">
              <a:rPr lang="es-MX" smtClean="0"/>
              <a:t>05/02/2026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3625425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3566C5D-8916-461D-8527-7FFE51BE0653}" type="datetimeFigureOut">
              <a:rPr lang="es-MX" smtClean="0"/>
              <a:t>05/02/2026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371163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3566C5D-8916-461D-8527-7FFE51BE0653}" type="datetimeFigureOut">
              <a:rPr lang="es-MX" smtClean="0"/>
              <a:t>05/02/2026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1621693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3566C5D-8916-461D-8527-7FFE51BE0653}" type="datetimeFigureOut">
              <a:rPr lang="es-MX" smtClean="0"/>
              <a:t>05/02/2026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1787542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566C5D-8916-461D-8527-7FFE51BE0653}" type="datetimeFigureOut">
              <a:rPr lang="es-MX" smtClean="0"/>
              <a:t>05/02/2026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2461360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s-ES"/>
              <a:t>Haga clic para modificar los estilos de texto del patrón</a:t>
            </a:r>
          </a:p>
        </p:txBody>
      </p:sp>
      <p:sp>
        <p:nvSpPr>
          <p:cNvPr id="5" name="Date Placeholder 4"/>
          <p:cNvSpPr>
            <a:spLocks noGrp="1"/>
          </p:cNvSpPr>
          <p:nvPr>
            <p:ph type="dt" sz="half" idx="10"/>
          </p:nvPr>
        </p:nvSpPr>
        <p:spPr/>
        <p:txBody>
          <a:bodyPr/>
          <a:lstStyle/>
          <a:p>
            <a:fld id="{E3566C5D-8916-461D-8527-7FFE51BE0653}" type="datetimeFigureOut">
              <a:rPr lang="es-MX" smtClean="0"/>
              <a:t>05/02/2026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F502FF29-19B7-47CD-970F-A87844B1C6E7}" type="slidenum">
              <a:rPr lang="es-MX" smtClean="0"/>
              <a:t>‹Nº›</a:t>
            </a:fld>
            <a:endParaRPr lang="es-MX"/>
          </a:p>
        </p:txBody>
      </p:sp>
    </p:spTree>
    <p:extLst>
      <p:ext uri="{BB962C8B-B14F-4D97-AF65-F5344CB8AC3E}">
        <p14:creationId xmlns:p14="http://schemas.microsoft.com/office/powerpoint/2010/main" val="1141102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E3566C5D-8916-461D-8527-7FFE51BE0653}" type="datetimeFigureOut">
              <a:rPr lang="es-MX" smtClean="0"/>
              <a:t>05/02/2026</a:t>
            </a:fld>
            <a:endParaRPr lang="es-MX"/>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s-MX"/>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F502FF29-19B7-47CD-970F-A87844B1C6E7}" type="slidenum">
              <a:rPr lang="es-MX" smtClean="0"/>
              <a:t>‹Nº›</a:t>
            </a:fld>
            <a:endParaRPr lang="es-MX"/>
          </a:p>
        </p:txBody>
      </p:sp>
    </p:spTree>
    <p:extLst>
      <p:ext uri="{BB962C8B-B14F-4D97-AF65-F5344CB8AC3E}">
        <p14:creationId xmlns:p14="http://schemas.microsoft.com/office/powerpoint/2010/main" val="331677056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3566C5D-8916-461D-8527-7FFE51BE0653}" type="datetimeFigureOut">
              <a:rPr lang="es-MX" smtClean="0"/>
              <a:t>05/02/2026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3635218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3566C5D-8916-461D-8527-7FFE51BE0653}" type="datetimeFigureOut">
              <a:rPr lang="es-MX" smtClean="0"/>
              <a:t>05/02/2026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02FF29-19B7-47CD-970F-A87844B1C6E7}" type="slidenum">
              <a:rPr lang="es-MX" smtClean="0"/>
              <a:t>‹Nº›</a:t>
            </a:fld>
            <a:endParaRPr lang="es-MX"/>
          </a:p>
        </p:txBody>
      </p:sp>
    </p:spTree>
    <p:extLst>
      <p:ext uri="{BB962C8B-B14F-4D97-AF65-F5344CB8AC3E}">
        <p14:creationId xmlns:p14="http://schemas.microsoft.com/office/powerpoint/2010/main" val="3450419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E6F59D-EA01-34C5-32F6-085D0C6B050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19349F3-74A3-D070-7230-70B7728ED4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1692ADD-04CB-C50A-18E3-5202E692F60A}"/>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5" name="Marcador de pie de página 4">
            <a:extLst>
              <a:ext uri="{FF2B5EF4-FFF2-40B4-BE49-F238E27FC236}">
                <a16:creationId xmlns:a16="http://schemas.microsoft.com/office/drawing/2014/main" id="{831AF26B-0867-5FFA-DE02-0B858BF1536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57C162C-2429-B258-C95F-CFB4BF768DFD}"/>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545676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D51EAB-1B8B-7240-3891-760F261A7EE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210E9D1-ACBE-037E-0F0F-4F2493D28FD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BFDE51D-0B84-F5DF-48E6-397086C82263}"/>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5" name="Marcador de pie de página 4">
            <a:extLst>
              <a:ext uri="{FF2B5EF4-FFF2-40B4-BE49-F238E27FC236}">
                <a16:creationId xmlns:a16="http://schemas.microsoft.com/office/drawing/2014/main" id="{B87BC4F8-8052-35D4-C3A5-56C75813ECD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0108ED6-9A16-10A6-8AF2-4294BD7FF023}"/>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4003925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BA759B-4F6D-4542-8F99-5DEF5707CDA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34638D5-D8D3-703A-1905-E21F1BB04D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FBB9D83-5D50-DDEA-4E73-E97B54F2932F}"/>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5" name="Marcador de pie de página 4">
            <a:extLst>
              <a:ext uri="{FF2B5EF4-FFF2-40B4-BE49-F238E27FC236}">
                <a16:creationId xmlns:a16="http://schemas.microsoft.com/office/drawing/2014/main" id="{4F75B584-266F-CD11-ACCC-D00122D6B9A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0E19F09-0C15-AD39-E555-511A8BB0E97D}"/>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1667745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BB98E8-3591-4295-0F2B-C0A7AE6DA11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B73FDEC-47EF-3296-682D-ABEDCC4EE1E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C067D13-555B-8235-B5BA-ACACDEF8BB9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E2AFF41-B01B-0A83-F8F7-ED489695F20C}"/>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6" name="Marcador de pie de página 5">
            <a:extLst>
              <a:ext uri="{FF2B5EF4-FFF2-40B4-BE49-F238E27FC236}">
                <a16:creationId xmlns:a16="http://schemas.microsoft.com/office/drawing/2014/main" id="{AA12B6E2-5496-D055-81A7-BA8303E9428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7DC58F2-C602-5B62-7074-0748E98F2870}"/>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427866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1287E9-1611-42CB-30F2-096A9FA5558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F03772F-BC38-317C-2D0D-B5A9710532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563D7FD-4DB7-2DBC-5508-9599A643F4A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48C50B7-5E8A-BB55-0BE4-490E781FFD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26BE6D4-1E04-431A-4A52-92FB00CF420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5F9F237-75AC-0C6B-486F-8BBF4DE7EEC9}"/>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8" name="Marcador de pie de página 7">
            <a:extLst>
              <a:ext uri="{FF2B5EF4-FFF2-40B4-BE49-F238E27FC236}">
                <a16:creationId xmlns:a16="http://schemas.microsoft.com/office/drawing/2014/main" id="{CCE65A16-C94C-1159-162A-A8EF7968B310}"/>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5B2CD2F-354D-81DC-BF77-0B47FE331442}"/>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771445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F92DBF-4881-0DB5-1AB6-E3DC4952E7A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5C0367C-D53A-F59D-2AA1-B44E003A0BC3}"/>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4" name="Marcador de pie de página 3">
            <a:extLst>
              <a:ext uri="{FF2B5EF4-FFF2-40B4-BE49-F238E27FC236}">
                <a16:creationId xmlns:a16="http://schemas.microsoft.com/office/drawing/2014/main" id="{C2CBD104-4BDF-48E4-08C7-BCEEAB259DD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05CE025D-599C-75B2-7E1F-E058EADF8AED}"/>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32128714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E0305AD-CC67-D218-2B88-2F9DD3E46416}"/>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3" name="Marcador de pie de página 2">
            <a:extLst>
              <a:ext uri="{FF2B5EF4-FFF2-40B4-BE49-F238E27FC236}">
                <a16:creationId xmlns:a16="http://schemas.microsoft.com/office/drawing/2014/main" id="{4B5987B8-146C-F2D7-301F-CB80D935640C}"/>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5C26FAB-34D0-89D6-6808-10837D1A0F20}"/>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35199635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BADB25-791A-27EC-4AB2-AC341028F78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0B60C48-97C9-43EF-7020-043C978A74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F5933AF2-DD70-899B-D169-80419BD92C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52F34F2-03EB-14EC-EF00-71299A65CE5B}"/>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6" name="Marcador de pie de página 5">
            <a:extLst>
              <a:ext uri="{FF2B5EF4-FFF2-40B4-BE49-F238E27FC236}">
                <a16:creationId xmlns:a16="http://schemas.microsoft.com/office/drawing/2014/main" id="{D16AE01D-EB3D-75F3-0F36-821448D23E9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288414A-168A-9A7E-37A2-170528305E0F}"/>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4589637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ADAE60-9A78-8436-655A-712D6C76E9E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59E24EFA-6FA5-E712-580D-79C5D89991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AC43705-8D05-3F64-6A03-71FA99DB2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7BF38E-5E3B-A5B8-2BB5-048A1096B895}"/>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6" name="Marcador de pie de página 5">
            <a:extLst>
              <a:ext uri="{FF2B5EF4-FFF2-40B4-BE49-F238E27FC236}">
                <a16:creationId xmlns:a16="http://schemas.microsoft.com/office/drawing/2014/main" id="{1021E314-FED1-F944-0DAF-AEC0918A6CA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ED99CC7-0B27-5296-8B77-32CDDFCBF0AD}"/>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27955137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C3C9E2-4948-1EE1-FDD9-B881BCF5A76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950A681-5A73-B0FE-8D2C-D8FA26FC2E3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2748B79-A995-C171-2F05-1A7E43BD038F}"/>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5" name="Marcador de pie de página 4">
            <a:extLst>
              <a:ext uri="{FF2B5EF4-FFF2-40B4-BE49-F238E27FC236}">
                <a16:creationId xmlns:a16="http://schemas.microsoft.com/office/drawing/2014/main" id="{DECF186B-9429-6CD3-B7C1-7FE12E6783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9E95175-4B5C-C15E-6010-C5C4B29AB0AE}"/>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3373871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A3590D9-10CD-F463-5D92-10169CBCBA0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7B2A5CE-529B-15DD-11BE-7CF8E8CA634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D54C91E-CD42-E581-FD52-049EC1EAF02C}"/>
              </a:ext>
            </a:extLst>
          </p:cNvPr>
          <p:cNvSpPr>
            <a:spLocks noGrp="1"/>
          </p:cNvSpPr>
          <p:nvPr>
            <p:ph type="dt" sz="half" idx="10"/>
          </p:nvPr>
        </p:nvSpPr>
        <p:spPr/>
        <p:txBody>
          <a:bodyPr/>
          <a:lstStyle/>
          <a:p>
            <a:fld id="{84D7A2A5-2880-433D-9648-77372108F968}" type="datetimeFigureOut">
              <a:rPr lang="es-MX" smtClean="0"/>
              <a:t>05/02/2026</a:t>
            </a:fld>
            <a:endParaRPr lang="es-MX"/>
          </a:p>
        </p:txBody>
      </p:sp>
      <p:sp>
        <p:nvSpPr>
          <p:cNvPr id="5" name="Marcador de pie de página 4">
            <a:extLst>
              <a:ext uri="{FF2B5EF4-FFF2-40B4-BE49-F238E27FC236}">
                <a16:creationId xmlns:a16="http://schemas.microsoft.com/office/drawing/2014/main" id="{6A560953-3C06-6E96-6F32-4A6B5E0B215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3256D10-A421-618C-332F-0FA5D5BD0DD4}"/>
              </a:ext>
            </a:extLst>
          </p:cNvPr>
          <p:cNvSpPr>
            <a:spLocks noGrp="1"/>
          </p:cNvSpPr>
          <p:nvPr>
            <p:ph type="sldNum" sz="quarter" idx="12"/>
          </p:nvPr>
        </p:nvSpPr>
        <p:spPr/>
        <p:txBody>
          <a:bodyPr/>
          <a:lstStyle/>
          <a:p>
            <a:fld id="{6CBD5445-32FE-4EC7-B99C-FC7816FE7255}" type="slidenum">
              <a:rPr lang="es-MX" smtClean="0"/>
              <a:t>‹Nº›</a:t>
            </a:fld>
            <a:endParaRPr lang="es-MX"/>
          </a:p>
        </p:txBody>
      </p:sp>
    </p:spTree>
    <p:extLst>
      <p:ext uri="{BB962C8B-B14F-4D97-AF65-F5344CB8AC3E}">
        <p14:creationId xmlns:p14="http://schemas.microsoft.com/office/powerpoint/2010/main" val="1194422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E3566C5D-8916-461D-8527-7FFE51BE0653}" type="datetimeFigureOut">
              <a:rPr lang="es-MX" smtClean="0"/>
              <a:t>05/02/2026</a:t>
            </a:fld>
            <a:endParaRPr lang="es-MX"/>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s-MX"/>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F502FF29-19B7-47CD-970F-A87844B1C6E7}" type="slidenum">
              <a:rPr lang="es-MX" smtClean="0"/>
              <a:t>‹Nº›</a:t>
            </a:fld>
            <a:endParaRPr lang="es-MX"/>
          </a:p>
        </p:txBody>
      </p:sp>
    </p:spTree>
    <p:extLst>
      <p:ext uri="{BB962C8B-B14F-4D97-AF65-F5344CB8AC3E}">
        <p14:creationId xmlns:p14="http://schemas.microsoft.com/office/powerpoint/2010/main" val="4985174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FD7F5D7-A8F5-B35F-5EC7-10B10EF39D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CAF3C82-001C-FB32-4CE2-A5BAC7C857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4CEE0D5-7D0F-E5EF-77D8-69C6F287C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D7A2A5-2880-433D-9648-77372108F968}" type="datetimeFigureOut">
              <a:rPr lang="es-MX" smtClean="0"/>
              <a:t>05/02/2026</a:t>
            </a:fld>
            <a:endParaRPr lang="es-MX"/>
          </a:p>
        </p:txBody>
      </p:sp>
      <p:sp>
        <p:nvSpPr>
          <p:cNvPr id="5" name="Marcador de pie de página 4">
            <a:extLst>
              <a:ext uri="{FF2B5EF4-FFF2-40B4-BE49-F238E27FC236}">
                <a16:creationId xmlns:a16="http://schemas.microsoft.com/office/drawing/2014/main" id="{0F2B05C5-1CA5-FABD-12F8-96E6BA9E40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0101E38-D8D4-57C9-4F84-DFCA6371D4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BD5445-32FE-4EC7-B99C-FC7816FE7255}" type="slidenum">
              <a:rPr lang="es-MX" smtClean="0"/>
              <a:t>‹Nº›</a:t>
            </a:fld>
            <a:endParaRPr lang="es-MX"/>
          </a:p>
        </p:txBody>
      </p:sp>
    </p:spTree>
    <p:extLst>
      <p:ext uri="{BB962C8B-B14F-4D97-AF65-F5344CB8AC3E}">
        <p14:creationId xmlns:p14="http://schemas.microsoft.com/office/powerpoint/2010/main" val="25450708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5E7F5-D956-247B-2697-AEC1E52D86F4}"/>
              </a:ext>
            </a:extLst>
          </p:cNvPr>
          <p:cNvSpPr>
            <a:spLocks noGrp="1"/>
          </p:cNvSpPr>
          <p:nvPr>
            <p:ph type="ctrTitle"/>
          </p:nvPr>
        </p:nvSpPr>
        <p:spPr/>
        <p:txBody>
          <a:bodyPr/>
          <a:lstStyle/>
          <a:p>
            <a:pPr algn="ctr"/>
            <a:r>
              <a:rPr lang="es-ES" dirty="0"/>
              <a:t>Colonización secundaria y factores bióticos/abióticos</a:t>
            </a:r>
            <a:endParaRPr lang="es-MX" dirty="0"/>
          </a:p>
        </p:txBody>
      </p:sp>
      <p:sp>
        <p:nvSpPr>
          <p:cNvPr id="3" name="Subtítulo 2">
            <a:extLst>
              <a:ext uri="{FF2B5EF4-FFF2-40B4-BE49-F238E27FC236}">
                <a16:creationId xmlns:a16="http://schemas.microsoft.com/office/drawing/2014/main" id="{FE132951-4895-7622-DCBC-4762FBB8090C}"/>
              </a:ext>
            </a:extLst>
          </p:cNvPr>
          <p:cNvSpPr>
            <a:spLocks noGrp="1"/>
          </p:cNvSpPr>
          <p:nvPr>
            <p:ph type="subTitle" idx="1"/>
          </p:nvPr>
        </p:nvSpPr>
        <p:spPr/>
        <p:txBody>
          <a:bodyPr/>
          <a:lstStyle/>
          <a:p>
            <a:endParaRPr lang="es-ES" dirty="0"/>
          </a:p>
          <a:p>
            <a:r>
              <a:rPr lang="es-MX" dirty="0"/>
              <a:t>Eric Alvarado Meza</a:t>
            </a:r>
          </a:p>
        </p:txBody>
      </p:sp>
    </p:spTree>
    <p:extLst>
      <p:ext uri="{BB962C8B-B14F-4D97-AF65-F5344CB8AC3E}">
        <p14:creationId xmlns:p14="http://schemas.microsoft.com/office/powerpoint/2010/main" val="3991997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7B1CC4-3CBB-7CBF-0929-C511695E9A01}"/>
              </a:ext>
            </a:extLst>
          </p:cNvPr>
          <p:cNvSpPr>
            <a:spLocks noGrp="1"/>
          </p:cNvSpPr>
          <p:nvPr>
            <p:ph type="title"/>
          </p:nvPr>
        </p:nvSpPr>
        <p:spPr/>
        <p:txBody>
          <a:bodyPr/>
          <a:lstStyle/>
          <a:p>
            <a:r>
              <a:rPr lang="es-ES" dirty="0"/>
              <a:t>¿Qué se quiere saber?</a:t>
            </a:r>
            <a:endParaRPr lang="es-MX" dirty="0"/>
          </a:p>
        </p:txBody>
      </p:sp>
      <p:sp>
        <p:nvSpPr>
          <p:cNvPr id="3" name="Marcador de contenido 2">
            <a:extLst>
              <a:ext uri="{FF2B5EF4-FFF2-40B4-BE49-F238E27FC236}">
                <a16:creationId xmlns:a16="http://schemas.microsoft.com/office/drawing/2014/main" id="{70171E73-5A3B-6B66-A4F2-1035A297FDE8}"/>
              </a:ext>
            </a:extLst>
          </p:cNvPr>
          <p:cNvSpPr>
            <a:spLocks noGrp="1"/>
          </p:cNvSpPr>
          <p:nvPr>
            <p:ph idx="1"/>
          </p:nvPr>
        </p:nvSpPr>
        <p:spPr/>
        <p:txBody>
          <a:bodyPr/>
          <a:lstStyle/>
          <a:p>
            <a:r>
              <a:rPr lang="es-ES" dirty="0"/>
              <a:t>El como la colonización secundaria de agallas en el bosque mesófilo esta afectada por:</a:t>
            </a:r>
          </a:p>
          <a:p>
            <a:pPr marL="457200" indent="-457200">
              <a:buFont typeface="+mj-lt"/>
              <a:buAutoNum type="arabicPeriod"/>
            </a:pPr>
            <a:r>
              <a:rPr lang="es-MX" dirty="0"/>
              <a:t>El tamaño de las agallas</a:t>
            </a:r>
          </a:p>
          <a:p>
            <a:pPr marL="457200" indent="-457200">
              <a:buFont typeface="+mj-lt"/>
              <a:buAutoNum type="arabicPeriod"/>
            </a:pPr>
            <a:endParaRPr lang="es-MX" dirty="0"/>
          </a:p>
          <a:p>
            <a:pPr marL="457200" indent="-457200">
              <a:buFont typeface="+mj-lt"/>
              <a:buAutoNum type="arabicPeriod"/>
            </a:pPr>
            <a:r>
              <a:rPr lang="es-MX" dirty="0"/>
              <a:t>La temporada</a:t>
            </a:r>
          </a:p>
          <a:p>
            <a:pPr marL="457200" indent="-457200">
              <a:buFont typeface="+mj-lt"/>
              <a:buAutoNum type="arabicPeriod"/>
            </a:pPr>
            <a:endParaRPr lang="es-MX" dirty="0"/>
          </a:p>
          <a:p>
            <a:pPr marL="457200" indent="-457200">
              <a:buFont typeface="+mj-lt"/>
              <a:buAutoNum type="arabicPeriod"/>
            </a:pPr>
            <a:r>
              <a:rPr lang="es-MX" dirty="0"/>
              <a:t>La especie de la planta</a:t>
            </a:r>
          </a:p>
          <a:p>
            <a:pPr marL="457200" indent="-457200">
              <a:buFont typeface="+mj-lt"/>
              <a:buAutoNum type="arabicPeriod"/>
            </a:pPr>
            <a:endParaRPr lang="es-ES" dirty="0"/>
          </a:p>
        </p:txBody>
      </p:sp>
    </p:spTree>
    <p:extLst>
      <p:ext uri="{BB962C8B-B14F-4D97-AF65-F5344CB8AC3E}">
        <p14:creationId xmlns:p14="http://schemas.microsoft.com/office/powerpoint/2010/main" val="354074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a:extLst>
              <a:ext uri="{FF2B5EF4-FFF2-40B4-BE49-F238E27FC236}">
                <a16:creationId xmlns:a16="http://schemas.microsoft.com/office/drawing/2014/main" id="{A11B9ADE-D391-1F93-B505-6C51FCB4711B}"/>
              </a:ext>
            </a:extLst>
          </p:cNvPr>
          <p:cNvSpPr/>
          <p:nvPr/>
        </p:nvSpPr>
        <p:spPr>
          <a:xfrm>
            <a:off x="5049520" y="2473960"/>
            <a:ext cx="1391920" cy="7721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Riqueza</a:t>
            </a:r>
          </a:p>
          <a:p>
            <a:pPr marR="0" lvl="0" algn="ctr" defTabSz="914400" rtl="0" eaLnBrk="1" fontAlgn="auto" latinLnBrk="0" hangingPunct="1">
              <a:lnSpc>
                <a:spcPct val="100000"/>
              </a:lnSpc>
              <a:spcBef>
                <a:spcPts val="0"/>
              </a:spcBef>
              <a:spcAft>
                <a:spcPts val="0"/>
              </a:spcAft>
              <a:buClrTx/>
              <a:buSzTx/>
              <a:tabLst/>
              <a:defRPr/>
            </a:pPr>
            <a:r>
              <a:rPr lang="es-ES" sz="1050" b="1" dirty="0">
                <a:solidFill>
                  <a:prstClr val="black"/>
                </a:solidFill>
                <a:latin typeface="Aptos" panose="02110004020202020204"/>
              </a:rPr>
              <a:t>Abundancia</a:t>
            </a:r>
          </a:p>
          <a:p>
            <a:pPr marR="0" lvl="0" algn="ctr" defTabSz="914400" rtl="0" eaLnBrk="1" fontAlgn="auto" latinLnBrk="0" hangingPunct="1">
              <a:lnSpc>
                <a:spcPct val="100000"/>
              </a:lnSpc>
              <a:spcBef>
                <a:spcPts val="0"/>
              </a:spcBef>
              <a:spcAft>
                <a:spcPts val="0"/>
              </a:spcAft>
              <a:buClrTx/>
              <a:buSzTx/>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Frecuencia</a:t>
            </a:r>
          </a:p>
        </p:txBody>
      </p:sp>
      <p:sp>
        <p:nvSpPr>
          <p:cNvPr id="5" name="Elipse 4">
            <a:extLst>
              <a:ext uri="{FF2B5EF4-FFF2-40B4-BE49-F238E27FC236}">
                <a16:creationId xmlns:a16="http://schemas.microsoft.com/office/drawing/2014/main" id="{7A236BFB-C800-894F-1FE8-5BCBCBAD6702}"/>
              </a:ext>
            </a:extLst>
          </p:cNvPr>
          <p:cNvSpPr/>
          <p:nvPr/>
        </p:nvSpPr>
        <p:spPr>
          <a:xfrm>
            <a:off x="629920" y="1132840"/>
            <a:ext cx="1391920" cy="77216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Temporada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Elipse 5">
            <a:extLst>
              <a:ext uri="{FF2B5EF4-FFF2-40B4-BE49-F238E27FC236}">
                <a16:creationId xmlns:a16="http://schemas.microsoft.com/office/drawing/2014/main" id="{649625BF-29BE-D7EF-2D39-44C6AC4AB685}"/>
              </a:ext>
            </a:extLst>
          </p:cNvPr>
          <p:cNvSpPr/>
          <p:nvPr/>
        </p:nvSpPr>
        <p:spPr>
          <a:xfrm>
            <a:off x="660400" y="2473960"/>
            <a:ext cx="1391920" cy="77216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Densidad de organismos</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Elipse 6">
            <a:extLst>
              <a:ext uri="{FF2B5EF4-FFF2-40B4-BE49-F238E27FC236}">
                <a16:creationId xmlns:a16="http://schemas.microsoft.com/office/drawing/2014/main" id="{D8069A60-3B95-25D8-D62E-D086115B85B3}"/>
              </a:ext>
            </a:extLst>
          </p:cNvPr>
          <p:cNvSpPr/>
          <p:nvPr/>
        </p:nvSpPr>
        <p:spPr>
          <a:xfrm>
            <a:off x="487680" y="3815080"/>
            <a:ext cx="1808480" cy="93472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Interacciones:</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Competencia</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Depredación</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 Reproducción</a:t>
            </a:r>
          </a:p>
        </p:txBody>
      </p:sp>
      <p:sp>
        <p:nvSpPr>
          <p:cNvPr id="8" name="Elipse 7">
            <a:extLst>
              <a:ext uri="{FF2B5EF4-FFF2-40B4-BE49-F238E27FC236}">
                <a16:creationId xmlns:a16="http://schemas.microsoft.com/office/drawing/2014/main" id="{E3564908-4817-CBC8-1EFA-A132E1BD168A}"/>
              </a:ext>
            </a:extLst>
          </p:cNvPr>
          <p:cNvSpPr/>
          <p:nvPr/>
        </p:nvSpPr>
        <p:spPr>
          <a:xfrm>
            <a:off x="2712720" y="2473960"/>
            <a:ext cx="1391920" cy="77216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Recursos disponibles</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0" name="Conector recto de flecha 9">
            <a:extLst>
              <a:ext uri="{FF2B5EF4-FFF2-40B4-BE49-F238E27FC236}">
                <a16:creationId xmlns:a16="http://schemas.microsoft.com/office/drawing/2014/main" id="{5C0F5D8E-C984-B517-370E-E1660DAF31C8}"/>
              </a:ext>
            </a:extLst>
          </p:cNvPr>
          <p:cNvCxnSpPr>
            <a:stCxn id="5" idx="4"/>
            <a:endCxn id="6" idx="0"/>
          </p:cNvCxnSpPr>
          <p:nvPr/>
        </p:nvCxnSpPr>
        <p:spPr>
          <a:xfrm>
            <a:off x="1325880" y="1905000"/>
            <a:ext cx="30480" cy="5689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Conector recto de flecha 11">
            <a:extLst>
              <a:ext uri="{FF2B5EF4-FFF2-40B4-BE49-F238E27FC236}">
                <a16:creationId xmlns:a16="http://schemas.microsoft.com/office/drawing/2014/main" id="{74DD51DC-347E-BD59-C2E5-AEC34A7358DF}"/>
              </a:ext>
            </a:extLst>
          </p:cNvPr>
          <p:cNvCxnSpPr>
            <a:stCxn id="6" idx="4"/>
            <a:endCxn id="7" idx="0"/>
          </p:cNvCxnSpPr>
          <p:nvPr/>
        </p:nvCxnSpPr>
        <p:spPr>
          <a:xfrm>
            <a:off x="1356360" y="3246120"/>
            <a:ext cx="35560" cy="5689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Conector recto de flecha 13">
            <a:extLst>
              <a:ext uri="{FF2B5EF4-FFF2-40B4-BE49-F238E27FC236}">
                <a16:creationId xmlns:a16="http://schemas.microsoft.com/office/drawing/2014/main" id="{4FE13182-0C2B-84A4-B0CA-2DDDD510E0D1}"/>
              </a:ext>
            </a:extLst>
          </p:cNvPr>
          <p:cNvCxnSpPr>
            <a:stCxn id="7" idx="7"/>
            <a:endCxn id="8" idx="3"/>
          </p:cNvCxnSpPr>
          <p:nvPr/>
        </p:nvCxnSpPr>
        <p:spPr>
          <a:xfrm flipV="1">
            <a:off x="2031314" y="3133040"/>
            <a:ext cx="885248" cy="81892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Conector recto de flecha 15">
            <a:extLst>
              <a:ext uri="{FF2B5EF4-FFF2-40B4-BE49-F238E27FC236}">
                <a16:creationId xmlns:a16="http://schemas.microsoft.com/office/drawing/2014/main" id="{ADE91FEB-A1C5-869E-B221-5E18BE1E8968}"/>
              </a:ext>
            </a:extLst>
          </p:cNvPr>
          <p:cNvCxnSpPr>
            <a:stCxn id="5" idx="5"/>
            <a:endCxn id="8" idx="1"/>
          </p:cNvCxnSpPr>
          <p:nvPr/>
        </p:nvCxnSpPr>
        <p:spPr>
          <a:xfrm>
            <a:off x="1817998" y="1791920"/>
            <a:ext cx="1098564" cy="795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Conector recto de flecha 17">
            <a:extLst>
              <a:ext uri="{FF2B5EF4-FFF2-40B4-BE49-F238E27FC236}">
                <a16:creationId xmlns:a16="http://schemas.microsoft.com/office/drawing/2014/main" id="{A353FD01-E3A2-8483-8FFA-E7BDB5529FB2}"/>
              </a:ext>
            </a:extLst>
          </p:cNvPr>
          <p:cNvCxnSpPr>
            <a:stCxn id="6" idx="6"/>
            <a:endCxn id="8" idx="2"/>
          </p:cNvCxnSpPr>
          <p:nvPr/>
        </p:nvCxnSpPr>
        <p:spPr>
          <a:xfrm>
            <a:off x="2052320" y="2860040"/>
            <a:ext cx="6604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Conector recto de flecha 19">
            <a:extLst>
              <a:ext uri="{FF2B5EF4-FFF2-40B4-BE49-F238E27FC236}">
                <a16:creationId xmlns:a16="http://schemas.microsoft.com/office/drawing/2014/main" id="{60D5AD23-EBFC-6CA1-129E-D8C87F7C4F72}"/>
              </a:ext>
            </a:extLst>
          </p:cNvPr>
          <p:cNvCxnSpPr>
            <a:stCxn id="8" idx="6"/>
            <a:endCxn id="4" idx="2"/>
          </p:cNvCxnSpPr>
          <p:nvPr/>
        </p:nvCxnSpPr>
        <p:spPr>
          <a:xfrm>
            <a:off x="4104640" y="2860040"/>
            <a:ext cx="9448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Conector recto de flecha 21">
            <a:extLst>
              <a:ext uri="{FF2B5EF4-FFF2-40B4-BE49-F238E27FC236}">
                <a16:creationId xmlns:a16="http://schemas.microsoft.com/office/drawing/2014/main" id="{F9BE143D-8EE3-CABC-80BD-370B1BB4AA37}"/>
              </a:ext>
            </a:extLst>
          </p:cNvPr>
          <p:cNvCxnSpPr>
            <a:stCxn id="5" idx="6"/>
            <a:endCxn id="4" idx="1"/>
          </p:cNvCxnSpPr>
          <p:nvPr/>
        </p:nvCxnSpPr>
        <p:spPr>
          <a:xfrm>
            <a:off x="2021840" y="1518920"/>
            <a:ext cx="3231522" cy="1068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Elipse 22">
            <a:extLst>
              <a:ext uri="{FF2B5EF4-FFF2-40B4-BE49-F238E27FC236}">
                <a16:creationId xmlns:a16="http://schemas.microsoft.com/office/drawing/2014/main" id="{897A7179-EEE2-3706-5DF2-A6A3A778AB01}"/>
              </a:ext>
            </a:extLst>
          </p:cNvPr>
          <p:cNvSpPr/>
          <p:nvPr/>
        </p:nvSpPr>
        <p:spPr>
          <a:xfrm>
            <a:off x="5049520" y="3815080"/>
            <a:ext cx="1391920" cy="772160"/>
          </a:xfrm>
          <a:prstGeom prst="ellipse">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Tamaño de las agallas</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4" name="Elipse 23">
            <a:extLst>
              <a:ext uri="{FF2B5EF4-FFF2-40B4-BE49-F238E27FC236}">
                <a16:creationId xmlns:a16="http://schemas.microsoft.com/office/drawing/2014/main" id="{8DCA85F8-C74A-73CF-407C-81604AE8B3B8}"/>
              </a:ext>
            </a:extLst>
          </p:cNvPr>
          <p:cNvSpPr/>
          <p:nvPr/>
        </p:nvSpPr>
        <p:spPr>
          <a:xfrm>
            <a:off x="5049520" y="5054600"/>
            <a:ext cx="1391920" cy="772160"/>
          </a:xfrm>
          <a:prstGeom prst="ellipse">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Ubicación de las agallas en la planta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6" name="Conector recto de flecha 25">
            <a:extLst>
              <a:ext uri="{FF2B5EF4-FFF2-40B4-BE49-F238E27FC236}">
                <a16:creationId xmlns:a16="http://schemas.microsoft.com/office/drawing/2014/main" id="{F76C20B6-4C33-16CF-FF47-52D25F1CDDAE}"/>
              </a:ext>
            </a:extLst>
          </p:cNvPr>
          <p:cNvCxnSpPr>
            <a:stCxn id="24" idx="0"/>
            <a:endCxn id="23" idx="4"/>
          </p:cNvCxnSpPr>
          <p:nvPr/>
        </p:nvCxnSpPr>
        <p:spPr>
          <a:xfrm flipV="1">
            <a:off x="5745480" y="4587240"/>
            <a:ext cx="0" cy="4673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Conector recto de flecha 27">
            <a:extLst>
              <a:ext uri="{FF2B5EF4-FFF2-40B4-BE49-F238E27FC236}">
                <a16:creationId xmlns:a16="http://schemas.microsoft.com/office/drawing/2014/main" id="{0073B3BD-8772-41D0-70C1-750AB9149C8E}"/>
              </a:ext>
            </a:extLst>
          </p:cNvPr>
          <p:cNvCxnSpPr>
            <a:stCxn id="23" idx="0"/>
            <a:endCxn id="4" idx="4"/>
          </p:cNvCxnSpPr>
          <p:nvPr/>
        </p:nvCxnSpPr>
        <p:spPr>
          <a:xfrm flipV="1">
            <a:off x="5745480" y="3246120"/>
            <a:ext cx="0" cy="5689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Elipse 28">
            <a:extLst>
              <a:ext uri="{FF2B5EF4-FFF2-40B4-BE49-F238E27FC236}">
                <a16:creationId xmlns:a16="http://schemas.microsoft.com/office/drawing/2014/main" id="{7A276E6D-1133-655E-AAA0-5BFFF590AAAB}"/>
              </a:ext>
            </a:extLst>
          </p:cNvPr>
          <p:cNvSpPr/>
          <p:nvPr/>
        </p:nvSpPr>
        <p:spPr>
          <a:xfrm>
            <a:off x="6846570" y="2475280"/>
            <a:ext cx="1391920" cy="77216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Número de agallas por planta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0" name="Elipse 29">
            <a:extLst>
              <a:ext uri="{FF2B5EF4-FFF2-40B4-BE49-F238E27FC236}">
                <a16:creationId xmlns:a16="http://schemas.microsoft.com/office/drawing/2014/main" id="{C43EC44A-A50E-4F30-4679-21E2B772016B}"/>
              </a:ext>
            </a:extLst>
          </p:cNvPr>
          <p:cNvSpPr/>
          <p:nvPr/>
        </p:nvSpPr>
        <p:spPr>
          <a:xfrm>
            <a:off x="8643620" y="2378760"/>
            <a:ext cx="2291079" cy="95504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Especie de la planta con agallas:</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1" u="none" strike="noStrike" kern="1200" cap="none" spc="0" normalizeH="0" baseline="0" noProof="0" dirty="0">
                <a:ln>
                  <a:noFill/>
                </a:ln>
                <a:solidFill>
                  <a:prstClr val="black"/>
                </a:solidFill>
                <a:effectLst/>
                <a:uLnTx/>
                <a:uFillTx/>
                <a:latin typeface="Aptos" panose="02110004020202020204"/>
                <a:ea typeface="+mn-ea"/>
                <a:cs typeface="+mn-cs"/>
              </a:rPr>
              <a:t>Lantana cámara</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1" u="none" strike="noStrike" kern="1200" cap="none" spc="0" normalizeH="0" baseline="0" noProof="0" dirty="0" err="1">
                <a:ln>
                  <a:noFill/>
                </a:ln>
                <a:solidFill>
                  <a:prstClr val="black"/>
                </a:solidFill>
                <a:effectLst/>
                <a:uLnTx/>
                <a:uFillTx/>
                <a:latin typeface="Aptos" panose="02110004020202020204"/>
                <a:ea typeface="+mn-ea"/>
                <a:cs typeface="+mn-cs"/>
              </a:rPr>
              <a:t>Lippia</a:t>
            </a:r>
            <a:r>
              <a:rPr kumimoji="0" lang="es-ES" sz="1050" b="1" i="1"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 sz="1050" b="1" i="1" u="none" strike="noStrike" kern="1200" cap="none" spc="0" normalizeH="0" baseline="0" noProof="0" dirty="0" err="1">
                <a:ln>
                  <a:noFill/>
                </a:ln>
                <a:solidFill>
                  <a:prstClr val="black"/>
                </a:solidFill>
                <a:effectLst/>
                <a:uLnTx/>
                <a:uFillTx/>
                <a:latin typeface="Aptos" panose="02110004020202020204"/>
                <a:ea typeface="+mn-ea"/>
                <a:cs typeface="+mn-cs"/>
              </a:rPr>
              <a:t>myriocephala</a:t>
            </a:r>
            <a:r>
              <a:rPr kumimoji="0" lang="es-ES" sz="1050" b="1" i="1" u="none" strike="noStrike" kern="1200" cap="none" spc="0" normalizeH="0" baseline="0" noProof="0" dirty="0">
                <a:ln>
                  <a:noFill/>
                </a:ln>
                <a:solidFill>
                  <a:prstClr val="black"/>
                </a:solidFill>
                <a:effectLst/>
                <a:uLnTx/>
                <a:uFillTx/>
                <a:latin typeface="Aptos" panose="02110004020202020204"/>
                <a:ea typeface="+mn-ea"/>
                <a:cs typeface="+mn-cs"/>
              </a:rPr>
              <a:t>  </a:t>
            </a:r>
          </a:p>
        </p:txBody>
      </p:sp>
      <p:cxnSp>
        <p:nvCxnSpPr>
          <p:cNvPr id="37" name="Conector recto de flecha 36">
            <a:extLst>
              <a:ext uri="{FF2B5EF4-FFF2-40B4-BE49-F238E27FC236}">
                <a16:creationId xmlns:a16="http://schemas.microsoft.com/office/drawing/2014/main" id="{6880C986-94D9-360C-9EC3-0661991D1B09}"/>
              </a:ext>
            </a:extLst>
          </p:cNvPr>
          <p:cNvCxnSpPr>
            <a:stCxn id="30" idx="2"/>
            <a:endCxn id="29" idx="6"/>
          </p:cNvCxnSpPr>
          <p:nvPr/>
        </p:nvCxnSpPr>
        <p:spPr>
          <a:xfrm flipH="1">
            <a:off x="8238490" y="2856280"/>
            <a:ext cx="405130" cy="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Conector recto de flecha 38">
            <a:extLst>
              <a:ext uri="{FF2B5EF4-FFF2-40B4-BE49-F238E27FC236}">
                <a16:creationId xmlns:a16="http://schemas.microsoft.com/office/drawing/2014/main" id="{046B3870-A656-E66D-A5A7-B6FCE79DCC8A}"/>
              </a:ext>
            </a:extLst>
          </p:cNvPr>
          <p:cNvCxnSpPr>
            <a:stCxn id="29" idx="2"/>
            <a:endCxn id="4" idx="6"/>
          </p:cNvCxnSpPr>
          <p:nvPr/>
        </p:nvCxnSpPr>
        <p:spPr>
          <a:xfrm flipH="1" flipV="1">
            <a:off x="6441440" y="2860040"/>
            <a:ext cx="405130" cy="13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Conector: curvado 41">
            <a:extLst>
              <a:ext uri="{FF2B5EF4-FFF2-40B4-BE49-F238E27FC236}">
                <a16:creationId xmlns:a16="http://schemas.microsoft.com/office/drawing/2014/main" id="{4238BC83-8017-2837-4641-98A90611B3B0}"/>
              </a:ext>
            </a:extLst>
          </p:cNvPr>
          <p:cNvCxnSpPr>
            <a:stCxn id="30" idx="0"/>
            <a:endCxn id="4" idx="0"/>
          </p:cNvCxnSpPr>
          <p:nvPr/>
        </p:nvCxnSpPr>
        <p:spPr>
          <a:xfrm rot="16200000" flipH="1" flipV="1">
            <a:off x="7719720" y="404520"/>
            <a:ext cx="95200" cy="4043680"/>
          </a:xfrm>
          <a:prstGeom prst="curvedConnector3">
            <a:avLst>
              <a:gd name="adj1" fmla="val -240126"/>
            </a:avLst>
          </a:prstGeom>
          <a:ln>
            <a:tailEnd type="triangle"/>
          </a:ln>
        </p:spPr>
        <p:style>
          <a:lnRef idx="2">
            <a:schemeClr val="dk1"/>
          </a:lnRef>
          <a:fillRef idx="0">
            <a:schemeClr val="dk1"/>
          </a:fillRef>
          <a:effectRef idx="1">
            <a:schemeClr val="dk1"/>
          </a:effectRef>
          <a:fontRef idx="minor">
            <a:schemeClr val="tx1"/>
          </a:fontRef>
        </p:style>
      </p:cxnSp>
      <p:cxnSp>
        <p:nvCxnSpPr>
          <p:cNvPr id="44" name="Conector recto de flecha 43">
            <a:extLst>
              <a:ext uri="{FF2B5EF4-FFF2-40B4-BE49-F238E27FC236}">
                <a16:creationId xmlns:a16="http://schemas.microsoft.com/office/drawing/2014/main" id="{9E1D376F-3D73-5E6B-3E7F-DCDDEBDA901A}"/>
              </a:ext>
            </a:extLst>
          </p:cNvPr>
          <p:cNvCxnSpPr>
            <a:stCxn id="30" idx="3"/>
            <a:endCxn id="23" idx="6"/>
          </p:cNvCxnSpPr>
          <p:nvPr/>
        </p:nvCxnSpPr>
        <p:spPr>
          <a:xfrm flipH="1">
            <a:off x="6441440" y="3193938"/>
            <a:ext cx="2537701" cy="10072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Elipse 1">
            <a:extLst>
              <a:ext uri="{FF2B5EF4-FFF2-40B4-BE49-F238E27FC236}">
                <a16:creationId xmlns:a16="http://schemas.microsoft.com/office/drawing/2014/main" id="{A4D4AFFA-8293-1328-FB6C-C65B83B0E5C6}"/>
              </a:ext>
            </a:extLst>
          </p:cNvPr>
          <p:cNvSpPr/>
          <p:nvPr/>
        </p:nvSpPr>
        <p:spPr>
          <a:xfrm>
            <a:off x="2367280" y="473760"/>
            <a:ext cx="1391920" cy="772160"/>
          </a:xfrm>
          <a:prstGeom prst="ellipse">
            <a:avLst/>
          </a:prstGeom>
          <a:noFill/>
          <a:ln>
            <a:solidFill>
              <a:srgbClr val="FF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Bosque mesófilo de montaña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5" name="Conector recto de flecha 24">
            <a:extLst>
              <a:ext uri="{FF2B5EF4-FFF2-40B4-BE49-F238E27FC236}">
                <a16:creationId xmlns:a16="http://schemas.microsoft.com/office/drawing/2014/main" id="{8A77F232-92B7-4213-8EE6-1A53F0D20929}"/>
              </a:ext>
            </a:extLst>
          </p:cNvPr>
          <p:cNvCxnSpPr>
            <a:stCxn id="5" idx="0"/>
            <a:endCxn id="2" idx="2"/>
          </p:cNvCxnSpPr>
          <p:nvPr/>
        </p:nvCxnSpPr>
        <p:spPr>
          <a:xfrm flipV="1">
            <a:off x="1325880" y="859840"/>
            <a:ext cx="1041400" cy="273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Conector recto de flecha 30">
            <a:extLst>
              <a:ext uri="{FF2B5EF4-FFF2-40B4-BE49-F238E27FC236}">
                <a16:creationId xmlns:a16="http://schemas.microsoft.com/office/drawing/2014/main" id="{3FCE2FCB-4359-2A57-8C9A-C501A63CA392}"/>
              </a:ext>
            </a:extLst>
          </p:cNvPr>
          <p:cNvCxnSpPr>
            <a:stCxn id="2" idx="6"/>
            <a:endCxn id="4" idx="0"/>
          </p:cNvCxnSpPr>
          <p:nvPr/>
        </p:nvCxnSpPr>
        <p:spPr>
          <a:xfrm>
            <a:off x="3759200" y="859840"/>
            <a:ext cx="1986280" cy="1614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Conector recto de flecha 32">
            <a:extLst>
              <a:ext uri="{FF2B5EF4-FFF2-40B4-BE49-F238E27FC236}">
                <a16:creationId xmlns:a16="http://schemas.microsoft.com/office/drawing/2014/main" id="{77258102-2BBB-00B7-5BF2-148ACCB0E2AF}"/>
              </a:ext>
            </a:extLst>
          </p:cNvPr>
          <p:cNvCxnSpPr>
            <a:stCxn id="2" idx="3"/>
            <a:endCxn id="6" idx="7"/>
          </p:cNvCxnSpPr>
          <p:nvPr/>
        </p:nvCxnSpPr>
        <p:spPr>
          <a:xfrm flipH="1">
            <a:off x="1848478" y="1132840"/>
            <a:ext cx="722644" cy="1454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Conector recto de flecha 34">
            <a:extLst>
              <a:ext uri="{FF2B5EF4-FFF2-40B4-BE49-F238E27FC236}">
                <a16:creationId xmlns:a16="http://schemas.microsoft.com/office/drawing/2014/main" id="{2BEF3780-2154-B2C7-84AA-3040A9D57594}"/>
              </a:ext>
            </a:extLst>
          </p:cNvPr>
          <p:cNvCxnSpPr>
            <a:stCxn id="2" idx="4"/>
          </p:cNvCxnSpPr>
          <p:nvPr/>
        </p:nvCxnSpPr>
        <p:spPr>
          <a:xfrm flipH="1">
            <a:off x="1817998" y="1245920"/>
            <a:ext cx="1245242" cy="25691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Conector recto de flecha 37">
            <a:extLst>
              <a:ext uri="{FF2B5EF4-FFF2-40B4-BE49-F238E27FC236}">
                <a16:creationId xmlns:a16="http://schemas.microsoft.com/office/drawing/2014/main" id="{FB801EB9-DB99-199B-EDD9-82F1B75D216F}"/>
              </a:ext>
            </a:extLst>
          </p:cNvPr>
          <p:cNvCxnSpPr>
            <a:stCxn id="2" idx="5"/>
            <a:endCxn id="8" idx="0"/>
          </p:cNvCxnSpPr>
          <p:nvPr/>
        </p:nvCxnSpPr>
        <p:spPr>
          <a:xfrm flipH="1">
            <a:off x="3408680" y="1132840"/>
            <a:ext cx="146678" cy="1341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Elipse 2">
            <a:extLst>
              <a:ext uri="{FF2B5EF4-FFF2-40B4-BE49-F238E27FC236}">
                <a16:creationId xmlns:a16="http://schemas.microsoft.com/office/drawing/2014/main" id="{1BFEA82E-D562-466A-9D01-A93978B029B8}"/>
              </a:ext>
            </a:extLst>
          </p:cNvPr>
          <p:cNvSpPr/>
          <p:nvPr/>
        </p:nvSpPr>
        <p:spPr>
          <a:xfrm>
            <a:off x="5039360" y="1030580"/>
            <a:ext cx="1391920" cy="772160"/>
          </a:xfrm>
          <a:prstGeom prst="ellips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Colonización</a:t>
            </a:r>
            <a:r>
              <a:rPr kumimoji="0" lang="es-ES" sz="1050" b="1" i="0" u="none" strike="noStrike" kern="1200" cap="none" spc="0" normalizeH="0" noProof="0" dirty="0">
                <a:ln>
                  <a:noFill/>
                </a:ln>
                <a:solidFill>
                  <a:prstClr val="black"/>
                </a:solidFill>
                <a:effectLst/>
                <a:uLnTx/>
                <a:uFillTx/>
                <a:latin typeface="Aptos" panose="02110004020202020204"/>
                <a:ea typeface="+mn-ea"/>
                <a:cs typeface="+mn-cs"/>
              </a:rPr>
              <a:t> secundaria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1" name="Conector recto de flecha 10">
            <a:extLst>
              <a:ext uri="{FF2B5EF4-FFF2-40B4-BE49-F238E27FC236}">
                <a16:creationId xmlns:a16="http://schemas.microsoft.com/office/drawing/2014/main" id="{75A298B9-E4B9-A830-A01C-22B790E10927}"/>
              </a:ext>
            </a:extLst>
          </p:cNvPr>
          <p:cNvCxnSpPr>
            <a:stCxn id="4" idx="0"/>
            <a:endCxn id="3" idx="4"/>
          </p:cNvCxnSpPr>
          <p:nvPr/>
        </p:nvCxnSpPr>
        <p:spPr>
          <a:xfrm flipH="1" flipV="1">
            <a:off x="5735320" y="1802740"/>
            <a:ext cx="10160" cy="6712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6518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23" grpId="0" animBg="1"/>
      <p:bldP spid="24" grpId="0" animBg="1"/>
      <p:bldP spid="29" grpId="0" animBg="1"/>
      <p:bldP spid="30" grpId="0" animBg="1"/>
      <p:bldP spid="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45297-7CB8-AC34-F19A-04FC6766B3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DCBB6C-BA27-F2CD-3945-44DFBF814E3E}"/>
              </a:ext>
            </a:extLst>
          </p:cNvPr>
          <p:cNvSpPr>
            <a:spLocks noGrp="1"/>
          </p:cNvSpPr>
          <p:nvPr>
            <p:ph type="title"/>
          </p:nvPr>
        </p:nvSpPr>
        <p:spPr/>
        <p:txBody>
          <a:bodyPr/>
          <a:lstStyle/>
          <a:p>
            <a:r>
              <a:rPr lang="es-ES" dirty="0"/>
              <a:t>Controlando posibles sesgos</a:t>
            </a:r>
            <a:endParaRPr lang="es-MX" dirty="0"/>
          </a:p>
        </p:txBody>
      </p:sp>
      <p:sp>
        <p:nvSpPr>
          <p:cNvPr id="3" name="Marcador de contenido 2">
            <a:extLst>
              <a:ext uri="{FF2B5EF4-FFF2-40B4-BE49-F238E27FC236}">
                <a16:creationId xmlns:a16="http://schemas.microsoft.com/office/drawing/2014/main" id="{9FBAB371-45DA-D846-13C5-D3AE085F61E7}"/>
              </a:ext>
            </a:extLst>
          </p:cNvPr>
          <p:cNvSpPr>
            <a:spLocks noGrp="1"/>
          </p:cNvSpPr>
          <p:nvPr>
            <p:ph idx="1"/>
          </p:nvPr>
        </p:nvSpPr>
        <p:spPr/>
        <p:txBody>
          <a:bodyPr/>
          <a:lstStyle/>
          <a:p>
            <a:pPr marL="457200" indent="-457200">
              <a:buFont typeface="+mj-lt"/>
              <a:buAutoNum type="arabicPeriod"/>
            </a:pPr>
            <a:r>
              <a:rPr lang="es-MX" dirty="0"/>
              <a:t>Recoger agallas de zonas específicas</a:t>
            </a:r>
          </a:p>
          <a:p>
            <a:pPr marL="457200" indent="-457200">
              <a:buFont typeface="+mj-lt"/>
              <a:buAutoNum type="arabicPeriod"/>
            </a:pPr>
            <a:endParaRPr lang="es-MX" dirty="0"/>
          </a:p>
          <a:p>
            <a:pPr marL="457200" indent="-457200">
              <a:buFont typeface="+mj-lt"/>
              <a:buAutoNum type="arabicPeriod"/>
            </a:pPr>
            <a:r>
              <a:rPr lang="es-MX" dirty="0"/>
              <a:t>Realizar colectas en temporada lluviosa y seca</a:t>
            </a:r>
          </a:p>
          <a:p>
            <a:pPr marL="457200" indent="-457200">
              <a:buFont typeface="+mj-lt"/>
              <a:buAutoNum type="arabicPeriod"/>
            </a:pPr>
            <a:endParaRPr lang="es-MX" dirty="0"/>
          </a:p>
          <a:p>
            <a:pPr marL="457200" indent="-457200">
              <a:buFont typeface="+mj-lt"/>
              <a:buAutoNum type="arabicPeriod"/>
            </a:pPr>
            <a:r>
              <a:rPr lang="es-MX" dirty="0"/>
              <a:t>Recoger cantidades iguales de agallas de cada planta</a:t>
            </a:r>
          </a:p>
          <a:p>
            <a:pPr marL="457200" indent="-457200">
              <a:buFont typeface="+mj-lt"/>
              <a:buAutoNum type="arabicPeriod"/>
            </a:pPr>
            <a:endParaRPr lang="es-MX" dirty="0"/>
          </a:p>
          <a:p>
            <a:pPr marL="457200" indent="-457200">
              <a:buFont typeface="+mj-lt"/>
              <a:buAutoNum type="arabicPeriod"/>
            </a:pPr>
            <a:r>
              <a:rPr lang="es-MX" dirty="0"/>
              <a:t>Recoger agallas de tamaños máximos y mínimos especificados</a:t>
            </a:r>
          </a:p>
          <a:p>
            <a:pPr marL="457200" indent="-457200">
              <a:buFont typeface="+mj-lt"/>
              <a:buAutoNum type="arabicPeriod"/>
            </a:pPr>
            <a:endParaRPr lang="es-ES" dirty="0"/>
          </a:p>
        </p:txBody>
      </p:sp>
    </p:spTree>
    <p:extLst>
      <p:ext uri="{BB962C8B-B14F-4D97-AF65-F5344CB8AC3E}">
        <p14:creationId xmlns:p14="http://schemas.microsoft.com/office/powerpoint/2010/main" val="284563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2B273-621F-39B8-4651-C366F9D39C08}"/>
            </a:ext>
          </a:extLst>
        </p:cNvPr>
        <p:cNvGrpSpPr/>
        <p:nvPr/>
      </p:nvGrpSpPr>
      <p:grpSpPr>
        <a:xfrm>
          <a:off x="0" y="0"/>
          <a:ext cx="0" cy="0"/>
          <a:chOff x="0" y="0"/>
          <a:chExt cx="0" cy="0"/>
        </a:xfrm>
      </p:grpSpPr>
      <p:sp>
        <p:nvSpPr>
          <p:cNvPr id="4" name="Elipse 3">
            <a:extLst>
              <a:ext uri="{FF2B5EF4-FFF2-40B4-BE49-F238E27FC236}">
                <a16:creationId xmlns:a16="http://schemas.microsoft.com/office/drawing/2014/main" id="{9459B39E-57FD-5409-8504-47D096EF6D66}"/>
              </a:ext>
            </a:extLst>
          </p:cNvPr>
          <p:cNvSpPr/>
          <p:nvPr/>
        </p:nvSpPr>
        <p:spPr>
          <a:xfrm>
            <a:off x="5049520" y="2473960"/>
            <a:ext cx="1391920" cy="7721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a:defRPr/>
            </a:pPr>
            <a:r>
              <a:rPr lang="es-ES" sz="1050" b="1" dirty="0">
                <a:solidFill>
                  <a:prstClr val="black"/>
                </a:solidFill>
              </a:rPr>
              <a:t>Riqueza</a:t>
            </a:r>
          </a:p>
          <a:p>
            <a:pPr lvl="0" algn="ctr" defTabSz="914400">
              <a:defRPr/>
            </a:pPr>
            <a:r>
              <a:rPr lang="es-ES" sz="1050" b="1" dirty="0">
                <a:solidFill>
                  <a:prstClr val="black"/>
                </a:solidFill>
              </a:rPr>
              <a:t>Abundancia</a:t>
            </a:r>
          </a:p>
          <a:p>
            <a:pPr lvl="0" algn="ctr" defTabSz="914400">
              <a:defRPr/>
            </a:pPr>
            <a:r>
              <a:rPr lang="es-ES" sz="1050" b="1" dirty="0">
                <a:solidFill>
                  <a:prstClr val="black"/>
                </a:solidFill>
              </a:rPr>
              <a:t>Frecuencia</a:t>
            </a:r>
          </a:p>
        </p:txBody>
      </p:sp>
      <p:sp>
        <p:nvSpPr>
          <p:cNvPr id="5" name="Elipse 4">
            <a:extLst>
              <a:ext uri="{FF2B5EF4-FFF2-40B4-BE49-F238E27FC236}">
                <a16:creationId xmlns:a16="http://schemas.microsoft.com/office/drawing/2014/main" id="{B1CD3ABB-B5EC-02F7-E147-A6F8B61FF098}"/>
              </a:ext>
            </a:extLst>
          </p:cNvPr>
          <p:cNvSpPr/>
          <p:nvPr/>
        </p:nvSpPr>
        <p:spPr>
          <a:xfrm>
            <a:off x="629920" y="1132840"/>
            <a:ext cx="1391920" cy="77216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Temporada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Elipse 5">
            <a:extLst>
              <a:ext uri="{FF2B5EF4-FFF2-40B4-BE49-F238E27FC236}">
                <a16:creationId xmlns:a16="http://schemas.microsoft.com/office/drawing/2014/main" id="{9A2238C3-143E-9414-BBE4-A84BC0327046}"/>
              </a:ext>
            </a:extLst>
          </p:cNvPr>
          <p:cNvSpPr/>
          <p:nvPr/>
        </p:nvSpPr>
        <p:spPr>
          <a:xfrm>
            <a:off x="660400" y="2473960"/>
            <a:ext cx="1391920" cy="77216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Densidad de organismos</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Elipse 6">
            <a:extLst>
              <a:ext uri="{FF2B5EF4-FFF2-40B4-BE49-F238E27FC236}">
                <a16:creationId xmlns:a16="http://schemas.microsoft.com/office/drawing/2014/main" id="{5A55F042-63AB-0A76-2619-1CCC0432423A}"/>
              </a:ext>
            </a:extLst>
          </p:cNvPr>
          <p:cNvSpPr/>
          <p:nvPr/>
        </p:nvSpPr>
        <p:spPr>
          <a:xfrm>
            <a:off x="487680" y="3815080"/>
            <a:ext cx="1808480" cy="93472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Interacciones:</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Competencia</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Depredación</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 Reproducción</a:t>
            </a:r>
          </a:p>
        </p:txBody>
      </p:sp>
      <p:sp>
        <p:nvSpPr>
          <p:cNvPr id="8" name="Elipse 7">
            <a:extLst>
              <a:ext uri="{FF2B5EF4-FFF2-40B4-BE49-F238E27FC236}">
                <a16:creationId xmlns:a16="http://schemas.microsoft.com/office/drawing/2014/main" id="{71432EA8-8B6E-A64B-6FDC-380BA16EC1F0}"/>
              </a:ext>
            </a:extLst>
          </p:cNvPr>
          <p:cNvSpPr/>
          <p:nvPr/>
        </p:nvSpPr>
        <p:spPr>
          <a:xfrm>
            <a:off x="2712720" y="2473960"/>
            <a:ext cx="1391920" cy="77216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Recursos disponibles</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0" name="Conector recto de flecha 9">
            <a:extLst>
              <a:ext uri="{FF2B5EF4-FFF2-40B4-BE49-F238E27FC236}">
                <a16:creationId xmlns:a16="http://schemas.microsoft.com/office/drawing/2014/main" id="{F46370BA-CEED-8FC7-CE83-AD48DA7580CB}"/>
              </a:ext>
            </a:extLst>
          </p:cNvPr>
          <p:cNvCxnSpPr>
            <a:stCxn id="5" idx="4"/>
            <a:endCxn id="6" idx="0"/>
          </p:cNvCxnSpPr>
          <p:nvPr/>
        </p:nvCxnSpPr>
        <p:spPr>
          <a:xfrm>
            <a:off x="1325880" y="1905000"/>
            <a:ext cx="30480" cy="5689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Conector recto de flecha 11">
            <a:extLst>
              <a:ext uri="{FF2B5EF4-FFF2-40B4-BE49-F238E27FC236}">
                <a16:creationId xmlns:a16="http://schemas.microsoft.com/office/drawing/2014/main" id="{2F4A1856-E5E3-E59C-0D66-B713B21B3FEF}"/>
              </a:ext>
            </a:extLst>
          </p:cNvPr>
          <p:cNvCxnSpPr>
            <a:stCxn id="6" idx="4"/>
            <a:endCxn id="7" idx="0"/>
          </p:cNvCxnSpPr>
          <p:nvPr/>
        </p:nvCxnSpPr>
        <p:spPr>
          <a:xfrm>
            <a:off x="1356360" y="3246120"/>
            <a:ext cx="35560" cy="5689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Conector recto de flecha 13">
            <a:extLst>
              <a:ext uri="{FF2B5EF4-FFF2-40B4-BE49-F238E27FC236}">
                <a16:creationId xmlns:a16="http://schemas.microsoft.com/office/drawing/2014/main" id="{5E12311D-6E21-548B-A90C-1D781CEA56B1}"/>
              </a:ext>
            </a:extLst>
          </p:cNvPr>
          <p:cNvCxnSpPr>
            <a:stCxn id="7" idx="7"/>
            <a:endCxn id="8" idx="3"/>
          </p:cNvCxnSpPr>
          <p:nvPr/>
        </p:nvCxnSpPr>
        <p:spPr>
          <a:xfrm flipV="1">
            <a:off x="2031314" y="3133040"/>
            <a:ext cx="885248" cy="81892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Conector recto de flecha 15">
            <a:extLst>
              <a:ext uri="{FF2B5EF4-FFF2-40B4-BE49-F238E27FC236}">
                <a16:creationId xmlns:a16="http://schemas.microsoft.com/office/drawing/2014/main" id="{EAFB49E5-4E5D-AE51-BD40-8748445A70B1}"/>
              </a:ext>
            </a:extLst>
          </p:cNvPr>
          <p:cNvCxnSpPr>
            <a:stCxn id="5" idx="5"/>
            <a:endCxn id="8" idx="1"/>
          </p:cNvCxnSpPr>
          <p:nvPr/>
        </p:nvCxnSpPr>
        <p:spPr>
          <a:xfrm>
            <a:off x="1817998" y="1791920"/>
            <a:ext cx="1098564" cy="795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Conector recto de flecha 17">
            <a:extLst>
              <a:ext uri="{FF2B5EF4-FFF2-40B4-BE49-F238E27FC236}">
                <a16:creationId xmlns:a16="http://schemas.microsoft.com/office/drawing/2014/main" id="{FA892331-FFA3-7E5F-C5D6-F9ADDD68E001}"/>
              </a:ext>
            </a:extLst>
          </p:cNvPr>
          <p:cNvCxnSpPr>
            <a:stCxn id="6" idx="6"/>
            <a:endCxn id="8" idx="2"/>
          </p:cNvCxnSpPr>
          <p:nvPr/>
        </p:nvCxnSpPr>
        <p:spPr>
          <a:xfrm>
            <a:off x="2052320" y="2860040"/>
            <a:ext cx="6604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Conector recto de flecha 19">
            <a:extLst>
              <a:ext uri="{FF2B5EF4-FFF2-40B4-BE49-F238E27FC236}">
                <a16:creationId xmlns:a16="http://schemas.microsoft.com/office/drawing/2014/main" id="{2FB69556-B6ED-99B9-0090-AD5DBBB0278C}"/>
              </a:ext>
            </a:extLst>
          </p:cNvPr>
          <p:cNvCxnSpPr>
            <a:stCxn id="8" idx="6"/>
            <a:endCxn id="4" idx="2"/>
          </p:cNvCxnSpPr>
          <p:nvPr/>
        </p:nvCxnSpPr>
        <p:spPr>
          <a:xfrm>
            <a:off x="4104640" y="2860040"/>
            <a:ext cx="9448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Conector recto de flecha 21">
            <a:extLst>
              <a:ext uri="{FF2B5EF4-FFF2-40B4-BE49-F238E27FC236}">
                <a16:creationId xmlns:a16="http://schemas.microsoft.com/office/drawing/2014/main" id="{5B542D4D-82AB-AF66-2124-FA44F9D02AC6}"/>
              </a:ext>
            </a:extLst>
          </p:cNvPr>
          <p:cNvCxnSpPr>
            <a:stCxn id="5" idx="6"/>
            <a:endCxn id="4" idx="1"/>
          </p:cNvCxnSpPr>
          <p:nvPr/>
        </p:nvCxnSpPr>
        <p:spPr>
          <a:xfrm>
            <a:off x="2021840" y="1518920"/>
            <a:ext cx="3231522" cy="1068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Elipse 22">
            <a:extLst>
              <a:ext uri="{FF2B5EF4-FFF2-40B4-BE49-F238E27FC236}">
                <a16:creationId xmlns:a16="http://schemas.microsoft.com/office/drawing/2014/main" id="{3923E4E5-FE81-11A7-6F93-B3287C68A0D6}"/>
              </a:ext>
            </a:extLst>
          </p:cNvPr>
          <p:cNvSpPr/>
          <p:nvPr/>
        </p:nvSpPr>
        <p:spPr>
          <a:xfrm>
            <a:off x="5049520" y="3815080"/>
            <a:ext cx="1391920" cy="772160"/>
          </a:xfrm>
          <a:prstGeom prst="ellipse">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Tamaño de las agallas</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4" name="Elipse 23">
            <a:extLst>
              <a:ext uri="{FF2B5EF4-FFF2-40B4-BE49-F238E27FC236}">
                <a16:creationId xmlns:a16="http://schemas.microsoft.com/office/drawing/2014/main" id="{9128E638-D37B-184A-A1E8-D7271891D722}"/>
              </a:ext>
            </a:extLst>
          </p:cNvPr>
          <p:cNvSpPr/>
          <p:nvPr/>
        </p:nvSpPr>
        <p:spPr>
          <a:xfrm>
            <a:off x="5049520" y="5054600"/>
            <a:ext cx="1391920" cy="772160"/>
          </a:xfrm>
          <a:prstGeom prst="ellipse">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Ubicación de las agallas en la planta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8" name="Conector recto de flecha 27">
            <a:extLst>
              <a:ext uri="{FF2B5EF4-FFF2-40B4-BE49-F238E27FC236}">
                <a16:creationId xmlns:a16="http://schemas.microsoft.com/office/drawing/2014/main" id="{E68EAA28-994B-0103-AABA-F5A890BF3E04}"/>
              </a:ext>
            </a:extLst>
          </p:cNvPr>
          <p:cNvCxnSpPr>
            <a:stCxn id="23" idx="0"/>
            <a:endCxn id="4" idx="4"/>
          </p:cNvCxnSpPr>
          <p:nvPr/>
        </p:nvCxnSpPr>
        <p:spPr>
          <a:xfrm flipV="1">
            <a:off x="5745480" y="3246120"/>
            <a:ext cx="0" cy="5689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Elipse 28">
            <a:extLst>
              <a:ext uri="{FF2B5EF4-FFF2-40B4-BE49-F238E27FC236}">
                <a16:creationId xmlns:a16="http://schemas.microsoft.com/office/drawing/2014/main" id="{27CCE0A5-DB70-C504-CE91-2E94283D1742}"/>
              </a:ext>
            </a:extLst>
          </p:cNvPr>
          <p:cNvSpPr/>
          <p:nvPr/>
        </p:nvSpPr>
        <p:spPr>
          <a:xfrm>
            <a:off x="6846570" y="2475280"/>
            <a:ext cx="1391920" cy="77216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Número de agallas por planta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0" name="Elipse 29">
            <a:extLst>
              <a:ext uri="{FF2B5EF4-FFF2-40B4-BE49-F238E27FC236}">
                <a16:creationId xmlns:a16="http://schemas.microsoft.com/office/drawing/2014/main" id="{0C1B0E75-04BF-202B-99FE-924F1623B7F8}"/>
              </a:ext>
            </a:extLst>
          </p:cNvPr>
          <p:cNvSpPr/>
          <p:nvPr/>
        </p:nvSpPr>
        <p:spPr>
          <a:xfrm>
            <a:off x="8643620" y="2378760"/>
            <a:ext cx="2291079" cy="95504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Especie de la planta con agallas:</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1" u="none" strike="noStrike" kern="1200" cap="none" spc="0" normalizeH="0" baseline="0" noProof="0" dirty="0">
                <a:ln>
                  <a:noFill/>
                </a:ln>
                <a:solidFill>
                  <a:prstClr val="black"/>
                </a:solidFill>
                <a:effectLst/>
                <a:uLnTx/>
                <a:uFillTx/>
                <a:latin typeface="Aptos" panose="02110004020202020204"/>
                <a:ea typeface="+mn-ea"/>
                <a:cs typeface="+mn-cs"/>
              </a:rPr>
              <a:t>Lantana cámara</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50" b="1" i="1" u="none" strike="noStrike" kern="1200" cap="none" spc="0" normalizeH="0" baseline="0" noProof="0" dirty="0" err="1">
                <a:ln>
                  <a:noFill/>
                </a:ln>
                <a:solidFill>
                  <a:prstClr val="black"/>
                </a:solidFill>
                <a:effectLst/>
                <a:uLnTx/>
                <a:uFillTx/>
                <a:latin typeface="Aptos" panose="02110004020202020204"/>
                <a:ea typeface="+mn-ea"/>
                <a:cs typeface="+mn-cs"/>
              </a:rPr>
              <a:t>Lippia</a:t>
            </a:r>
            <a:r>
              <a:rPr kumimoji="0" lang="es-ES" sz="1050" b="1" i="1"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 sz="1050" b="1" i="1" u="none" strike="noStrike" kern="1200" cap="none" spc="0" normalizeH="0" baseline="0" noProof="0" dirty="0" err="1">
                <a:ln>
                  <a:noFill/>
                </a:ln>
                <a:solidFill>
                  <a:prstClr val="black"/>
                </a:solidFill>
                <a:effectLst/>
                <a:uLnTx/>
                <a:uFillTx/>
                <a:latin typeface="Aptos" panose="02110004020202020204"/>
                <a:ea typeface="+mn-ea"/>
                <a:cs typeface="+mn-cs"/>
              </a:rPr>
              <a:t>myriocephala</a:t>
            </a:r>
            <a:r>
              <a:rPr kumimoji="0" lang="es-ES" sz="1050" b="1" i="1" u="none" strike="noStrike" kern="1200" cap="none" spc="0" normalizeH="0" baseline="0" noProof="0" dirty="0">
                <a:ln>
                  <a:noFill/>
                </a:ln>
                <a:solidFill>
                  <a:prstClr val="black"/>
                </a:solidFill>
                <a:effectLst/>
                <a:uLnTx/>
                <a:uFillTx/>
                <a:latin typeface="Aptos" panose="02110004020202020204"/>
                <a:ea typeface="+mn-ea"/>
                <a:cs typeface="+mn-cs"/>
              </a:rPr>
              <a:t>  </a:t>
            </a:r>
          </a:p>
        </p:txBody>
      </p:sp>
      <p:cxnSp>
        <p:nvCxnSpPr>
          <p:cNvPr id="37" name="Conector recto de flecha 36">
            <a:extLst>
              <a:ext uri="{FF2B5EF4-FFF2-40B4-BE49-F238E27FC236}">
                <a16:creationId xmlns:a16="http://schemas.microsoft.com/office/drawing/2014/main" id="{B0F66C47-355C-3C97-D252-D424D8C35644}"/>
              </a:ext>
            </a:extLst>
          </p:cNvPr>
          <p:cNvCxnSpPr>
            <a:stCxn id="30" idx="2"/>
            <a:endCxn id="29" idx="6"/>
          </p:cNvCxnSpPr>
          <p:nvPr/>
        </p:nvCxnSpPr>
        <p:spPr>
          <a:xfrm flipH="1">
            <a:off x="8238490" y="2856280"/>
            <a:ext cx="405130" cy="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Conector: curvado 41">
            <a:extLst>
              <a:ext uri="{FF2B5EF4-FFF2-40B4-BE49-F238E27FC236}">
                <a16:creationId xmlns:a16="http://schemas.microsoft.com/office/drawing/2014/main" id="{B0791C22-A756-2545-28F5-EF052AA67697}"/>
              </a:ext>
            </a:extLst>
          </p:cNvPr>
          <p:cNvCxnSpPr>
            <a:stCxn id="30" idx="0"/>
            <a:endCxn id="4" idx="0"/>
          </p:cNvCxnSpPr>
          <p:nvPr/>
        </p:nvCxnSpPr>
        <p:spPr>
          <a:xfrm rot="16200000" flipH="1" flipV="1">
            <a:off x="7719720" y="404520"/>
            <a:ext cx="95200" cy="4043680"/>
          </a:xfrm>
          <a:prstGeom prst="curvedConnector3">
            <a:avLst>
              <a:gd name="adj1" fmla="val -240126"/>
            </a:avLst>
          </a:prstGeom>
          <a:ln>
            <a:tailEnd type="triangle"/>
          </a:ln>
        </p:spPr>
        <p:style>
          <a:lnRef idx="2">
            <a:schemeClr val="dk1"/>
          </a:lnRef>
          <a:fillRef idx="0">
            <a:schemeClr val="dk1"/>
          </a:fillRef>
          <a:effectRef idx="1">
            <a:schemeClr val="dk1"/>
          </a:effectRef>
          <a:fontRef idx="minor">
            <a:schemeClr val="tx1"/>
          </a:fontRef>
        </p:style>
      </p:cxnSp>
      <p:sp>
        <p:nvSpPr>
          <p:cNvPr id="2" name="Elipse 1">
            <a:extLst>
              <a:ext uri="{FF2B5EF4-FFF2-40B4-BE49-F238E27FC236}">
                <a16:creationId xmlns:a16="http://schemas.microsoft.com/office/drawing/2014/main" id="{0D87A69A-9336-EDF6-12EC-46EC343960A5}"/>
              </a:ext>
            </a:extLst>
          </p:cNvPr>
          <p:cNvSpPr/>
          <p:nvPr/>
        </p:nvSpPr>
        <p:spPr>
          <a:xfrm>
            <a:off x="2367280" y="473760"/>
            <a:ext cx="1391920" cy="772160"/>
          </a:xfrm>
          <a:prstGeom prst="ellipse">
            <a:avLst/>
          </a:prstGeom>
          <a:noFill/>
          <a:ln>
            <a:solidFill>
              <a:srgbClr val="FF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Bosque mesófilo de montaña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33" name="Conector recto de flecha 32">
            <a:extLst>
              <a:ext uri="{FF2B5EF4-FFF2-40B4-BE49-F238E27FC236}">
                <a16:creationId xmlns:a16="http://schemas.microsoft.com/office/drawing/2014/main" id="{4AD88C7C-89FD-F75F-9713-4E3963D345D5}"/>
              </a:ext>
            </a:extLst>
          </p:cNvPr>
          <p:cNvCxnSpPr>
            <a:cxnSpLocks/>
            <a:stCxn id="2" idx="3"/>
            <a:endCxn id="6" idx="7"/>
          </p:cNvCxnSpPr>
          <p:nvPr/>
        </p:nvCxnSpPr>
        <p:spPr>
          <a:xfrm flipH="1">
            <a:off x="1848478" y="1132840"/>
            <a:ext cx="722644" cy="1454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Conector recto de flecha 34">
            <a:extLst>
              <a:ext uri="{FF2B5EF4-FFF2-40B4-BE49-F238E27FC236}">
                <a16:creationId xmlns:a16="http://schemas.microsoft.com/office/drawing/2014/main" id="{1EC53D51-E17B-8CA0-9EEC-22E69D28D482}"/>
              </a:ext>
            </a:extLst>
          </p:cNvPr>
          <p:cNvCxnSpPr>
            <a:cxnSpLocks/>
            <a:stCxn id="2" idx="4"/>
          </p:cNvCxnSpPr>
          <p:nvPr/>
        </p:nvCxnSpPr>
        <p:spPr>
          <a:xfrm flipH="1">
            <a:off x="1817998" y="1245920"/>
            <a:ext cx="1245242" cy="25691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Conector recto de flecha 37">
            <a:extLst>
              <a:ext uri="{FF2B5EF4-FFF2-40B4-BE49-F238E27FC236}">
                <a16:creationId xmlns:a16="http://schemas.microsoft.com/office/drawing/2014/main" id="{7D81FDC9-7889-1ABF-CA0D-62A1EC1CFC9B}"/>
              </a:ext>
            </a:extLst>
          </p:cNvPr>
          <p:cNvCxnSpPr>
            <a:cxnSpLocks/>
            <a:stCxn id="2" idx="5"/>
            <a:endCxn id="8" idx="0"/>
          </p:cNvCxnSpPr>
          <p:nvPr/>
        </p:nvCxnSpPr>
        <p:spPr>
          <a:xfrm flipH="1">
            <a:off x="3408680" y="1132840"/>
            <a:ext cx="146678" cy="1341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Elipse 2">
            <a:extLst>
              <a:ext uri="{FF2B5EF4-FFF2-40B4-BE49-F238E27FC236}">
                <a16:creationId xmlns:a16="http://schemas.microsoft.com/office/drawing/2014/main" id="{941E5967-F0ED-B149-AD9B-1793B2BD5914}"/>
              </a:ext>
            </a:extLst>
          </p:cNvPr>
          <p:cNvSpPr/>
          <p:nvPr/>
        </p:nvSpPr>
        <p:spPr>
          <a:xfrm>
            <a:off x="5039360" y="1030580"/>
            <a:ext cx="1391920" cy="772160"/>
          </a:xfrm>
          <a:prstGeom prst="ellips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kumimoji="0" lang="es-ES" sz="1050" b="1" i="0" u="none" strike="noStrike" kern="1200" cap="none" spc="0" normalizeH="0" baseline="0" noProof="0" dirty="0">
                <a:ln>
                  <a:noFill/>
                </a:ln>
                <a:solidFill>
                  <a:prstClr val="black"/>
                </a:solidFill>
                <a:effectLst/>
                <a:uLnTx/>
                <a:uFillTx/>
                <a:latin typeface="Aptos" panose="02110004020202020204"/>
                <a:ea typeface="+mn-ea"/>
                <a:cs typeface="+mn-cs"/>
              </a:rPr>
              <a:t>Colonización</a:t>
            </a:r>
            <a:r>
              <a:rPr kumimoji="0" lang="es-ES" sz="1050" b="1" i="0" u="none" strike="noStrike" kern="1200" cap="none" spc="0" normalizeH="0" noProof="0" dirty="0">
                <a:ln>
                  <a:noFill/>
                </a:ln>
                <a:solidFill>
                  <a:prstClr val="black"/>
                </a:solidFill>
                <a:effectLst/>
                <a:uLnTx/>
                <a:uFillTx/>
                <a:latin typeface="Aptos" panose="02110004020202020204"/>
                <a:ea typeface="+mn-ea"/>
                <a:cs typeface="+mn-cs"/>
              </a:rPr>
              <a:t> secundaria</a:t>
            </a:r>
            <a:endParaRPr kumimoji="0" lang="es-MX" sz="105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9" name="Conector recto de flecha 8">
            <a:extLst>
              <a:ext uri="{FF2B5EF4-FFF2-40B4-BE49-F238E27FC236}">
                <a16:creationId xmlns:a16="http://schemas.microsoft.com/office/drawing/2014/main" id="{61C693A2-4BA2-4BCA-A678-909B6E7C1051}"/>
              </a:ext>
            </a:extLst>
          </p:cNvPr>
          <p:cNvCxnSpPr/>
          <p:nvPr/>
        </p:nvCxnSpPr>
        <p:spPr>
          <a:xfrm flipH="1" flipV="1">
            <a:off x="5735320" y="1802740"/>
            <a:ext cx="10160" cy="6712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36136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4CA8A-CED8-3B21-9CA5-678F3462D3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FB492AB-12B1-14F3-23CE-535E986A71A6}"/>
              </a:ext>
            </a:extLst>
          </p:cNvPr>
          <p:cNvSpPr>
            <a:spLocks noGrp="1"/>
          </p:cNvSpPr>
          <p:nvPr>
            <p:ph type="title"/>
          </p:nvPr>
        </p:nvSpPr>
        <p:spPr/>
        <p:txBody>
          <a:bodyPr/>
          <a:lstStyle/>
          <a:p>
            <a:r>
              <a:rPr lang="es-ES" dirty="0"/>
              <a:t>Ecuación propuesta: y = µ + T + E + S + ƞ + Ɛ</a:t>
            </a:r>
            <a:endParaRPr lang="es-MX" dirty="0"/>
          </a:p>
        </p:txBody>
      </p:sp>
      <p:sp>
        <p:nvSpPr>
          <p:cNvPr id="3" name="Marcador de contenido 2">
            <a:extLst>
              <a:ext uri="{FF2B5EF4-FFF2-40B4-BE49-F238E27FC236}">
                <a16:creationId xmlns:a16="http://schemas.microsoft.com/office/drawing/2014/main" id="{EC8C7372-FD60-FB83-0290-E5A0B070CF0A}"/>
              </a:ext>
            </a:extLst>
          </p:cNvPr>
          <p:cNvSpPr>
            <a:spLocks noGrp="1"/>
          </p:cNvSpPr>
          <p:nvPr>
            <p:ph idx="1"/>
          </p:nvPr>
        </p:nvSpPr>
        <p:spPr/>
        <p:txBody>
          <a:bodyPr>
            <a:normAutofit lnSpcReduction="10000"/>
          </a:bodyPr>
          <a:lstStyle/>
          <a:p>
            <a:pPr marL="0" indent="0">
              <a:buNone/>
            </a:pPr>
            <a:r>
              <a:rPr lang="es-MX" dirty="0"/>
              <a:t>Donde:</a:t>
            </a:r>
          </a:p>
          <a:p>
            <a:pPr marL="457200" indent="-457200">
              <a:buFont typeface="+mj-lt"/>
              <a:buAutoNum type="arabicPeriod"/>
            </a:pPr>
            <a:r>
              <a:rPr lang="es-ES" dirty="0"/>
              <a:t>Y = abundancia (cantidad de individuos), riqueza (numero de especies) o frecuencia (si se repite una especie) </a:t>
            </a:r>
          </a:p>
          <a:p>
            <a:pPr marL="457200" indent="-457200">
              <a:buFont typeface="+mj-lt"/>
              <a:buAutoNum type="arabicPeriod"/>
            </a:pPr>
            <a:r>
              <a:rPr lang="es-ES" dirty="0"/>
              <a:t>µ = media</a:t>
            </a:r>
            <a:endParaRPr lang="es-MX" dirty="0"/>
          </a:p>
          <a:p>
            <a:pPr marL="457200" indent="-457200">
              <a:buFont typeface="+mj-lt"/>
              <a:buAutoNum type="arabicPeriod"/>
            </a:pPr>
            <a:r>
              <a:rPr lang="es-MX" dirty="0"/>
              <a:t>T = Tamaño de la agalla</a:t>
            </a:r>
          </a:p>
          <a:p>
            <a:pPr marL="457200" indent="-457200">
              <a:buFont typeface="+mj-lt"/>
              <a:buAutoNum type="arabicPeriod"/>
            </a:pPr>
            <a:r>
              <a:rPr lang="es-MX" dirty="0"/>
              <a:t>E = Estación</a:t>
            </a:r>
          </a:p>
          <a:p>
            <a:pPr marL="457200" indent="-457200">
              <a:buFont typeface="+mj-lt"/>
              <a:buAutoNum type="arabicPeriod"/>
            </a:pPr>
            <a:r>
              <a:rPr lang="es-MX" dirty="0"/>
              <a:t>S = Especie</a:t>
            </a:r>
          </a:p>
          <a:p>
            <a:pPr marL="457200" indent="-457200">
              <a:buFont typeface="+mj-lt"/>
              <a:buAutoNum type="arabicPeriod"/>
            </a:pPr>
            <a:r>
              <a:rPr lang="es-ES" dirty="0"/>
              <a:t>Ƞ = Error aleatorio de cada planta</a:t>
            </a:r>
          </a:p>
          <a:p>
            <a:pPr marL="457200" indent="-457200">
              <a:buFont typeface="+mj-lt"/>
              <a:buAutoNum type="arabicPeriod"/>
            </a:pPr>
            <a:r>
              <a:rPr lang="es-MX" dirty="0"/>
              <a:t>Ɛ = Error </a:t>
            </a:r>
            <a:r>
              <a:rPr lang="es-MX" dirty="0" err="1"/>
              <a:t>estandar</a:t>
            </a:r>
            <a:endParaRPr lang="es-MX" dirty="0"/>
          </a:p>
          <a:p>
            <a:pPr marL="457200" indent="-457200">
              <a:buFont typeface="+mj-lt"/>
              <a:buAutoNum type="arabicPeriod"/>
            </a:pPr>
            <a:endParaRPr lang="es-ES" dirty="0"/>
          </a:p>
        </p:txBody>
      </p:sp>
    </p:spTree>
    <p:extLst>
      <p:ext uri="{BB962C8B-B14F-4D97-AF65-F5344CB8AC3E}">
        <p14:creationId xmlns:p14="http://schemas.microsoft.com/office/powerpoint/2010/main" val="1365766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6B1843-3BBF-1877-9097-E5030F271BBA}"/>
              </a:ext>
            </a:extLst>
          </p:cNvPr>
          <p:cNvSpPr>
            <a:spLocks noGrp="1"/>
          </p:cNvSpPr>
          <p:nvPr>
            <p:ph type="title"/>
          </p:nvPr>
        </p:nvSpPr>
        <p:spPr/>
        <p:txBody>
          <a:bodyPr/>
          <a:lstStyle/>
          <a:p>
            <a:r>
              <a:rPr lang="es-ES" dirty="0"/>
              <a:t>Y aun así me faltan cosas</a:t>
            </a:r>
            <a:endParaRPr lang="es-MX" dirty="0"/>
          </a:p>
        </p:txBody>
      </p:sp>
      <p:sp>
        <p:nvSpPr>
          <p:cNvPr id="3" name="Marcador de contenido 2">
            <a:extLst>
              <a:ext uri="{FF2B5EF4-FFF2-40B4-BE49-F238E27FC236}">
                <a16:creationId xmlns:a16="http://schemas.microsoft.com/office/drawing/2014/main" id="{91E2CBDB-00E8-80B2-48C7-4367D4F6E1DF}"/>
              </a:ext>
            </a:extLst>
          </p:cNvPr>
          <p:cNvSpPr>
            <a:spLocks noGrp="1"/>
          </p:cNvSpPr>
          <p:nvPr>
            <p:ph idx="1"/>
          </p:nvPr>
        </p:nvSpPr>
        <p:spPr/>
        <p:txBody>
          <a:bodyPr/>
          <a:lstStyle/>
          <a:p>
            <a:pPr>
              <a:buFont typeface="Arial" panose="020B0604020202020204" pitchFamily="34" charset="0"/>
              <a:buChar char="•"/>
            </a:pPr>
            <a:r>
              <a:rPr lang="es-ES" dirty="0"/>
              <a:t>Falta poner a probar el </a:t>
            </a:r>
            <a:r>
              <a:rPr lang="es-ES" dirty="0" err="1"/>
              <a:t>dag</a:t>
            </a:r>
            <a:endParaRPr lang="es-ES" dirty="0"/>
          </a:p>
          <a:p>
            <a:pPr>
              <a:buFont typeface="Arial" panose="020B0604020202020204" pitchFamily="34" charset="0"/>
              <a:buChar char="•"/>
            </a:pPr>
            <a:r>
              <a:rPr lang="es-ES" dirty="0"/>
              <a:t>Falta probar el modelo con datos simulados</a:t>
            </a:r>
          </a:p>
          <a:p>
            <a:pPr>
              <a:buFont typeface="Arial" panose="020B0604020202020204" pitchFamily="34" charset="0"/>
              <a:buChar char="•"/>
            </a:pPr>
            <a:endParaRPr lang="es-ES" dirty="0"/>
          </a:p>
          <a:p>
            <a:pPr>
              <a:buFont typeface="Arial" panose="020B0604020202020204" pitchFamily="34" charset="0"/>
              <a:buChar char="•"/>
            </a:pPr>
            <a:endParaRPr lang="es-ES" dirty="0"/>
          </a:p>
          <a:p>
            <a:pPr>
              <a:buFont typeface="Arial" panose="020B0604020202020204" pitchFamily="34" charset="0"/>
              <a:buChar char="•"/>
            </a:pPr>
            <a:endParaRPr lang="es-ES" dirty="0"/>
          </a:p>
          <a:p>
            <a:pPr marL="0" indent="0">
              <a:buNone/>
            </a:pPr>
            <a:r>
              <a:rPr lang="es-ES" dirty="0"/>
              <a:t>Y un buen de cosas que posiblemente pase por alto</a:t>
            </a:r>
          </a:p>
        </p:txBody>
      </p:sp>
    </p:spTree>
    <p:extLst>
      <p:ext uri="{BB962C8B-B14F-4D97-AF65-F5344CB8AC3E}">
        <p14:creationId xmlns:p14="http://schemas.microsoft.com/office/powerpoint/2010/main" val="1520799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F15C28-73D0-3005-5013-F0E60E6772E5}"/>
              </a:ext>
            </a:extLst>
          </p:cNvPr>
          <p:cNvSpPr>
            <a:spLocks noGrp="1"/>
          </p:cNvSpPr>
          <p:nvPr>
            <p:ph type="title"/>
          </p:nvPr>
        </p:nvSpPr>
        <p:spPr/>
        <p:txBody>
          <a:bodyPr/>
          <a:lstStyle/>
          <a:p>
            <a:r>
              <a:rPr lang="es-ES" dirty="0"/>
              <a:t>La enseñanza mas grande </a:t>
            </a:r>
            <a:endParaRPr lang="es-MX" dirty="0"/>
          </a:p>
        </p:txBody>
      </p:sp>
      <p:sp>
        <p:nvSpPr>
          <p:cNvPr id="3" name="Marcador de contenido 2">
            <a:extLst>
              <a:ext uri="{FF2B5EF4-FFF2-40B4-BE49-F238E27FC236}">
                <a16:creationId xmlns:a16="http://schemas.microsoft.com/office/drawing/2014/main" id="{95443C8B-9764-7005-8188-FC4D558AECB5}"/>
              </a:ext>
            </a:extLst>
          </p:cNvPr>
          <p:cNvSpPr>
            <a:spLocks noGrp="1"/>
          </p:cNvSpPr>
          <p:nvPr>
            <p:ph idx="1"/>
          </p:nvPr>
        </p:nvSpPr>
        <p:spPr/>
        <p:txBody>
          <a:bodyPr/>
          <a:lstStyle/>
          <a:p>
            <a:r>
              <a:rPr lang="es-ES" dirty="0"/>
              <a:t>Nunca podre explicar la realidad en su totalidad y eso esta bien.</a:t>
            </a:r>
          </a:p>
          <a:p>
            <a:endParaRPr lang="es-ES" dirty="0"/>
          </a:p>
          <a:p>
            <a:r>
              <a:rPr lang="es-ES" dirty="0"/>
              <a:t>Mi ecuación puede estar incorrecta y eso no es malo (antes de usarla claro esta).</a:t>
            </a:r>
          </a:p>
          <a:p>
            <a:endParaRPr lang="es-ES" dirty="0"/>
          </a:p>
          <a:p>
            <a:r>
              <a:rPr lang="es-ES" dirty="0"/>
              <a:t>Lo importante es tener en claro lo que se esta estudiando para poder diseñar el experimento de manera que este explique de la mejor forma posible el fenómeno analizado que forma parte en la gran red de eventos que llamamos realidad.</a:t>
            </a:r>
            <a:endParaRPr lang="es-MX" dirty="0"/>
          </a:p>
        </p:txBody>
      </p:sp>
    </p:spTree>
    <p:extLst>
      <p:ext uri="{BB962C8B-B14F-4D97-AF65-F5344CB8AC3E}">
        <p14:creationId xmlns:p14="http://schemas.microsoft.com/office/powerpoint/2010/main" val="3260782212"/>
      </p:ext>
    </p:extLst>
  </p:cSld>
  <p:clrMapOvr>
    <a:masterClrMapping/>
  </p:clrMapOvr>
</p:sld>
</file>

<file path=ppt/theme/theme1.xml><?xml version="1.0" encoding="utf-8"?>
<a:theme xmlns:a="http://schemas.openxmlformats.org/drawingml/2006/main" name="Metropolitano">
  <a:themeElements>
    <a:clrScheme name="Metropolitano">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o">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TM03457491[[fn=Metropolitano]]</Template>
  <TotalTime>591</TotalTime>
  <Words>342</Words>
  <Application>Microsoft Office PowerPoint</Application>
  <PresentationFormat>Panorámica</PresentationFormat>
  <Paragraphs>76</Paragraphs>
  <Slides>8</Slides>
  <Notes>0</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8</vt:i4>
      </vt:variant>
    </vt:vector>
  </HeadingPairs>
  <TitlesOfParts>
    <vt:vector size="14" baseType="lpstr">
      <vt:lpstr>Aptos</vt:lpstr>
      <vt:lpstr>Aptos Display</vt:lpstr>
      <vt:lpstr>Arial</vt:lpstr>
      <vt:lpstr>Calibri Light</vt:lpstr>
      <vt:lpstr>Metropolitano</vt:lpstr>
      <vt:lpstr>Tema de Office</vt:lpstr>
      <vt:lpstr>Colonización secundaria y factores bióticos/abióticos</vt:lpstr>
      <vt:lpstr>¿Qué se quiere saber?</vt:lpstr>
      <vt:lpstr>Presentación de PowerPoint</vt:lpstr>
      <vt:lpstr>Controlando posibles sesgos</vt:lpstr>
      <vt:lpstr>Presentación de PowerPoint</vt:lpstr>
      <vt:lpstr>Ecuación propuesta: y = µ + T + E + S + ƞ + Ɛ</vt:lpstr>
      <vt:lpstr>Y aun así me faltan cosas</vt:lpstr>
      <vt:lpstr>La enseñanza mas grande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ALVARADO MEZA</dc:creator>
  <cp:lastModifiedBy>ERIC ALVARADO MEZA</cp:lastModifiedBy>
  <cp:revision>5</cp:revision>
  <dcterms:created xsi:type="dcterms:W3CDTF">2026-02-05T03:54:53Z</dcterms:created>
  <dcterms:modified xsi:type="dcterms:W3CDTF">2026-02-06T05:00:37Z</dcterms:modified>
</cp:coreProperties>
</file>