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7" r:id="rId5"/>
    <p:sldId id="320" r:id="rId6"/>
    <p:sldId id="309" r:id="rId7"/>
    <p:sldId id="321" r:id="rId8"/>
    <p:sldId id="308" r:id="rId9"/>
    <p:sldId id="310" r:id="rId10"/>
    <p:sldId id="304" r:id="rId1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7700"/>
    <a:srgbClr val="636A58"/>
    <a:srgbClr val="505A47"/>
    <a:srgbClr val="D1D8B7"/>
    <a:srgbClr val="A09D79"/>
    <a:srgbClr val="AD5C4D"/>
    <a:srgbClr val="543E35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09E04D-6F55-462F-99E0-9502B3ACC2F1}" v="327" dt="2026-02-06T16:56:00.149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5405" autoAdjust="0"/>
  </p:normalViewPr>
  <p:slideViewPr>
    <p:cSldViewPr snapToGrid="0">
      <p:cViewPr varScale="1">
        <p:scale>
          <a:sx n="91" d="100"/>
          <a:sy n="91" d="100"/>
        </p:scale>
        <p:origin x="139" y="5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970A34E-C9A1-4D6D-B964-CB39DA57C2B9}" type="datetime1">
              <a:rPr lang="es-ES" smtClean="0"/>
              <a:t>06/02/2026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49E357A0-8177-46BC-BFCE-19D99E3453C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2A8C509-4362-4F8A-B958-A6C4E6AF78CB}" type="datetime1">
              <a:rPr lang="es-ES" noProof="0" smtClean="0"/>
              <a:t>06/02/2026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7C366290-4595-5745-A50F-D5EC13BAC60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lvl1pPr algn="ctr"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rtlCol="0" anchor="ctr" anchorCtr="0"/>
          <a:lstStyle>
            <a:lvl1pPr algn="l">
              <a:defRPr lang="es-ES" sz="32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 rtlCol="0"/>
          <a:lstStyle>
            <a:lvl1pPr marL="0" indent="0" algn="r">
              <a:buNone/>
              <a:defRPr lang="es-ES" sz="2400" cap="all" baseline="0"/>
            </a:lvl1pPr>
            <a:lvl2pPr marL="457200" indent="0" algn="r">
              <a:buNone/>
              <a:defRPr lang="es-ES" sz="1800">
                <a:latin typeface="+mj-lt"/>
              </a:defRPr>
            </a:lvl2pPr>
            <a:lvl3pPr marL="914400" indent="0" algn="r">
              <a:buNone/>
              <a:defRPr lang="es-ES"/>
            </a:lvl3pPr>
            <a:lvl4pPr marL="1371600" indent="0" algn="r">
              <a:buNone/>
              <a:defRPr lang="es-ES"/>
            </a:lvl4pPr>
            <a:lvl5pPr marL="1828800" indent="0" algn="r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n con ley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>
              <a:lnSpc>
                <a:spcPct val="75000"/>
              </a:lnSpc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t">
            <a:noAutofit/>
          </a:bodyPr>
          <a:lstStyle>
            <a:lvl1pPr marL="0" indent="0" algn="r">
              <a:buNone/>
              <a:defRPr lang="es-ES" sz="18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cabezado de secció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bre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rtlCol="0" anchor="b"/>
          <a:lstStyle>
            <a:lvl1pPr>
              <a:lnSpc>
                <a:spcPct val="75000"/>
              </a:lnSpc>
              <a:defRPr lang="es-ES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 rtlCol="0">
            <a:noAutofit/>
          </a:bodyPr>
          <a:lstStyle>
            <a:lvl1pPr marL="0" indent="0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 rtlCol="0">
            <a:noAutofit/>
          </a:bodyPr>
          <a:lstStyle>
            <a:lvl1pPr marL="0" indent="0">
              <a:buFont typeface="Courier New" panose="02070309020205020404" pitchFamily="49" charset="0"/>
              <a:buNone/>
              <a:defRPr lang="es-ES" sz="2400" b="0" cap="all" baseline="0"/>
            </a:lvl1pPr>
            <a:lvl2pPr>
              <a:defRPr lang="es-ES" sz="2400"/>
            </a:lvl2pPr>
            <a:lvl3pPr>
              <a:defRPr lang="es-ES" sz="2400"/>
            </a:lvl3pPr>
            <a:lvl4pPr>
              <a:defRPr lang="es-ES" sz="2400"/>
            </a:lvl4pPr>
            <a:lvl5pPr>
              <a:defRPr lang="es-ES" sz="2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ítulo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 rtlCol="0">
            <a:normAutofit/>
          </a:bodyPr>
          <a:lstStyle>
            <a:lvl1pPr>
              <a:defRPr lang="es-ES" sz="2000"/>
            </a:lvl1pPr>
            <a:lvl2pPr>
              <a:defRPr lang="es-ES" sz="1800"/>
            </a:lvl2pPr>
            <a:lvl3pPr>
              <a:defRPr lang="es-ES" sz="1600"/>
            </a:lvl3pPr>
            <a:lvl4pPr>
              <a:defRPr lang="es-ES" sz="1400"/>
            </a:lvl4pPr>
            <a:lvl5pPr>
              <a:defRPr lang="es-ES" sz="14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rtlCol="0" anchor="b" anchorCtr="0"/>
          <a:lstStyle>
            <a:lvl1pPr algn="ctr">
              <a:defRPr lang="es-ES" sz="4800" cap="none" baseline="0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2400" cap="all" baseline="0"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" name="Marcador de contenido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 rtlCol="0">
            <a:normAutofit/>
          </a:bodyPr>
          <a:lstStyle>
            <a:lvl1pPr marL="228600" indent="-228600">
              <a:buFont typeface="+mj-lt"/>
              <a:buAutoNum type="arabicPeriod"/>
              <a:defRPr lang="es-ES"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lang="es-ES"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lang="es-ES"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lang="es-ES"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ido e imagen del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s-ES" dirty="0"/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y dos contenidos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 libre: Forma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" name="Forma libre: Forma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ítulo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s-ES" dirty="0"/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es-ES"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es-ES"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2" name="Marcador de contenido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5" name="Título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posición de tabla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MX"/>
              <a:t>Haz clic en el icono para agregar una tabla</a:t>
            </a:r>
            <a:endParaRPr lang="es-ES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 algn="l"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rtlCol="0"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lang="es-ES"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 dirty="0"/>
              <a:t>Evaluación de estrés fisiológico en lobo mexicano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4254F7-250F-DB17-2DD9-5C973A6B39BA}"/>
              </a:ext>
            </a:extLst>
          </p:cNvPr>
          <p:cNvSpPr txBox="1"/>
          <p:nvPr/>
        </p:nvSpPr>
        <p:spPr>
          <a:xfrm>
            <a:off x="5159230" y="4437776"/>
            <a:ext cx="273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Ivana Clarisa Irineo Reyes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702DE-039A-3D95-F8DB-E73416E2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8F6838-FF40-57E8-0F70-71F18C745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s-ES" smtClean="0"/>
              <a:pPr rtl="0"/>
              <a:t>2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97A596-1C68-8EEC-9256-07F0DE670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55" y="1979800"/>
            <a:ext cx="2929264" cy="33211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BDED66A-69CC-3A16-EBD8-BC8E39384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443" y="1975255"/>
            <a:ext cx="2246685" cy="18547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DED44A5-5E9A-FE1E-6598-0E4D40D6A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133" y="1979800"/>
            <a:ext cx="2326527" cy="176743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5BC607-2DBA-BEB1-DF54-798A5C69C8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1514"/>
          <a:stretch/>
        </p:blipFill>
        <p:spPr>
          <a:xfrm>
            <a:off x="6309729" y="3652637"/>
            <a:ext cx="1814572" cy="16528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069ACFF-52CE-143D-16E0-B139722CB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398828" y="3368871"/>
            <a:ext cx="1706566" cy="211523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87C8019-43C1-4D38-5E74-771406CE6E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196" y="1959412"/>
            <a:ext cx="2600155" cy="33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8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Pregunta de investigación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7191375" cy="3356576"/>
          </a:xfrm>
        </p:spPr>
        <p:txBody>
          <a:bodyPr rtlCol="0"/>
          <a:lstStyle>
            <a:defPPr>
              <a:defRPr lang="es-ES"/>
            </a:defPPr>
          </a:lstStyle>
          <a:p>
            <a:pPr algn="just"/>
            <a:r>
              <a:rPr lang="es-MX" dirty="0"/>
              <a:t>Se plantea si es posible desarrollar una técnica o herramienta que permita determinar el estrés en los lobos, diferente al estudio del cortisol, utilizando exámenes rutinarios de plasma y sangre, así como la relación del estrés con diferentes cuidados o manejos humanos y su efecto en la fisiología de los individuos estudiados.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58FB4751-880F-D840-AAA9-3A15815CC996}" type="slidenum">
              <a:rPr lang="es-ES" smtClean="0"/>
              <a:pPr rtl="0"/>
              <a:t>3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A52B3F2-96F0-EA1F-15F2-310F7FB77A47}"/>
                  </a:ext>
                </a:extLst>
              </p:cNvPr>
              <p:cNvSpPr txBox="1"/>
              <p:nvPr/>
            </p:nvSpPr>
            <p:spPr>
              <a:xfrm>
                <a:off x="4064465" y="4093828"/>
                <a:ext cx="222727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MX" sz="28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A52B3F2-96F0-EA1F-15F2-310F7FB7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465" y="4093828"/>
                <a:ext cx="222727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xplosión: 14 puntos 4">
            <a:extLst>
              <a:ext uri="{FF2B5EF4-FFF2-40B4-BE49-F238E27FC236}">
                <a16:creationId xmlns:a16="http://schemas.microsoft.com/office/drawing/2014/main" id="{8DB27AAE-0809-115C-E72D-C4104E693B72}"/>
              </a:ext>
            </a:extLst>
          </p:cNvPr>
          <p:cNvSpPr/>
          <p:nvPr/>
        </p:nvSpPr>
        <p:spPr>
          <a:xfrm>
            <a:off x="6589463" y="3993160"/>
            <a:ext cx="3032621" cy="1793147"/>
          </a:xfrm>
          <a:prstGeom prst="irregularSeal2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¿cómo resolver una n pequeña?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39E1B09-A776-2D73-7C8E-42A27B5A1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05E9C69B-5E96-CEF5-44C5-3C01474708A0}"/>
              </a:ext>
            </a:extLst>
          </p:cNvPr>
          <p:cNvSpPr/>
          <p:nvPr/>
        </p:nvSpPr>
        <p:spPr>
          <a:xfrm>
            <a:off x="6151880" y="3611032"/>
            <a:ext cx="1222588" cy="59266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Estrés fisiológico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0C2CC57-C12E-E52B-9495-8353BCA3878B}"/>
              </a:ext>
            </a:extLst>
          </p:cNvPr>
          <p:cNvSpPr/>
          <p:nvPr/>
        </p:nvSpPr>
        <p:spPr>
          <a:xfrm>
            <a:off x="8652933" y="4885267"/>
            <a:ext cx="1210733" cy="5672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/>
              <a:t>Glucorticoides</a:t>
            </a:r>
            <a:r>
              <a:rPr lang="es-MX" sz="1200" dirty="0"/>
              <a:t> (cortisol)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5108CD82-51E1-2586-7B1A-53A07C58EE95}"/>
              </a:ext>
            </a:extLst>
          </p:cNvPr>
          <p:cNvSpPr/>
          <p:nvPr/>
        </p:nvSpPr>
        <p:spPr>
          <a:xfrm>
            <a:off x="8648700" y="3149601"/>
            <a:ext cx="889000" cy="4148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Glucosa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104097E-E3BA-78A3-5BB0-3B1F2632F2F9}"/>
              </a:ext>
            </a:extLst>
          </p:cNvPr>
          <p:cNvSpPr/>
          <p:nvPr/>
        </p:nvSpPr>
        <p:spPr>
          <a:xfrm>
            <a:off x="8648700" y="4292600"/>
            <a:ext cx="889000" cy="4148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LDH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ECDF160-CB4B-BB56-9D9F-F8F66AA680EA}"/>
              </a:ext>
            </a:extLst>
          </p:cNvPr>
          <p:cNvSpPr/>
          <p:nvPr/>
        </p:nvSpPr>
        <p:spPr>
          <a:xfrm>
            <a:off x="8648699" y="5630334"/>
            <a:ext cx="1782233" cy="7027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Respuesta inmune (leucocitos y linfocitos)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E2BB018-2FA0-53D4-7461-ECAF529F5CF6}"/>
              </a:ext>
            </a:extLst>
          </p:cNvPr>
          <p:cNvSpPr/>
          <p:nvPr/>
        </p:nvSpPr>
        <p:spPr>
          <a:xfrm>
            <a:off x="8648700" y="3699933"/>
            <a:ext cx="1058333" cy="4148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Relación A/G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BCE63D9-4246-A60D-3293-563B90B88187}"/>
              </a:ext>
            </a:extLst>
          </p:cNvPr>
          <p:cNvSpPr/>
          <p:nvPr/>
        </p:nvSpPr>
        <p:spPr>
          <a:xfrm>
            <a:off x="8652933" y="2446869"/>
            <a:ext cx="1058333" cy="5672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Estrés oxidativo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31DFFE2-BD79-0D52-65AB-2BE447EAA13B}"/>
              </a:ext>
            </a:extLst>
          </p:cNvPr>
          <p:cNvSpPr/>
          <p:nvPr/>
        </p:nvSpPr>
        <p:spPr>
          <a:xfrm>
            <a:off x="8648699" y="1566337"/>
            <a:ext cx="1960033" cy="7027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Niveles de hormonas (testosterona, progesterona y prolactina)</a:t>
            </a:r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4FBB0132-350F-7A46-8891-85529A5A183A}"/>
              </a:ext>
            </a:extLst>
          </p:cNvPr>
          <p:cNvCxnSpPr>
            <a:stCxn id="50" idx="6"/>
            <a:endCxn id="52" idx="1"/>
          </p:cNvCxnSpPr>
          <p:nvPr/>
        </p:nvCxnSpPr>
        <p:spPr>
          <a:xfrm flipV="1">
            <a:off x="7374468" y="3357034"/>
            <a:ext cx="1274232" cy="550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D16242A2-6D72-0E5F-5298-5F7A8BE10256}"/>
              </a:ext>
            </a:extLst>
          </p:cNvPr>
          <p:cNvCxnSpPr>
            <a:stCxn id="50" idx="6"/>
            <a:endCxn id="55" idx="1"/>
          </p:cNvCxnSpPr>
          <p:nvPr/>
        </p:nvCxnSpPr>
        <p:spPr>
          <a:xfrm>
            <a:off x="7374468" y="3907366"/>
            <a:ext cx="1274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57C33FEB-0B03-FB9D-86DF-0AC3E2406D16}"/>
              </a:ext>
            </a:extLst>
          </p:cNvPr>
          <p:cNvCxnSpPr>
            <a:stCxn id="50" idx="6"/>
            <a:endCxn id="53" idx="1"/>
          </p:cNvCxnSpPr>
          <p:nvPr/>
        </p:nvCxnSpPr>
        <p:spPr>
          <a:xfrm>
            <a:off x="7374468" y="3907366"/>
            <a:ext cx="1274232" cy="592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D71F5914-212B-D0D4-7CFB-4C464AFFEFC6}"/>
              </a:ext>
            </a:extLst>
          </p:cNvPr>
          <p:cNvSpPr/>
          <p:nvPr/>
        </p:nvSpPr>
        <p:spPr>
          <a:xfrm>
            <a:off x="1896333" y="2087035"/>
            <a:ext cx="1261534" cy="3640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Manejo humano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8D2A0E0E-8206-8196-51C7-0774221B8F22}"/>
              </a:ext>
            </a:extLst>
          </p:cNvPr>
          <p:cNvSpPr/>
          <p:nvPr/>
        </p:nvSpPr>
        <p:spPr>
          <a:xfrm>
            <a:off x="1896333" y="3788835"/>
            <a:ext cx="1261534" cy="3640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Reproducción</a:t>
            </a: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ECFA8F21-D903-90E9-71FF-031BE0A6C25F}"/>
              </a:ext>
            </a:extLst>
          </p:cNvPr>
          <p:cNvSpPr/>
          <p:nvPr/>
        </p:nvSpPr>
        <p:spPr>
          <a:xfrm>
            <a:off x="1896333" y="5350933"/>
            <a:ext cx="1261534" cy="3640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Caza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82BBAFF7-97E1-22AA-4A31-72B6472E7628}"/>
              </a:ext>
            </a:extLst>
          </p:cNvPr>
          <p:cNvSpPr/>
          <p:nvPr/>
        </p:nvSpPr>
        <p:spPr>
          <a:xfrm>
            <a:off x="4201411" y="2298698"/>
            <a:ext cx="1261534" cy="36406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Espacio</a:t>
            </a: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2A88BAF3-CC5E-8C13-529A-6FE89605954A}"/>
              </a:ext>
            </a:extLst>
          </p:cNvPr>
          <p:cNvSpPr/>
          <p:nvPr/>
        </p:nvSpPr>
        <p:spPr>
          <a:xfrm>
            <a:off x="4201411" y="2895600"/>
            <a:ext cx="1261534" cy="36406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Alimentación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4E0111A9-E9AA-D71D-14B6-1011086C5306}"/>
              </a:ext>
            </a:extLst>
          </p:cNvPr>
          <p:cNvSpPr/>
          <p:nvPr/>
        </p:nvSpPr>
        <p:spPr>
          <a:xfrm>
            <a:off x="4201411" y="1701796"/>
            <a:ext cx="1261534" cy="36406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Habituación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BB7B7068-2ADE-C729-5748-58AC75CAD5B4}"/>
              </a:ext>
            </a:extLst>
          </p:cNvPr>
          <p:cNvSpPr/>
          <p:nvPr/>
        </p:nvSpPr>
        <p:spPr>
          <a:xfrm>
            <a:off x="4227208" y="4588933"/>
            <a:ext cx="1261534" cy="36406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Temporada</a:t>
            </a: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9F0154FB-BC76-1233-562C-84A1219E9159}"/>
              </a:ext>
            </a:extLst>
          </p:cNvPr>
          <p:cNvSpPr/>
          <p:nvPr/>
        </p:nvSpPr>
        <p:spPr>
          <a:xfrm>
            <a:off x="4201411" y="1121300"/>
            <a:ext cx="1261534" cy="36406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Enfermedad</a:t>
            </a:r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8C573868-D3E4-8C47-932B-96A8BD60A1FF}"/>
              </a:ext>
            </a:extLst>
          </p:cNvPr>
          <p:cNvCxnSpPr>
            <a:cxnSpLocks/>
            <a:stCxn id="68" idx="3"/>
            <a:endCxn id="50" idx="2"/>
          </p:cNvCxnSpPr>
          <p:nvPr/>
        </p:nvCxnSpPr>
        <p:spPr>
          <a:xfrm>
            <a:off x="5462945" y="1303333"/>
            <a:ext cx="688935" cy="2604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1E07FE69-8252-424E-763D-24C23A2E7396}"/>
              </a:ext>
            </a:extLst>
          </p:cNvPr>
          <p:cNvCxnSpPr>
            <a:stCxn id="66" idx="3"/>
            <a:endCxn id="50" idx="2"/>
          </p:cNvCxnSpPr>
          <p:nvPr/>
        </p:nvCxnSpPr>
        <p:spPr>
          <a:xfrm>
            <a:off x="5462945" y="1883829"/>
            <a:ext cx="688935" cy="2023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A488A435-60EA-6FBE-CC7E-5EF86B635209}"/>
              </a:ext>
            </a:extLst>
          </p:cNvPr>
          <p:cNvCxnSpPr>
            <a:stCxn id="64" idx="3"/>
            <a:endCxn id="50" idx="2"/>
          </p:cNvCxnSpPr>
          <p:nvPr/>
        </p:nvCxnSpPr>
        <p:spPr>
          <a:xfrm>
            <a:off x="5462945" y="2480731"/>
            <a:ext cx="688935" cy="1426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06160861-1AB2-B20B-D464-400938BE8894}"/>
              </a:ext>
            </a:extLst>
          </p:cNvPr>
          <p:cNvCxnSpPr>
            <a:stCxn id="65" idx="3"/>
            <a:endCxn id="50" idx="2"/>
          </p:cNvCxnSpPr>
          <p:nvPr/>
        </p:nvCxnSpPr>
        <p:spPr>
          <a:xfrm>
            <a:off x="5462945" y="3077633"/>
            <a:ext cx="688935" cy="82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1341DCF9-3D83-6653-5747-0B28FBE8EA33}"/>
              </a:ext>
            </a:extLst>
          </p:cNvPr>
          <p:cNvCxnSpPr>
            <a:cxnSpLocks/>
            <a:stCxn id="61" idx="3"/>
            <a:endCxn id="68" idx="1"/>
          </p:cNvCxnSpPr>
          <p:nvPr/>
        </p:nvCxnSpPr>
        <p:spPr>
          <a:xfrm flipV="1">
            <a:off x="3157867" y="1303333"/>
            <a:ext cx="1043544" cy="965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994F946E-B2CB-E767-5C13-7A6EDBDEBC39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flipV="1">
            <a:off x="3157867" y="1883829"/>
            <a:ext cx="1043544" cy="385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B5CCA154-46DC-36C7-775C-A3725B01F155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>
            <a:off x="3157867" y="2269068"/>
            <a:ext cx="1043544" cy="211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EECC2B86-5685-9B12-AABD-B9B5967CC4B4}"/>
              </a:ext>
            </a:extLst>
          </p:cNvPr>
          <p:cNvCxnSpPr>
            <a:cxnSpLocks/>
            <a:stCxn id="61" idx="3"/>
            <a:endCxn id="65" idx="1"/>
          </p:cNvCxnSpPr>
          <p:nvPr/>
        </p:nvCxnSpPr>
        <p:spPr>
          <a:xfrm>
            <a:off x="3157867" y="2269068"/>
            <a:ext cx="1043544" cy="808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" name="Forma libre: forma 76">
            <a:extLst>
              <a:ext uri="{FF2B5EF4-FFF2-40B4-BE49-F238E27FC236}">
                <a16:creationId xmlns:a16="http://schemas.microsoft.com/office/drawing/2014/main" id="{A9B87629-E1BF-820D-26DF-1E13A70E2849}"/>
              </a:ext>
            </a:extLst>
          </p:cNvPr>
          <p:cNvSpPr/>
          <p:nvPr/>
        </p:nvSpPr>
        <p:spPr>
          <a:xfrm>
            <a:off x="5469466" y="1303867"/>
            <a:ext cx="948267" cy="1786467"/>
          </a:xfrm>
          <a:custGeom>
            <a:avLst/>
            <a:gdLst>
              <a:gd name="csX0" fmla="*/ 0 w 948267"/>
              <a:gd name="csY0" fmla="*/ 1786467 h 1786467"/>
              <a:gd name="csX1" fmla="*/ 948267 w 948267"/>
              <a:gd name="csY1" fmla="*/ 1024467 h 1786467"/>
              <a:gd name="csX2" fmla="*/ 0 w 948267"/>
              <a:gd name="csY2" fmla="*/ 0 h 1786467"/>
              <a:gd name="csX3" fmla="*/ 0 w 948267"/>
              <a:gd name="csY3" fmla="*/ 0 h 1786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48267" h="1786467">
                <a:moveTo>
                  <a:pt x="0" y="1786467"/>
                </a:moveTo>
                <a:cubicBezTo>
                  <a:pt x="474133" y="1554339"/>
                  <a:pt x="948267" y="1322211"/>
                  <a:pt x="948267" y="1024467"/>
                </a:cubicBezTo>
                <a:cubicBezTo>
                  <a:pt x="948267" y="726723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3B884263-D83D-FA27-C5B3-B27FA356545B}"/>
              </a:ext>
            </a:extLst>
          </p:cNvPr>
          <p:cNvSpPr/>
          <p:nvPr/>
        </p:nvSpPr>
        <p:spPr>
          <a:xfrm>
            <a:off x="1915806" y="3009900"/>
            <a:ext cx="1261534" cy="3640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Otras causas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DE1C974F-4AF5-08F6-22FF-EEB2828265ED}"/>
              </a:ext>
            </a:extLst>
          </p:cNvPr>
          <p:cNvCxnSpPr>
            <a:cxnSpLocks/>
            <a:stCxn id="78" idx="3"/>
            <a:endCxn id="68" idx="1"/>
          </p:cNvCxnSpPr>
          <p:nvPr/>
        </p:nvCxnSpPr>
        <p:spPr>
          <a:xfrm flipV="1">
            <a:off x="3177340" y="1303333"/>
            <a:ext cx="1024071" cy="188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Forma libre: forma 79">
            <a:extLst>
              <a:ext uri="{FF2B5EF4-FFF2-40B4-BE49-F238E27FC236}">
                <a16:creationId xmlns:a16="http://schemas.microsoft.com/office/drawing/2014/main" id="{76E78F4F-3FB2-D347-2E03-222EFB37674A}"/>
              </a:ext>
            </a:extLst>
          </p:cNvPr>
          <p:cNvSpPr/>
          <p:nvPr/>
        </p:nvSpPr>
        <p:spPr>
          <a:xfrm>
            <a:off x="5460999" y="1320800"/>
            <a:ext cx="668940" cy="1143000"/>
          </a:xfrm>
          <a:custGeom>
            <a:avLst/>
            <a:gdLst>
              <a:gd name="csX0" fmla="*/ 0 w 668940"/>
              <a:gd name="csY0" fmla="*/ 1143000 h 1143000"/>
              <a:gd name="csX1" fmla="*/ 668867 w 668940"/>
              <a:gd name="csY1" fmla="*/ 685800 h 1143000"/>
              <a:gd name="csX2" fmla="*/ 33867 w 668940"/>
              <a:gd name="csY2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68940" h="1143000">
                <a:moveTo>
                  <a:pt x="0" y="1143000"/>
                </a:moveTo>
                <a:cubicBezTo>
                  <a:pt x="331611" y="1009650"/>
                  <a:pt x="663223" y="876300"/>
                  <a:pt x="668867" y="685800"/>
                </a:cubicBezTo>
                <a:cubicBezTo>
                  <a:pt x="674511" y="495300"/>
                  <a:pt x="354189" y="247650"/>
                  <a:pt x="33867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A7947EB3-76BF-8A37-5384-D2CC3542D932}"/>
              </a:ext>
            </a:extLst>
          </p:cNvPr>
          <p:cNvCxnSpPr>
            <a:cxnSpLocks/>
            <a:stCxn id="50" idx="2"/>
            <a:endCxn id="62" idx="3"/>
          </p:cNvCxnSpPr>
          <p:nvPr/>
        </p:nvCxnSpPr>
        <p:spPr>
          <a:xfrm flipH="1">
            <a:off x="3157867" y="3907366"/>
            <a:ext cx="2994013" cy="63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2" name="Forma libre: forma 81">
            <a:extLst>
              <a:ext uri="{FF2B5EF4-FFF2-40B4-BE49-F238E27FC236}">
                <a16:creationId xmlns:a16="http://schemas.microsoft.com/office/drawing/2014/main" id="{71B11639-4E5F-8E87-05F3-E60C8A25B136}"/>
              </a:ext>
            </a:extLst>
          </p:cNvPr>
          <p:cNvSpPr/>
          <p:nvPr/>
        </p:nvSpPr>
        <p:spPr>
          <a:xfrm>
            <a:off x="2573866" y="3911600"/>
            <a:ext cx="3615267" cy="1439334"/>
          </a:xfrm>
          <a:custGeom>
            <a:avLst/>
            <a:gdLst>
              <a:gd name="csX0" fmla="*/ 3615267 w 3615267"/>
              <a:gd name="csY0" fmla="*/ 0 h 1439334"/>
              <a:gd name="csX1" fmla="*/ 1574800 w 3615267"/>
              <a:gd name="csY1" fmla="*/ 254000 h 1439334"/>
              <a:gd name="csX2" fmla="*/ 0 w 3615267"/>
              <a:gd name="csY2" fmla="*/ 1439334 h 143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15267" h="1439334">
                <a:moveTo>
                  <a:pt x="3615267" y="0"/>
                </a:moveTo>
                <a:cubicBezTo>
                  <a:pt x="2896306" y="7055"/>
                  <a:pt x="2177345" y="14111"/>
                  <a:pt x="1574800" y="254000"/>
                </a:cubicBezTo>
                <a:cubicBezTo>
                  <a:pt x="972255" y="493889"/>
                  <a:pt x="486127" y="966611"/>
                  <a:pt x="0" y="1439334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B045736A-6693-968E-90F7-94FAFE354065}"/>
              </a:ext>
            </a:extLst>
          </p:cNvPr>
          <p:cNvCxnSpPr>
            <a:cxnSpLocks/>
            <a:stCxn id="67" idx="1"/>
            <a:endCxn id="62" idx="3"/>
          </p:cNvCxnSpPr>
          <p:nvPr/>
        </p:nvCxnSpPr>
        <p:spPr>
          <a:xfrm flipH="1" flipV="1">
            <a:off x="3157867" y="3970868"/>
            <a:ext cx="1069341" cy="80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Forma libre: forma 83">
            <a:extLst>
              <a:ext uri="{FF2B5EF4-FFF2-40B4-BE49-F238E27FC236}">
                <a16:creationId xmlns:a16="http://schemas.microsoft.com/office/drawing/2014/main" id="{B5E75D7F-5813-5127-ACAC-8B102C5755E5}"/>
              </a:ext>
            </a:extLst>
          </p:cNvPr>
          <p:cNvSpPr/>
          <p:nvPr/>
        </p:nvSpPr>
        <p:spPr>
          <a:xfrm>
            <a:off x="3183466" y="1938867"/>
            <a:ext cx="5444067" cy="2006600"/>
          </a:xfrm>
          <a:custGeom>
            <a:avLst/>
            <a:gdLst>
              <a:gd name="csX0" fmla="*/ 0 w 5444067"/>
              <a:gd name="csY0" fmla="*/ 2006600 h 2006600"/>
              <a:gd name="csX1" fmla="*/ 3293533 w 5444067"/>
              <a:gd name="csY1" fmla="*/ 1253067 h 2006600"/>
              <a:gd name="csX2" fmla="*/ 5444067 w 5444067"/>
              <a:gd name="csY2" fmla="*/ 0 h 2006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4067" h="2006600">
                <a:moveTo>
                  <a:pt x="0" y="2006600"/>
                </a:moveTo>
                <a:cubicBezTo>
                  <a:pt x="1193094" y="1797050"/>
                  <a:pt x="2386189" y="1587500"/>
                  <a:pt x="3293533" y="1253067"/>
                </a:cubicBezTo>
                <a:cubicBezTo>
                  <a:pt x="4200877" y="918634"/>
                  <a:pt x="4822472" y="459317"/>
                  <a:pt x="5444067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C675E413-7648-C61A-A327-C3574F597AAE}"/>
              </a:ext>
            </a:extLst>
          </p:cNvPr>
          <p:cNvCxnSpPr>
            <a:stCxn id="65" idx="3"/>
            <a:endCxn id="52" idx="1"/>
          </p:cNvCxnSpPr>
          <p:nvPr/>
        </p:nvCxnSpPr>
        <p:spPr>
          <a:xfrm>
            <a:off x="5462945" y="3077633"/>
            <a:ext cx="3185755" cy="279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6" name="Forma libre: forma 85">
            <a:extLst>
              <a:ext uri="{FF2B5EF4-FFF2-40B4-BE49-F238E27FC236}">
                <a16:creationId xmlns:a16="http://schemas.microsoft.com/office/drawing/2014/main" id="{7B20037A-6B21-FDF7-36F0-0A4B9BFF58E9}"/>
              </a:ext>
            </a:extLst>
          </p:cNvPr>
          <p:cNvSpPr/>
          <p:nvPr/>
        </p:nvSpPr>
        <p:spPr>
          <a:xfrm>
            <a:off x="3166533" y="4487334"/>
            <a:ext cx="5444066" cy="1588767"/>
          </a:xfrm>
          <a:custGeom>
            <a:avLst/>
            <a:gdLst>
              <a:gd name="csX0" fmla="*/ 0 w 5444066"/>
              <a:gd name="csY0" fmla="*/ 1109133 h 1588767"/>
              <a:gd name="csX1" fmla="*/ 3310466 w 5444066"/>
              <a:gd name="csY1" fmla="*/ 1532466 h 1588767"/>
              <a:gd name="csX2" fmla="*/ 5444066 w 5444066"/>
              <a:gd name="csY2" fmla="*/ 0 h 1588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4066" h="1588767">
                <a:moveTo>
                  <a:pt x="0" y="1109133"/>
                </a:moveTo>
                <a:cubicBezTo>
                  <a:pt x="1201561" y="1413227"/>
                  <a:pt x="2403122" y="1717321"/>
                  <a:pt x="3310466" y="1532466"/>
                </a:cubicBezTo>
                <a:cubicBezTo>
                  <a:pt x="4217810" y="1347611"/>
                  <a:pt x="4830938" y="673805"/>
                  <a:pt x="5444066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7" name="Forma libre: forma 86">
            <a:extLst>
              <a:ext uri="{FF2B5EF4-FFF2-40B4-BE49-F238E27FC236}">
                <a16:creationId xmlns:a16="http://schemas.microsoft.com/office/drawing/2014/main" id="{3FDF37C3-6EEB-C102-1F95-849A59CFC82A}"/>
              </a:ext>
            </a:extLst>
          </p:cNvPr>
          <p:cNvSpPr/>
          <p:nvPr/>
        </p:nvSpPr>
        <p:spPr>
          <a:xfrm>
            <a:off x="5452533" y="1295400"/>
            <a:ext cx="3217333" cy="4658497"/>
          </a:xfrm>
          <a:custGeom>
            <a:avLst/>
            <a:gdLst>
              <a:gd name="csX0" fmla="*/ 0 w 3217333"/>
              <a:gd name="csY0" fmla="*/ 0 h 4658497"/>
              <a:gd name="csX1" fmla="*/ 2641600 w 3217333"/>
              <a:gd name="csY1" fmla="*/ 2184400 h 4658497"/>
              <a:gd name="csX2" fmla="*/ 2243666 w 3217333"/>
              <a:gd name="csY2" fmla="*/ 4258734 h 4658497"/>
              <a:gd name="csX3" fmla="*/ 3217333 w 3217333"/>
              <a:gd name="csY3" fmla="*/ 4656667 h 4658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17333" h="4658497">
                <a:moveTo>
                  <a:pt x="0" y="0"/>
                </a:moveTo>
                <a:cubicBezTo>
                  <a:pt x="1133828" y="737305"/>
                  <a:pt x="2267656" y="1474611"/>
                  <a:pt x="2641600" y="2184400"/>
                </a:cubicBezTo>
                <a:cubicBezTo>
                  <a:pt x="3015544" y="2894189"/>
                  <a:pt x="2147711" y="3846690"/>
                  <a:pt x="2243666" y="4258734"/>
                </a:cubicBezTo>
                <a:cubicBezTo>
                  <a:pt x="2339621" y="4670778"/>
                  <a:pt x="2778477" y="4663722"/>
                  <a:pt x="3217333" y="4656667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Forma libre: forma 87">
            <a:extLst>
              <a:ext uri="{FF2B5EF4-FFF2-40B4-BE49-F238E27FC236}">
                <a16:creationId xmlns:a16="http://schemas.microsoft.com/office/drawing/2014/main" id="{31541EFE-A244-D73F-7719-10928602461A}"/>
              </a:ext>
            </a:extLst>
          </p:cNvPr>
          <p:cNvSpPr/>
          <p:nvPr/>
        </p:nvSpPr>
        <p:spPr>
          <a:xfrm>
            <a:off x="5477933" y="1888067"/>
            <a:ext cx="3158066" cy="3268133"/>
          </a:xfrm>
          <a:custGeom>
            <a:avLst/>
            <a:gdLst>
              <a:gd name="csX0" fmla="*/ 0 w 3158066"/>
              <a:gd name="csY0" fmla="*/ 0 h 3268133"/>
              <a:gd name="csX1" fmla="*/ 2345266 w 3158066"/>
              <a:gd name="csY1" fmla="*/ 905933 h 3268133"/>
              <a:gd name="csX2" fmla="*/ 2142066 w 3158066"/>
              <a:gd name="csY2" fmla="*/ 2861733 h 3268133"/>
              <a:gd name="csX3" fmla="*/ 3158066 w 3158066"/>
              <a:gd name="csY3" fmla="*/ 3268133 h 3268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58066" h="3268133">
                <a:moveTo>
                  <a:pt x="0" y="0"/>
                </a:moveTo>
                <a:cubicBezTo>
                  <a:pt x="994127" y="214489"/>
                  <a:pt x="1988255" y="428978"/>
                  <a:pt x="2345266" y="905933"/>
                </a:cubicBezTo>
                <a:cubicBezTo>
                  <a:pt x="2702277" y="1382888"/>
                  <a:pt x="2006599" y="2468033"/>
                  <a:pt x="2142066" y="2861733"/>
                </a:cubicBezTo>
                <a:cubicBezTo>
                  <a:pt x="2277533" y="3255433"/>
                  <a:pt x="2717799" y="3261783"/>
                  <a:pt x="3158066" y="3268133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0696E9BD-66B3-D9F5-50C6-034273C889B6}"/>
              </a:ext>
            </a:extLst>
          </p:cNvPr>
          <p:cNvCxnSpPr>
            <a:stCxn id="50" idx="6"/>
            <a:endCxn id="56" idx="1"/>
          </p:cNvCxnSpPr>
          <p:nvPr/>
        </p:nvCxnSpPr>
        <p:spPr>
          <a:xfrm flipV="1">
            <a:off x="7374468" y="2730502"/>
            <a:ext cx="1278465" cy="1176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F368474C-389D-A179-B299-62B0C732EA61}"/>
              </a:ext>
            </a:extLst>
          </p:cNvPr>
          <p:cNvCxnSpPr>
            <a:stCxn id="50" idx="6"/>
            <a:endCxn id="57" idx="1"/>
          </p:cNvCxnSpPr>
          <p:nvPr/>
        </p:nvCxnSpPr>
        <p:spPr>
          <a:xfrm flipV="1">
            <a:off x="7374468" y="1917703"/>
            <a:ext cx="1274231" cy="198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E6CE069A-873B-6E7C-3F09-C55762945965}"/>
              </a:ext>
            </a:extLst>
          </p:cNvPr>
          <p:cNvCxnSpPr>
            <a:stCxn id="50" idx="6"/>
            <a:endCxn id="88" idx="3"/>
          </p:cNvCxnSpPr>
          <p:nvPr/>
        </p:nvCxnSpPr>
        <p:spPr>
          <a:xfrm>
            <a:off x="7374468" y="3907366"/>
            <a:ext cx="1261531" cy="1248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F8D31FE6-8AD9-C28D-D21E-0ACCD1D38D12}"/>
              </a:ext>
            </a:extLst>
          </p:cNvPr>
          <p:cNvCxnSpPr>
            <a:stCxn id="50" idx="6"/>
            <a:endCxn id="54" idx="1"/>
          </p:cNvCxnSpPr>
          <p:nvPr/>
        </p:nvCxnSpPr>
        <p:spPr>
          <a:xfrm>
            <a:off x="7374468" y="3907366"/>
            <a:ext cx="1274231" cy="2074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3" name="Forma libre: forma 92">
            <a:extLst>
              <a:ext uri="{FF2B5EF4-FFF2-40B4-BE49-F238E27FC236}">
                <a16:creationId xmlns:a16="http://schemas.microsoft.com/office/drawing/2014/main" id="{5AF80B4F-3873-E352-21C4-438DE496EBDF}"/>
              </a:ext>
            </a:extLst>
          </p:cNvPr>
          <p:cNvSpPr/>
          <p:nvPr/>
        </p:nvSpPr>
        <p:spPr>
          <a:xfrm>
            <a:off x="3166533" y="3191934"/>
            <a:ext cx="5477933" cy="2044619"/>
          </a:xfrm>
          <a:custGeom>
            <a:avLst/>
            <a:gdLst>
              <a:gd name="csX0" fmla="*/ 0 w 5477933"/>
              <a:gd name="csY0" fmla="*/ 0 h 2044619"/>
              <a:gd name="csX1" fmla="*/ 3022600 w 5477933"/>
              <a:gd name="csY1" fmla="*/ 1811866 h 2044619"/>
              <a:gd name="csX2" fmla="*/ 5477933 w 5477933"/>
              <a:gd name="csY2" fmla="*/ 1964266 h 2044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77933" h="2044619">
                <a:moveTo>
                  <a:pt x="0" y="0"/>
                </a:moveTo>
                <a:cubicBezTo>
                  <a:pt x="1054805" y="742244"/>
                  <a:pt x="2109611" y="1484488"/>
                  <a:pt x="3022600" y="1811866"/>
                </a:cubicBezTo>
                <a:cubicBezTo>
                  <a:pt x="3935589" y="2139244"/>
                  <a:pt x="4706761" y="2051755"/>
                  <a:pt x="5477933" y="1964266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4" name="Forma libre: forma 93">
            <a:extLst>
              <a:ext uri="{FF2B5EF4-FFF2-40B4-BE49-F238E27FC236}">
                <a16:creationId xmlns:a16="http://schemas.microsoft.com/office/drawing/2014/main" id="{E948843F-FE20-BEF3-5595-FAB63D073D82}"/>
              </a:ext>
            </a:extLst>
          </p:cNvPr>
          <p:cNvSpPr/>
          <p:nvPr/>
        </p:nvSpPr>
        <p:spPr>
          <a:xfrm>
            <a:off x="3166533" y="2751667"/>
            <a:ext cx="5469466" cy="786615"/>
          </a:xfrm>
          <a:custGeom>
            <a:avLst/>
            <a:gdLst>
              <a:gd name="csX0" fmla="*/ 0 w 5469466"/>
              <a:gd name="csY0" fmla="*/ 448733 h 786615"/>
              <a:gd name="csX1" fmla="*/ 3005666 w 5469466"/>
              <a:gd name="csY1" fmla="*/ 770467 h 786615"/>
              <a:gd name="csX2" fmla="*/ 5469466 w 5469466"/>
              <a:gd name="csY2" fmla="*/ 0 h 7866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69466" h="786615">
                <a:moveTo>
                  <a:pt x="0" y="448733"/>
                </a:moveTo>
                <a:cubicBezTo>
                  <a:pt x="1047044" y="646994"/>
                  <a:pt x="2094088" y="845256"/>
                  <a:pt x="3005666" y="770467"/>
                </a:cubicBezTo>
                <a:cubicBezTo>
                  <a:pt x="3917244" y="695678"/>
                  <a:pt x="4693355" y="347839"/>
                  <a:pt x="5469466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5" name="Forma libre: forma 94">
            <a:extLst>
              <a:ext uri="{FF2B5EF4-FFF2-40B4-BE49-F238E27FC236}">
                <a16:creationId xmlns:a16="http://schemas.microsoft.com/office/drawing/2014/main" id="{541C8092-6A18-BC3D-A5FD-D4E8B001C40B}"/>
              </a:ext>
            </a:extLst>
          </p:cNvPr>
          <p:cNvSpPr/>
          <p:nvPr/>
        </p:nvSpPr>
        <p:spPr>
          <a:xfrm>
            <a:off x="3183466" y="2252134"/>
            <a:ext cx="5418667" cy="2904519"/>
          </a:xfrm>
          <a:custGeom>
            <a:avLst/>
            <a:gdLst>
              <a:gd name="csX0" fmla="*/ 0 w 5418667"/>
              <a:gd name="csY0" fmla="*/ 0 h 2904519"/>
              <a:gd name="csX1" fmla="*/ 3403600 w 5418667"/>
              <a:gd name="csY1" fmla="*/ 2514600 h 2904519"/>
              <a:gd name="csX2" fmla="*/ 5418667 w 5418667"/>
              <a:gd name="csY2" fmla="*/ 2895600 h 2904519"/>
              <a:gd name="csX3" fmla="*/ 5418667 w 5418667"/>
              <a:gd name="csY3" fmla="*/ 2895600 h 2904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18667" h="2904519">
                <a:moveTo>
                  <a:pt x="0" y="0"/>
                </a:moveTo>
                <a:cubicBezTo>
                  <a:pt x="1250244" y="1016000"/>
                  <a:pt x="2500489" y="2032000"/>
                  <a:pt x="3403600" y="2514600"/>
                </a:cubicBezTo>
                <a:cubicBezTo>
                  <a:pt x="4306711" y="2997200"/>
                  <a:pt x="5418667" y="2895600"/>
                  <a:pt x="5418667" y="2895600"/>
                </a:cubicBezTo>
                <a:lnTo>
                  <a:pt x="5418667" y="2895600"/>
                </a:ln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6" name="Forma libre: forma 95">
            <a:extLst>
              <a:ext uri="{FF2B5EF4-FFF2-40B4-BE49-F238E27FC236}">
                <a16:creationId xmlns:a16="http://schemas.microsoft.com/office/drawing/2014/main" id="{F7007A48-4523-80E2-30B2-78AC8D7A7704}"/>
              </a:ext>
            </a:extLst>
          </p:cNvPr>
          <p:cNvSpPr/>
          <p:nvPr/>
        </p:nvSpPr>
        <p:spPr>
          <a:xfrm>
            <a:off x="5469466" y="1972733"/>
            <a:ext cx="3158067" cy="2906470"/>
          </a:xfrm>
          <a:custGeom>
            <a:avLst/>
            <a:gdLst>
              <a:gd name="csX0" fmla="*/ 0 w 3158067"/>
              <a:gd name="csY0" fmla="*/ 2810934 h 2906470"/>
              <a:gd name="csX1" fmla="*/ 508000 w 3158067"/>
              <a:gd name="csY1" fmla="*/ 2633134 h 2906470"/>
              <a:gd name="csX2" fmla="*/ 499534 w 3158067"/>
              <a:gd name="csY2" fmla="*/ 499534 h 2906470"/>
              <a:gd name="csX3" fmla="*/ 3158067 w 3158067"/>
              <a:gd name="csY3" fmla="*/ 0 h 2906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58067" h="2906470">
                <a:moveTo>
                  <a:pt x="0" y="2810934"/>
                </a:moveTo>
                <a:cubicBezTo>
                  <a:pt x="212372" y="2914650"/>
                  <a:pt x="424744" y="3018367"/>
                  <a:pt x="508000" y="2633134"/>
                </a:cubicBezTo>
                <a:cubicBezTo>
                  <a:pt x="591256" y="2247901"/>
                  <a:pt x="57856" y="938390"/>
                  <a:pt x="499534" y="499534"/>
                </a:cubicBezTo>
                <a:cubicBezTo>
                  <a:pt x="941212" y="60678"/>
                  <a:pt x="2049639" y="30339"/>
                  <a:pt x="3158067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81F336-3922-620B-EAD2-3E741E574193}"/>
              </a:ext>
            </a:extLst>
          </p:cNvPr>
          <p:cNvSpPr txBox="1"/>
          <p:nvPr/>
        </p:nvSpPr>
        <p:spPr>
          <a:xfrm>
            <a:off x="862510" y="555609"/>
            <a:ext cx="2711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latin typeface="+mj-lt"/>
              </a:rPr>
              <a:t>¿Mi DAG?</a:t>
            </a:r>
          </a:p>
        </p:txBody>
      </p:sp>
    </p:spTree>
    <p:extLst>
      <p:ext uri="{BB962C8B-B14F-4D97-AF65-F5344CB8AC3E}">
        <p14:creationId xmlns:p14="http://schemas.microsoft.com/office/powerpoint/2010/main" val="30753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¿Nueva perspectiva?</a:t>
            </a:r>
          </a:p>
        </p:txBody>
      </p:sp>
      <p:pic>
        <p:nvPicPr>
          <p:cNvPr id="12" name="Marcador de posición de imagen 11">
            <a:extLst>
              <a:ext uri="{FF2B5EF4-FFF2-40B4-BE49-F238E27FC236}">
                <a16:creationId xmlns:a16="http://schemas.microsoft.com/office/drawing/2014/main" id="{A8D49F6B-D24B-53C2-3536-822BE32F2A0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761" r="25761"/>
          <a:stretch>
            <a:fillRect/>
          </a:stretch>
        </p:blipFill>
        <p:spPr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rgbClr val="E5DACF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58FB4751-880F-D840-AAA9-3A15815CC996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73F25E-22AC-65E2-8456-BCB194A16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44" y="850584"/>
            <a:ext cx="6556874" cy="56301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4D92684-2A28-43FF-DDC8-95CB3AA93540}"/>
                  </a:ext>
                </a:extLst>
              </p:cNvPr>
              <p:cNvSpPr txBox="1"/>
              <p:nvPr/>
            </p:nvSpPr>
            <p:spPr>
              <a:xfrm>
                <a:off x="500144" y="247864"/>
                <a:ext cx="7530353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MX" sz="28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MX" sz="28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MX" sz="28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MX" sz="28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MX" sz="2800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s-MX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𝐸𝐹𝑃𝐻𝑉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es-MX" sz="40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4D92684-2A28-43FF-DDC8-95CB3AA93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44" y="247864"/>
                <a:ext cx="753035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130BAB6-CB6C-9203-C9F3-237B2CDDF2F1}"/>
                  </a:ext>
                </a:extLst>
              </p:cNvPr>
              <p:cNvSpPr txBox="1"/>
              <p:nvPr/>
            </p:nvSpPr>
            <p:spPr>
              <a:xfrm>
                <a:off x="7483277" y="1945456"/>
                <a:ext cx="3324113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𝑒𝑠𝑡𝑟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𝑓𝑖𝑠𝑖𝑜𝑙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𝑔𝑖𝑐𝑜</m:t>
                      </m:r>
                    </m:oMath>
                  </m:oMathPara>
                </a14:m>
                <a:endParaRPr lang="es-MX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𝑚𝑒𝑑𝑖𝑎𝑠</m:t>
                      </m:r>
                    </m:oMath>
                  </m:oMathPara>
                </a14:m>
                <a:endParaRPr lang="es-MX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𝐴𝑙𝑏𝑒𝑟𝑔𝑢𝑒</m:t>
                      </m:r>
                    </m:oMath>
                  </m:oMathPara>
                </a14:m>
                <a:endParaRPr lang="es-MX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𝑒𝑠𝑝𝑎𝑐𝑖𝑜</m:t>
                      </m:r>
                    </m:oMath>
                  </m:oMathPara>
                </a14:m>
                <a:endParaRPr lang="es-MX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𝑎𝑙𝑖𝑚𝑒𝑛𝑡𝑎𝑐𝑖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MX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𝑒𝑥𝑝𝑜𝑠𝑖𝑐𝑖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𝑎𝑙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𝑏𝑙𝑖𝑐𝑜</m:t>
                      </m:r>
                    </m:oMath>
                  </m:oMathPara>
                </a14:m>
                <a:endParaRPr lang="es-MX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h𝑎𝑏𝑖𝑡𝑢𝑎𝑐𝑖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𝑣𝑒𝑔𝑒𝑡𝑎𝑐𝑖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MX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𝑒𝑓𝑒𝑐𝑡𝑜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𝑎𝑙𝑒𝑎𝑡𝑜𝑟𝑖𝑧𝑎𝑐𝑖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ó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130BAB6-CB6C-9203-C9F3-237B2CDDF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277" y="1945456"/>
                <a:ext cx="3324113" cy="2585323"/>
              </a:xfrm>
              <a:prstGeom prst="rect">
                <a:avLst/>
              </a:prstGeom>
              <a:blipFill>
                <a:blip r:embed="rId5"/>
                <a:stretch>
                  <a:fillRect r="-12844" b="-117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Explosión: 14 puntos 14">
            <a:extLst>
              <a:ext uri="{FF2B5EF4-FFF2-40B4-BE49-F238E27FC236}">
                <a16:creationId xmlns:a16="http://schemas.microsoft.com/office/drawing/2014/main" id="{FC831F8F-ACFC-DC7C-531D-19E938D78A78}"/>
              </a:ext>
            </a:extLst>
          </p:cNvPr>
          <p:cNvSpPr/>
          <p:nvPr/>
        </p:nvSpPr>
        <p:spPr>
          <a:xfrm>
            <a:off x="8091092" y="4534606"/>
            <a:ext cx="3032621" cy="1793147"/>
          </a:xfrm>
          <a:prstGeom prst="irregularSeal2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¿Bloques?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589_TF11964407_Win32" id="{684B968C-5941-4CF6-952E-1B668906E207}" vid="{18059592-A625-4B68-8CFC-59A1ED36956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{FBDB644B-9181-4E75-845E-1ACA0AB2DB6F}TF1ed9553b-00c4-4092-846a-c8f7f2908f3b3046b528_win32-7407bf6db682</Template>
  <TotalTime>262</TotalTime>
  <Words>220</Words>
  <Application>Microsoft Office PowerPoint</Application>
  <PresentationFormat>Panorámica</PresentationFormat>
  <Paragraphs>47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Courier New</vt:lpstr>
      <vt:lpstr>Gill Sans Nova Light</vt:lpstr>
      <vt:lpstr>Sagona Book</vt:lpstr>
      <vt:lpstr>Personalizar</vt:lpstr>
      <vt:lpstr>Evaluación de estrés fisiológico en lobo mexicano</vt:lpstr>
      <vt:lpstr>Introducción</vt:lpstr>
      <vt:lpstr>Pregunta de investigación</vt:lpstr>
      <vt:lpstr>Presentación de PowerPoint</vt:lpstr>
      <vt:lpstr>¿Nueva perspectiva?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Ivana Irineo</dc:creator>
  <cp:lastModifiedBy>Ivana Irineo</cp:lastModifiedBy>
  <cp:revision>2</cp:revision>
  <dcterms:created xsi:type="dcterms:W3CDTF">2026-02-05T21:39:00Z</dcterms:created>
  <dcterms:modified xsi:type="dcterms:W3CDTF">2026-02-07T01:37:21Z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