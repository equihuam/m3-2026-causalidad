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format: pptx: default —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Estructura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Dependencia socioecosistémica</a:t>
            </a:r>
          </a:p>
          <a:p>
            <a:pPr lvl="0" indent="-342900" marL="342900">
              <a:buAutoNum type="arabicPeriod"/>
            </a:pPr>
            <a:r>
              <a:rPr/>
              <a:t>Señal climática observada y proyectada</a:t>
            </a:r>
          </a:p>
          <a:p>
            <a:pPr lvl="0" indent="-342900" marL="342900">
              <a:buAutoNum type="arabicPeriod"/>
            </a:pPr>
            <a:r>
              <a:rPr/>
              <a:t>Impactos en biodiversidad</a:t>
            </a:r>
          </a:p>
          <a:p>
            <a:pPr lvl="0" indent="-342900" marL="342900">
              <a:buAutoNum type="arabicPeriod"/>
            </a:pPr>
            <a:r>
              <a:rPr/>
              <a:t>Vulnerabilidad en América Latina</a:t>
            </a:r>
          </a:p>
          <a:p>
            <a:pPr lvl="0" indent="-342900" marL="342900">
              <a:buAutoNum type="arabicPeriod"/>
            </a:pPr>
            <a:r>
              <a:rPr/>
              <a:t>Opciones y horizonte de acción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I. Dependencia socioecosistémica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Biodiversidad: la matriz de la vida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biodiversidad es la trama de la vida</a:t>
            </a:r>
          </a:p>
          <a:p>
            <a:pPr lvl="0"/>
            <a:r>
              <a:rPr/>
              <a:t>Los ecosistemas son su soporte funcional</a:t>
            </a:r>
          </a:p>
          <a:p>
            <a:pPr lvl="0"/>
            <a:r>
              <a:rPr/>
              <a:t>Los seres humanos somos parte del sistema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Simplificación de la diversidad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Homogeneización productiva</a:t>
            </a:r>
          </a:p>
          <a:p>
            <a:pPr lvl="0"/>
            <a:r>
              <a:rPr/>
              <a:t>Sustitución masiva de ecosistemas</a:t>
            </a:r>
          </a:p>
          <a:p>
            <a:pPr lvl="0"/>
            <a:r>
              <a:rPr/>
              <a:t>Reducción de diversidad biológica y cultural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Agrobiodiversidad en declive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75% de la diversidad genética vegetal perdida (siglo XX)</a:t>
            </a:r>
          </a:p>
          <a:p>
            <a:pPr lvl="0"/>
            <a:r>
              <a:rPr/>
              <a:t>75% de alimentos → 12 plantas + 5 animales</a:t>
            </a:r>
          </a:p>
          <a:p>
            <a:pPr lvl="0"/>
            <a:r>
              <a:rPr/>
              <a:t>30% razas ganaderas en riesgo</a:t>
            </a:r>
          </a:p>
          <a:p>
            <a:pPr lvl="0" indent="0" marL="0">
              <a:buNone/>
            </a:pPr>
            <a:r>
              <a:rPr/>
              <a:t>(Fuente: FAO)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Biomasa planetaria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Humanos y ganado dominan la biomasa de mamíferos</a:t>
            </a:r>
          </a:p>
          <a:p>
            <a:pPr lvl="0"/>
            <a:r>
              <a:rPr/>
              <a:t>Fauna silvestre: fracción minoritaria</a:t>
            </a:r>
          </a:p>
          <a:p>
            <a:pPr lvl="0"/>
            <a:r>
              <a:rPr/>
              <a:t>Alteración profunda de la estructura biosférica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II. Señal climática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América Latina y el Caribe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Una de las regiones más biodiversas</a:t>
            </a:r>
          </a:p>
          <a:p>
            <a:pPr lvl="0"/>
            <a:r>
              <a:rPr/>
              <a:t>Alta heterogeneidad ambiental</a:t>
            </a:r>
          </a:p>
          <a:p>
            <a:pPr lvl="0"/>
            <a:r>
              <a:rPr/>
              <a:t>Alta exposición climática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Tendencias observadas (1979–2019)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+0.24 °C por década</a:t>
            </a:r>
          </a:p>
          <a:p>
            <a:pPr lvl="0"/>
            <a:r>
              <a:rPr/>
              <a:t>Incremento de extremos</a:t>
            </a:r>
          </a:p>
          <a:p>
            <a:pPr lvl="0"/>
            <a:r>
              <a:rPr/>
              <a:t>Cambios heterogéneos en precipitación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Escenarios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+1.5 °C (bajo forzamiento)</a:t>
            </a:r>
          </a:p>
          <a:p>
            <a:pPr lvl="0"/>
            <a:r>
              <a:rPr/>
              <a:t>+3.5 °C (intermedio)</a:t>
            </a:r>
          </a:p>
          <a:p>
            <a:pPr lvl="0"/>
            <a:r>
              <a:rPr/>
              <a:t>+5 °C (alto)</a:t>
            </a:r>
          </a:p>
          <a:p>
            <a:pPr lvl="0" indent="0" marL="0">
              <a:buNone/>
            </a:pPr>
            <a:r>
              <a:rPr/>
              <a:t>Todos proyectan mayor calentamiento.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Reconfiguración hidroclimática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Expansión de regiones secas</a:t>
            </a:r>
          </a:p>
          <a:p>
            <a:pPr lvl="0"/>
            <a:r>
              <a:rPr/>
              <a:t>Mayor variabilidad</a:t>
            </a:r>
          </a:p>
          <a:p>
            <a:pPr lvl="0"/>
            <a:r>
              <a:rPr/>
              <a:t>Sequías e inundaciones más frecuentes</a:t>
            </a:r>
          </a:p>
          <a:p>
            <a:pPr lvl="0"/>
            <a:r>
              <a:rPr/>
              <a:t>No hay señal continental uniforme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III. Impactos en biodiversidad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Impulsores climáticos directos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Estrés térmico</a:t>
            </a:r>
          </a:p>
          <a:p>
            <a:pPr lvl="0"/>
            <a:r>
              <a:rPr/>
              <a:t>Escasez hídrica</a:t>
            </a:r>
          </a:p>
          <a:p>
            <a:pPr lvl="0"/>
            <a:r>
              <a:rPr/>
              <a:t>Eventos extremos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Impulsores indirectos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Sinergias clima–uso del suelo</a:t>
            </a:r>
          </a:p>
          <a:p>
            <a:pPr lvl="0"/>
            <a:r>
              <a:rPr/>
              <a:t>Fragmentación</a:t>
            </a:r>
          </a:p>
          <a:p>
            <a:pPr lvl="0"/>
            <a:r>
              <a:rPr/>
              <a:t>Presión antrópica acumulativa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Respuestas biológicas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 especies pueden:</a:t>
            </a:r>
          </a:p>
          <a:p>
            <a:pPr lvl="0"/>
            <a:r>
              <a:rPr/>
              <a:t>Desplazarse</a:t>
            </a:r>
          </a:p>
          <a:p>
            <a:pPr lvl="0"/>
            <a:r>
              <a:rPr/>
              <a:t>Adaptarse</a:t>
            </a:r>
          </a:p>
          <a:p>
            <a:pPr lvl="0"/>
            <a:r>
              <a:rPr/>
              <a:t>Declinar o extinguirse</a:t>
            </a:r>
          </a:p>
          <a:p>
            <a:pPr lvl="0" indent="0" marL="0">
              <a:buNone/>
            </a:pPr>
            <a:r>
              <a:rPr/>
              <a:t>Especialistas y endémicos → mayor riesgo.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Organismos terrestres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Estrés térmico</a:t>
            </a:r>
          </a:p>
          <a:p>
            <a:pPr lvl="0"/>
            <a:r>
              <a:rPr/>
              <a:t>Incendios</a:t>
            </a:r>
          </a:p>
          <a:p>
            <a:pPr lvl="0"/>
            <a:r>
              <a:rPr/>
              <a:t>Colapsos tróficos</a:t>
            </a:r>
          </a:p>
          <a:p>
            <a:pPr lvl="0"/>
            <a:r>
              <a:rPr/>
              <a:t>Conflictos humano-fauna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15. Ecosistemas marinos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Calentamiento oceánico</a:t>
            </a:r>
          </a:p>
          <a:p>
            <a:pPr lvl="0"/>
            <a:r>
              <a:rPr/>
              <a:t>Acidificación</a:t>
            </a:r>
          </a:p>
          <a:p>
            <a:pPr lvl="0"/>
            <a:r>
              <a:rPr/>
              <a:t>Olas de calor marinas</a:t>
            </a:r>
          </a:p>
          <a:p>
            <a:pPr lvl="0"/>
            <a:r>
              <a:rPr/>
              <a:t>Mortalidades masivas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16. Casos emblemáticos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Ballena gris</a:t>
            </a:r>
          </a:p>
          <a:p>
            <a:pPr lvl="0"/>
            <a:r>
              <a:rPr/>
              <a:t>Delfines amazónicos</a:t>
            </a:r>
          </a:p>
          <a:p>
            <a:pPr lvl="0"/>
            <a:r>
              <a:rPr/>
              <a:t>Pinnípedos (ENSO)</a:t>
            </a:r>
          </a:p>
          <a:p>
            <a:pPr lvl="0"/>
            <a:r>
              <a:rPr/>
              <a:t>Manatí antillano</a:t>
            </a:r>
          </a:p>
          <a:p>
            <a:pPr lvl="0" indent="0" marL="0">
              <a:buNone/>
            </a:pPr>
            <a:r>
              <a:rPr/>
              <a:t>Eventos recientes evidencian vulnerabilidad sistémica.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IV. Vulnerabilidad socioecológica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17. Doble vulnerabilidad regional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Alta exposición climática</a:t>
            </a:r>
          </a:p>
          <a:p>
            <a:pPr lvl="0"/>
            <a:r>
              <a:rPr/>
              <a:t>Alta dependencia de recursos naturales</a:t>
            </a:r>
          </a:p>
          <a:p>
            <a:pPr lvl="0"/>
            <a:r>
              <a:rPr/>
              <a:t>Desigualdad estructural</a:t>
            </a:r>
          </a:p>
          <a:p>
            <a:pPr lvl="0" indent="0" marL="0">
              <a:buNone/>
            </a:pPr>
            <a:r>
              <a:rPr/>
              <a:t>Climática + social.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18. Ecosistemas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Regulación atmosférica</a:t>
            </a:r>
          </a:p>
          <a:p>
            <a:pPr lvl="0"/>
            <a:r>
              <a:rPr/>
              <a:t>Ciclos hidrológicos</a:t>
            </a:r>
          </a:p>
          <a:p>
            <a:pPr lvl="0"/>
            <a:r>
              <a:rPr/>
              <a:t>Productividad primaria</a:t>
            </a:r>
          </a:p>
          <a:p>
            <a:pPr lvl="0" indent="0" marL="0">
              <a:buNone/>
            </a:pPr>
            <a:r>
              <a:rPr/>
              <a:t>Su degradación reduce resiliencia.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V. Opciones y horizonte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19. ¿Con qué enfrentar el cambio climático?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 los ecosistemas existentes</a:t>
            </a:r>
          </a:p>
          <a:p>
            <a:pPr lvl="0"/>
            <a:r>
              <a:rPr/>
              <a:t>Restauración y conectividad</a:t>
            </a:r>
          </a:p>
          <a:p>
            <a:pPr lvl="0"/>
            <a:r>
              <a:rPr/>
              <a:t>Protección de refugios climáticos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20. Soluciones basadas en naturaleza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Ecosistemas saludables → ≈ 37% del potencial de mitigación necesario (Griscom et al.)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21. Cambios estratégicos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Integrar proyecciones en planificación</a:t>
            </a:r>
          </a:p>
          <a:p>
            <a:pPr lvl="0"/>
            <a:r>
              <a:rPr/>
              <a:t>Monitoreo ecológico de largo plazo</a:t>
            </a:r>
          </a:p>
          <a:p>
            <a:pPr lvl="0"/>
            <a:r>
              <a:rPr/>
              <a:t>Enfoques transfronterizos</a:t>
            </a:r>
          </a:p>
          <a:p>
            <a:pPr lvl="0"/>
            <a:r>
              <a:rPr/>
              <a:t>Priorizar especies y ecosistemas vulnerables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22. Cambio cultural necesario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Revalorar diversidad</a:t>
            </a:r>
          </a:p>
          <a:p>
            <a:pPr lvl="0"/>
            <a:r>
              <a:rPr/>
              <a:t>Evitar uniformidad productiva</a:t>
            </a:r>
          </a:p>
          <a:p>
            <a:pPr lvl="0"/>
            <a:r>
              <a:rPr/>
              <a:t>Pensar en horizontes largos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Pensamiento sistémico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Prestar atención a lo importante, no sólo a lo cuantificable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2026-02-09T21:52:03Z</dcterms:created>
  <dcterms:modified xsi:type="dcterms:W3CDTF">2026-02-09T21:52:03Z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code-block-bg">
    <vt:lpwstr>True</vt:lpwstr>
  </property>
  <property fmtid="{D5CDD505-2E9C-101B-9397-08002B2CF9AE}" pid="4" name="code-block-border-left">
    <vt:lpwstr>black</vt:lpwstr>
  </property>
  <property fmtid="{D5CDD505-2E9C-101B-9397-08002B2CF9AE}" pid="5" name="editor">
    <vt:lpwstr>source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  <property fmtid="{D5CDD505-2E9C-101B-9397-08002B2CF9AE}" pid="11" name="webr">
    <vt:lpwstr/>
  </property>
</Properties>
</file>